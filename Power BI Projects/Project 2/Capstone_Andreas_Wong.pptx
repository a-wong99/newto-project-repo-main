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6" r:id="rId9"/>
    <p:sldId id="263" r:id="rId10"/>
    <p:sldId id="270" r:id="rId11"/>
    <p:sldId id="264" r:id="rId12"/>
    <p:sldId id="265" r:id="rId13"/>
    <p:sldId id="266" r:id="rId14"/>
    <p:sldId id="272" r:id="rId15"/>
    <p:sldId id="267" r:id="rId16"/>
    <p:sldId id="271" r:id="rId17"/>
    <p:sldId id="268" r:id="rId18"/>
    <p:sldId id="269"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7C27F-3A12-67E6-8E9E-C16C655D89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495D3AD-A0BA-C134-821F-80F133546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FE77DB2-3E63-4A39-881F-60F92A5B373B}"/>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5" name="Footer Placeholder 4">
            <a:extLst>
              <a:ext uri="{FF2B5EF4-FFF2-40B4-BE49-F238E27FC236}">
                <a16:creationId xmlns:a16="http://schemas.microsoft.com/office/drawing/2014/main" id="{01C33F64-8BDE-08BE-9323-BEFE637742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A52B25-60B9-A998-8AFB-2B7A59D62E0E}"/>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135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030A3-C7CE-F0B2-D4A7-0FFD1FC1592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BD88D2-6307-1472-0E2E-59CAC49368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67A89BC-3519-A17F-3204-CE55E0E58249}"/>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5" name="Footer Placeholder 4">
            <a:extLst>
              <a:ext uri="{FF2B5EF4-FFF2-40B4-BE49-F238E27FC236}">
                <a16:creationId xmlns:a16="http://schemas.microsoft.com/office/drawing/2014/main" id="{05028455-E8B8-249C-CDF8-59B9B83284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8241F7-1362-28D8-479F-A71D77E947A4}"/>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3373018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90E18-69DB-6660-A7A4-A9D03024CF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AAE4930-0748-329A-D1D9-65EAA8747D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C0D810-41FA-98A3-ED96-757A5B04C5B2}"/>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5" name="Footer Placeholder 4">
            <a:extLst>
              <a:ext uri="{FF2B5EF4-FFF2-40B4-BE49-F238E27FC236}">
                <a16:creationId xmlns:a16="http://schemas.microsoft.com/office/drawing/2014/main" id="{E49E2317-43F1-94C4-21F5-E94FD5F845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085AAE-367E-A659-D1D8-E6ED96416A43}"/>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940553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1B1AF-2927-0895-AC26-3270A95DFA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E31B3AC-ED5E-04DA-DDCF-74769586DA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A89646A-A93D-F6BE-D906-860295AAA6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E29EFAE-0FA5-7937-0557-A0301FD25ECE}"/>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6" name="Footer Placeholder 5">
            <a:extLst>
              <a:ext uri="{FF2B5EF4-FFF2-40B4-BE49-F238E27FC236}">
                <a16:creationId xmlns:a16="http://schemas.microsoft.com/office/drawing/2014/main" id="{4E04CC96-6C67-6DC1-8134-D5C9F4ACD95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475FEB-7A4B-6C16-15DD-5E4A64B34FC5}"/>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2208661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D57AA-3F62-EFDF-16F2-51C9C2A2EED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2830B8-334E-A5FD-366F-18167BA23C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4A953B-3850-F902-0652-F99A83CE4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02162FB-A952-1AED-770C-EFCEA1F0C3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216F0C-5F44-0F1E-7AE0-8D2D481E48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0CA224D-0289-A764-7998-167FD030201B}"/>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8" name="Footer Placeholder 7">
            <a:extLst>
              <a:ext uri="{FF2B5EF4-FFF2-40B4-BE49-F238E27FC236}">
                <a16:creationId xmlns:a16="http://schemas.microsoft.com/office/drawing/2014/main" id="{4066270D-25D7-4724-2B4F-B041702816D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21508C3-3D96-3B5C-C899-64DD3053966D}"/>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3329289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EAE6-62AE-F4E1-2635-D1885E20B2E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E5444D1-4898-31BE-EA04-7F446BCF04C7}"/>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4" name="Footer Placeholder 3">
            <a:extLst>
              <a:ext uri="{FF2B5EF4-FFF2-40B4-BE49-F238E27FC236}">
                <a16:creationId xmlns:a16="http://schemas.microsoft.com/office/drawing/2014/main" id="{393BCEDB-1717-DE55-A9A0-24CB568DE71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F2AF304-EC00-ABD8-326B-6A24D6AD3054}"/>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703307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7EDE3-2D90-8D6D-17D3-FD953BE8407E}"/>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3" name="Footer Placeholder 2">
            <a:extLst>
              <a:ext uri="{FF2B5EF4-FFF2-40B4-BE49-F238E27FC236}">
                <a16:creationId xmlns:a16="http://schemas.microsoft.com/office/drawing/2014/main" id="{91BFCF75-5FF6-8EEA-6C1D-4F8AC93046C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065D72A-EEE3-0F2E-D230-1B6D8DF636F2}"/>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3803738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F2ECA-0C40-B928-E43D-F4CA453AC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FFD1CBA-D06A-854F-C488-3803D2BF62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EF3CB7-17FB-1FD6-CB9C-697C58940A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C81500-D20F-5381-C6FC-E56B3E2850B0}"/>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6" name="Footer Placeholder 5">
            <a:extLst>
              <a:ext uri="{FF2B5EF4-FFF2-40B4-BE49-F238E27FC236}">
                <a16:creationId xmlns:a16="http://schemas.microsoft.com/office/drawing/2014/main" id="{89AE56D1-3BBD-83AB-A321-86A1AC4F21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3D7854-46D0-AC11-98FF-A9E1D1DDBDB5}"/>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2326848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D0CF-EC29-4C15-D085-6E3BE4B142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70F6BFD-8442-0AEC-0AF7-9D9866BEF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0BC6C9A-B7A9-7BE9-64FB-CDFE2FA25D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879EE-E0ED-99D7-FFF3-02F9AE03C86A}"/>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6" name="Footer Placeholder 5">
            <a:extLst>
              <a:ext uri="{FF2B5EF4-FFF2-40B4-BE49-F238E27FC236}">
                <a16:creationId xmlns:a16="http://schemas.microsoft.com/office/drawing/2014/main" id="{E23B5B30-B680-8F6D-4110-BFA70BE8085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04424B-4AF5-F9CF-7129-96BA596189BB}"/>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296475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33CF4-671F-AEFF-C65E-2C374EB22AD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C5AF36F-2D2D-20BB-CA43-42E7B5823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F14980-1D3A-40D7-34FC-AA8B047FD103}"/>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5" name="Footer Placeholder 4">
            <a:extLst>
              <a:ext uri="{FF2B5EF4-FFF2-40B4-BE49-F238E27FC236}">
                <a16:creationId xmlns:a16="http://schemas.microsoft.com/office/drawing/2014/main" id="{A3763E40-8EE8-F59C-B30E-9862D8EA73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B57A98-E20D-5D6E-B4DA-FB7D64A481AC}"/>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387789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154A85-2DBF-EDF4-1AFB-C998D232CD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8E0A8E-3CB8-BB57-219E-77F7499C6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0E696E-DE3E-173D-FA02-B2264720E541}"/>
              </a:ext>
            </a:extLst>
          </p:cNvPr>
          <p:cNvSpPr>
            <a:spLocks noGrp="1"/>
          </p:cNvSpPr>
          <p:nvPr>
            <p:ph type="dt" sz="half" idx="10"/>
          </p:nvPr>
        </p:nvSpPr>
        <p:spPr/>
        <p:txBody>
          <a:bodyPr/>
          <a:lstStyle/>
          <a:p>
            <a:fld id="{61D85CBF-4527-4311-9F50-056390A07A68}" type="datetimeFigureOut">
              <a:rPr lang="en-GB" smtClean="0"/>
              <a:t>25/09/2026</a:t>
            </a:fld>
            <a:endParaRPr lang="en-GB"/>
          </a:p>
        </p:txBody>
      </p:sp>
      <p:sp>
        <p:nvSpPr>
          <p:cNvPr id="5" name="Footer Placeholder 4">
            <a:extLst>
              <a:ext uri="{FF2B5EF4-FFF2-40B4-BE49-F238E27FC236}">
                <a16:creationId xmlns:a16="http://schemas.microsoft.com/office/drawing/2014/main" id="{7B6C631A-6467-6EE9-1ADA-7336B91978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402B1B-6D61-A828-F759-F826E3A6EB4D}"/>
              </a:ext>
            </a:extLst>
          </p:cNvPr>
          <p:cNvSpPr>
            <a:spLocks noGrp="1"/>
          </p:cNvSpPr>
          <p:nvPr>
            <p:ph type="sldNum" sz="quarter" idx="12"/>
          </p:nvPr>
        </p:nvSpPr>
        <p:spPr/>
        <p:txBody>
          <a:bodyPr/>
          <a:lstStyle/>
          <a:p>
            <a:fld id="{24E9E754-DB0B-4CB2-BBCA-85161289A8B3}" type="slidenum">
              <a:rPr lang="en-GB" smtClean="0"/>
              <a:t>‹#›</a:t>
            </a:fld>
            <a:endParaRPr lang="en-GB"/>
          </a:p>
        </p:txBody>
      </p:sp>
    </p:spTree>
    <p:extLst>
      <p:ext uri="{BB962C8B-B14F-4D97-AF65-F5344CB8AC3E}">
        <p14:creationId xmlns:p14="http://schemas.microsoft.com/office/powerpoint/2010/main" val="2123661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7476EB-980F-762F-A668-05F9A922C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2D3A7CF-E13B-FF22-535F-7000E6AB98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EF3182-34FF-438C-3CE5-E725225EC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D85CBF-4527-4311-9F50-056390A07A68}" type="datetimeFigureOut">
              <a:rPr lang="en-GB" smtClean="0"/>
              <a:t>25/09/2026</a:t>
            </a:fld>
            <a:endParaRPr lang="en-GB"/>
          </a:p>
        </p:txBody>
      </p:sp>
      <p:sp>
        <p:nvSpPr>
          <p:cNvPr id="5" name="Footer Placeholder 4">
            <a:extLst>
              <a:ext uri="{FF2B5EF4-FFF2-40B4-BE49-F238E27FC236}">
                <a16:creationId xmlns:a16="http://schemas.microsoft.com/office/drawing/2014/main" id="{3DDFFC1A-C7FA-5965-0C4C-32972B39DE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DEE9BBD-E547-875B-F80D-37D9E3D8D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E9E754-DB0B-4CB2-BBCA-85161289A8B3}" type="slidenum">
              <a:rPr lang="en-GB" smtClean="0"/>
              <a:t>‹#›</a:t>
            </a:fld>
            <a:endParaRPr lang="en-GB"/>
          </a:p>
        </p:txBody>
      </p:sp>
    </p:spTree>
    <p:extLst>
      <p:ext uri="{BB962C8B-B14F-4D97-AF65-F5344CB8AC3E}">
        <p14:creationId xmlns:p14="http://schemas.microsoft.com/office/powerpoint/2010/main" val="2201156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FD4B-FB83-E376-3A0E-C4D7F7871B09}"/>
              </a:ext>
            </a:extLst>
          </p:cNvPr>
          <p:cNvSpPr>
            <a:spLocks noGrp="1"/>
          </p:cNvSpPr>
          <p:nvPr>
            <p:ph type="ctrTitle"/>
          </p:nvPr>
        </p:nvSpPr>
        <p:spPr/>
        <p:txBody>
          <a:bodyPr/>
          <a:lstStyle/>
          <a:p>
            <a:r>
              <a:rPr lang="en-GB" dirty="0"/>
              <a:t>Customer Subscription and Churn Analysis</a:t>
            </a:r>
          </a:p>
        </p:txBody>
      </p:sp>
      <p:sp>
        <p:nvSpPr>
          <p:cNvPr id="3" name="Subtitle 2">
            <a:extLst>
              <a:ext uri="{FF2B5EF4-FFF2-40B4-BE49-F238E27FC236}">
                <a16:creationId xmlns:a16="http://schemas.microsoft.com/office/drawing/2014/main" id="{6F5DB2AF-299F-1E01-09C3-C26E67D6ABA3}"/>
              </a:ext>
            </a:extLst>
          </p:cNvPr>
          <p:cNvSpPr>
            <a:spLocks noGrp="1"/>
          </p:cNvSpPr>
          <p:nvPr>
            <p:ph type="subTitle" idx="1"/>
          </p:nvPr>
        </p:nvSpPr>
        <p:spPr/>
        <p:txBody>
          <a:bodyPr/>
          <a:lstStyle/>
          <a:p>
            <a:r>
              <a:rPr lang="en-GB" dirty="0"/>
              <a:t>Andreas Wong</a:t>
            </a:r>
          </a:p>
          <a:p>
            <a:r>
              <a:rPr lang="en-GB" dirty="0"/>
              <a:t>15/09/2026</a:t>
            </a:r>
          </a:p>
        </p:txBody>
      </p:sp>
    </p:spTree>
    <p:extLst>
      <p:ext uri="{BB962C8B-B14F-4D97-AF65-F5344CB8AC3E}">
        <p14:creationId xmlns:p14="http://schemas.microsoft.com/office/powerpoint/2010/main" val="3129485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5E694-6C2F-4908-599D-255CB55DD71D}"/>
              </a:ext>
            </a:extLst>
          </p:cNvPr>
          <p:cNvSpPr>
            <a:spLocks noGrp="1"/>
          </p:cNvSpPr>
          <p:nvPr>
            <p:ph type="title"/>
          </p:nvPr>
        </p:nvSpPr>
        <p:spPr/>
        <p:txBody>
          <a:bodyPr/>
          <a:lstStyle/>
          <a:p>
            <a:r>
              <a:rPr lang="en-GB" dirty="0"/>
              <a:t>Project Brief</a:t>
            </a:r>
          </a:p>
        </p:txBody>
      </p:sp>
      <p:sp>
        <p:nvSpPr>
          <p:cNvPr id="3" name="Content Placeholder 2">
            <a:extLst>
              <a:ext uri="{FF2B5EF4-FFF2-40B4-BE49-F238E27FC236}">
                <a16:creationId xmlns:a16="http://schemas.microsoft.com/office/drawing/2014/main" id="{7CC97FBB-CAC3-7796-8B7A-A3B9F5BEDC6A}"/>
              </a:ext>
            </a:extLst>
          </p:cNvPr>
          <p:cNvSpPr>
            <a:spLocks noGrp="1"/>
          </p:cNvSpPr>
          <p:nvPr>
            <p:ph idx="1"/>
          </p:nvPr>
        </p:nvSpPr>
        <p:spPr/>
        <p:txBody>
          <a:bodyPr>
            <a:normAutofit/>
          </a:bodyPr>
          <a:lstStyle/>
          <a:p>
            <a:pPr marL="0" indent="0">
              <a:buNone/>
            </a:pPr>
            <a:r>
              <a:rPr lang="en-GB" sz="1800" dirty="0"/>
              <a:t>The leadership team at a (fictional) subscription company, NovaStream,  is concerned with customer churn. They want to know who is leaving, why, and what the business can do about it. They have given their data analyst (me) an export of the customer base across several tables.</a:t>
            </a:r>
          </a:p>
          <a:p>
            <a:pPr marL="0" indent="0">
              <a:buNone/>
            </a:pPr>
            <a:r>
              <a:rPr lang="en-GB" sz="1800" dirty="0"/>
              <a:t>The objectives are</a:t>
            </a:r>
            <a:r>
              <a:rPr lang="en-GB" sz="1800" b="1" dirty="0"/>
              <a:t>: Preparing and cleaning</a:t>
            </a:r>
            <a:r>
              <a:rPr lang="en-GB" sz="1800" dirty="0"/>
              <a:t> the data, </a:t>
            </a:r>
            <a:r>
              <a:rPr lang="en-GB" sz="1800" b="1" dirty="0"/>
              <a:t>modelling</a:t>
            </a:r>
            <a:r>
              <a:rPr lang="en-GB" sz="1800" dirty="0"/>
              <a:t> it by building relationships into a star schema, exploring the data and building </a:t>
            </a:r>
            <a:r>
              <a:rPr lang="en-GB" sz="1800" b="1" dirty="0"/>
              <a:t>visuals to analyse </a:t>
            </a:r>
            <a:r>
              <a:rPr lang="en-GB" sz="1800" dirty="0"/>
              <a:t>what drives churn, and then </a:t>
            </a:r>
            <a:r>
              <a:rPr lang="en-GB" sz="1800" b="1" dirty="0"/>
              <a:t>communicating my findings</a:t>
            </a:r>
            <a:r>
              <a:rPr lang="en-GB" sz="1800" dirty="0"/>
              <a:t>, insights, and give actionable recommendations.</a:t>
            </a:r>
          </a:p>
          <a:p>
            <a:pPr marL="0" indent="0">
              <a:buNone/>
            </a:pPr>
            <a:endParaRPr lang="en-GB" sz="1800" dirty="0"/>
          </a:p>
          <a:p>
            <a:pPr marL="0" indent="0">
              <a:buNone/>
            </a:pPr>
            <a:r>
              <a:rPr lang="en-GB" sz="1800" dirty="0"/>
              <a:t>Key questions:</a:t>
            </a:r>
          </a:p>
          <a:p>
            <a:pPr marL="342900" indent="-342900">
              <a:buFont typeface="+mj-lt"/>
              <a:buAutoNum type="arabicPeriod"/>
            </a:pPr>
            <a:r>
              <a:rPr lang="en-GB" sz="1800" dirty="0"/>
              <a:t>What is the overall churn rate?</a:t>
            </a:r>
          </a:p>
          <a:p>
            <a:pPr marL="342900" indent="-342900">
              <a:buFont typeface="+mj-lt"/>
              <a:buAutoNum type="arabicPeriod"/>
            </a:pPr>
            <a:r>
              <a:rPr lang="en-GB" sz="1800" dirty="0"/>
              <a:t>Does contract type relate to churn?</a:t>
            </a:r>
          </a:p>
          <a:p>
            <a:pPr marL="342900" indent="-342900">
              <a:buFont typeface="+mj-lt"/>
              <a:buAutoNum type="arabicPeriod"/>
            </a:pPr>
            <a:r>
              <a:rPr lang="en-GB" sz="1800" dirty="0"/>
              <a:t>Do Auto-renew, plan or price relate to churn?</a:t>
            </a:r>
          </a:p>
          <a:p>
            <a:pPr marL="342900" indent="-342900">
              <a:buFont typeface="+mj-lt"/>
              <a:buAutoNum type="arabicPeriod"/>
            </a:pPr>
            <a:r>
              <a:rPr lang="en-GB" sz="1800" dirty="0"/>
              <a:t>Do engagement signals separate customers who churn from those who stay?</a:t>
            </a:r>
          </a:p>
          <a:p>
            <a:pPr marL="342900" indent="-342900">
              <a:buFont typeface="+mj-lt"/>
              <a:buAutoNum type="arabicPeriod"/>
            </a:pPr>
            <a:r>
              <a:rPr lang="en-GB" sz="1800" dirty="0"/>
              <a:t>Which factors matter most, and which look like they matter but don’t?</a:t>
            </a:r>
          </a:p>
        </p:txBody>
      </p:sp>
    </p:spTree>
    <p:extLst>
      <p:ext uri="{BB962C8B-B14F-4D97-AF65-F5344CB8AC3E}">
        <p14:creationId xmlns:p14="http://schemas.microsoft.com/office/powerpoint/2010/main" val="3831932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ED8DE-ED33-124E-CC2E-A15DAA0D310E}"/>
              </a:ext>
            </a:extLst>
          </p:cNvPr>
          <p:cNvSpPr>
            <a:spLocks noGrp="1"/>
          </p:cNvSpPr>
          <p:nvPr>
            <p:ph type="title"/>
          </p:nvPr>
        </p:nvSpPr>
        <p:spPr/>
        <p:txBody>
          <a:bodyPr/>
          <a:lstStyle/>
          <a:p>
            <a:r>
              <a:rPr lang="en-GB" dirty="0"/>
              <a:t>Dataset overview</a:t>
            </a:r>
          </a:p>
        </p:txBody>
      </p:sp>
      <p:sp>
        <p:nvSpPr>
          <p:cNvPr id="3" name="Content Placeholder 2">
            <a:extLst>
              <a:ext uri="{FF2B5EF4-FFF2-40B4-BE49-F238E27FC236}">
                <a16:creationId xmlns:a16="http://schemas.microsoft.com/office/drawing/2014/main" id="{9004B588-C02C-52C2-0782-D93DF69BB498}"/>
              </a:ext>
            </a:extLst>
          </p:cNvPr>
          <p:cNvSpPr>
            <a:spLocks noGrp="1"/>
          </p:cNvSpPr>
          <p:nvPr>
            <p:ph idx="1"/>
          </p:nvPr>
        </p:nvSpPr>
        <p:spPr/>
        <p:txBody>
          <a:bodyPr/>
          <a:lstStyle/>
          <a:p>
            <a:r>
              <a:rPr lang="en-GB" dirty="0"/>
              <a:t>Source of the data- A synthetic, teaching dataset. It is not real customer data, but behaves like real data</a:t>
            </a:r>
          </a:p>
          <a:p>
            <a:r>
              <a:rPr lang="en-GB" dirty="0"/>
              <a:t>There are five tables: Subscriptions (Fact table), Customers, </a:t>
            </a:r>
            <a:r>
              <a:rPr lang="en-GB" dirty="0" err="1"/>
              <a:t>PaymentMethods</a:t>
            </a:r>
            <a:r>
              <a:rPr lang="en-GB" dirty="0"/>
              <a:t>, Plans, and Regions (Dimension tables)</a:t>
            </a:r>
          </a:p>
          <a:p>
            <a:endParaRPr lang="en-GB" dirty="0"/>
          </a:p>
          <a:p>
            <a:r>
              <a:rPr lang="en-GB" dirty="0"/>
              <a:t>After cleaning, Subscriptions contains 2000 records, as does Customers.</a:t>
            </a:r>
          </a:p>
        </p:txBody>
      </p:sp>
    </p:spTree>
    <p:extLst>
      <p:ext uri="{BB962C8B-B14F-4D97-AF65-F5344CB8AC3E}">
        <p14:creationId xmlns:p14="http://schemas.microsoft.com/office/powerpoint/2010/main" val="1928084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8F82-6F8B-823C-719D-83FC327792B3}"/>
              </a:ext>
            </a:extLst>
          </p:cNvPr>
          <p:cNvSpPr>
            <a:spLocks noGrp="1"/>
          </p:cNvSpPr>
          <p:nvPr>
            <p:ph type="title"/>
          </p:nvPr>
        </p:nvSpPr>
        <p:spPr>
          <a:xfrm>
            <a:off x="838200" y="217564"/>
            <a:ext cx="10515600" cy="490008"/>
          </a:xfrm>
        </p:spPr>
        <p:txBody>
          <a:bodyPr>
            <a:normAutofit fontScale="90000"/>
          </a:bodyPr>
          <a:lstStyle/>
          <a:p>
            <a:r>
              <a:rPr lang="en-GB" dirty="0"/>
              <a:t>Dataset Structure</a:t>
            </a:r>
          </a:p>
        </p:txBody>
      </p:sp>
      <p:pic>
        <p:nvPicPr>
          <p:cNvPr id="5" name="Content Placeholder 4">
            <a:extLst>
              <a:ext uri="{FF2B5EF4-FFF2-40B4-BE49-F238E27FC236}">
                <a16:creationId xmlns:a16="http://schemas.microsoft.com/office/drawing/2014/main" id="{90162C21-EF5C-5D23-C2F2-8AD2622AF90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95943" y="707572"/>
            <a:ext cx="8952826" cy="5366657"/>
          </a:xfrm>
          <a:prstGeom prst="rect">
            <a:avLst/>
          </a:prstGeom>
        </p:spPr>
      </p:pic>
      <p:sp>
        <p:nvSpPr>
          <p:cNvPr id="3" name="TextBox 2">
            <a:extLst>
              <a:ext uri="{FF2B5EF4-FFF2-40B4-BE49-F238E27FC236}">
                <a16:creationId xmlns:a16="http://schemas.microsoft.com/office/drawing/2014/main" id="{FFFBE540-5B71-48A8-53A5-8C32CAC3943D}"/>
              </a:ext>
            </a:extLst>
          </p:cNvPr>
          <p:cNvSpPr txBox="1"/>
          <p:nvPr/>
        </p:nvSpPr>
        <p:spPr>
          <a:xfrm>
            <a:off x="9405257" y="881743"/>
            <a:ext cx="2590800" cy="369332"/>
          </a:xfrm>
          <a:prstGeom prst="rect">
            <a:avLst/>
          </a:prstGeom>
          <a:noFill/>
        </p:spPr>
        <p:txBody>
          <a:bodyPr wrap="square" rtlCol="0">
            <a:spAutoFit/>
          </a:bodyPr>
          <a:lstStyle/>
          <a:p>
            <a:r>
              <a:rPr lang="en-GB" dirty="0"/>
              <a:t>Key variables by type:</a:t>
            </a:r>
          </a:p>
        </p:txBody>
      </p:sp>
      <p:sp>
        <p:nvSpPr>
          <p:cNvPr id="6" name="Google Shape;90;p4">
            <a:extLst>
              <a:ext uri="{FF2B5EF4-FFF2-40B4-BE49-F238E27FC236}">
                <a16:creationId xmlns:a16="http://schemas.microsoft.com/office/drawing/2014/main" id="{7F3EBC53-F3D6-8415-FF4D-13D6B0D399FC}"/>
              </a:ext>
            </a:extLst>
          </p:cNvPr>
          <p:cNvSpPr/>
          <p:nvPr/>
        </p:nvSpPr>
        <p:spPr>
          <a:xfrm>
            <a:off x="9574600" y="2219904"/>
            <a:ext cx="1909828" cy="3044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dirty="0">
                <a:solidFill>
                  <a:srgbClr val="C77F33"/>
                </a:solidFill>
                <a:latin typeface="Calibri"/>
                <a:ea typeface="Calibri"/>
                <a:cs typeface="Calibri"/>
                <a:sym typeface="Calibri"/>
              </a:rPr>
              <a:t>Categorical</a:t>
            </a:r>
            <a:endParaRPr sz="1350" b="0" i="0" u="none" strike="noStrike" cap="none" dirty="0">
              <a:solidFill>
                <a:schemeClr val="dk1"/>
              </a:solidFill>
              <a:latin typeface="Calibri"/>
              <a:ea typeface="Calibri"/>
              <a:cs typeface="Calibri"/>
              <a:sym typeface="Calibri"/>
            </a:endParaRPr>
          </a:p>
        </p:txBody>
      </p:sp>
      <p:sp>
        <p:nvSpPr>
          <p:cNvPr id="8" name="Google Shape;91;p4">
            <a:extLst>
              <a:ext uri="{FF2B5EF4-FFF2-40B4-BE49-F238E27FC236}">
                <a16:creationId xmlns:a16="http://schemas.microsoft.com/office/drawing/2014/main" id="{375D6BAA-CC26-1CB5-142C-E31DE45CC10D}"/>
              </a:ext>
            </a:extLst>
          </p:cNvPr>
          <p:cNvSpPr/>
          <p:nvPr/>
        </p:nvSpPr>
        <p:spPr>
          <a:xfrm>
            <a:off x="9574600" y="2524305"/>
            <a:ext cx="1909828" cy="5231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a:solidFill>
                  <a:srgbClr val="243029"/>
                </a:solidFill>
                <a:latin typeface="Calibri"/>
                <a:ea typeface="Calibri"/>
                <a:cs typeface="Calibri"/>
                <a:sym typeface="Calibri"/>
              </a:rPr>
              <a:t>Region, </a:t>
            </a:r>
            <a:r>
              <a:rPr lang="en-US" sz="1300" b="0" i="0" u="none" strike="noStrike" cap="none" dirty="0" err="1">
                <a:solidFill>
                  <a:srgbClr val="243029"/>
                </a:solidFill>
                <a:latin typeface="Calibri"/>
                <a:ea typeface="Calibri"/>
                <a:cs typeface="Calibri"/>
                <a:sym typeface="Calibri"/>
              </a:rPr>
              <a:t>PlanName</a:t>
            </a:r>
            <a:r>
              <a:rPr lang="en-US" sz="1300" b="0" i="0" u="none" strike="noStrike" cap="none" dirty="0">
                <a:solidFill>
                  <a:srgbClr val="243029"/>
                </a:solidFill>
                <a:latin typeface="Calibri"/>
                <a:ea typeface="Calibri"/>
                <a:cs typeface="Calibri"/>
                <a:sym typeface="Calibri"/>
              </a:rPr>
              <a:t>, </a:t>
            </a:r>
            <a:r>
              <a:rPr lang="en-US" sz="1300" b="0" i="0" u="none" strike="noStrike" cap="none" dirty="0" err="1">
                <a:solidFill>
                  <a:srgbClr val="243029"/>
                </a:solidFill>
                <a:latin typeface="Calibri"/>
                <a:ea typeface="Calibri"/>
                <a:cs typeface="Calibri"/>
                <a:sym typeface="Calibri"/>
              </a:rPr>
              <a:t>CustomerName</a:t>
            </a:r>
            <a:r>
              <a:rPr lang="en-US" sz="1300" b="0" i="0" u="none" strike="noStrike" cap="none" dirty="0">
                <a:solidFill>
                  <a:srgbClr val="243029"/>
                </a:solidFill>
                <a:latin typeface="Calibri"/>
                <a:ea typeface="Calibri"/>
                <a:cs typeface="Calibri"/>
                <a:sym typeface="Calibri"/>
              </a:rPr>
              <a:t>, </a:t>
            </a:r>
            <a:r>
              <a:rPr lang="en-US" sz="1300" b="0" i="0" u="none" strike="noStrike" cap="none" dirty="0" err="1">
                <a:solidFill>
                  <a:srgbClr val="243029"/>
                </a:solidFill>
                <a:latin typeface="Calibri"/>
                <a:ea typeface="Calibri"/>
                <a:cs typeface="Calibri"/>
                <a:sym typeface="Calibri"/>
              </a:rPr>
              <a:t>ContractType</a:t>
            </a:r>
            <a:r>
              <a:rPr lang="en-US" sz="1300" b="0" i="0" u="none" strike="noStrike" cap="none" dirty="0">
                <a:solidFill>
                  <a:srgbClr val="243029"/>
                </a:solidFill>
                <a:latin typeface="Calibri"/>
                <a:ea typeface="Calibri"/>
                <a:cs typeface="Calibri"/>
                <a:sym typeface="Calibri"/>
              </a:rPr>
              <a:t>, Auto-Renew</a:t>
            </a:r>
            <a:endParaRPr sz="1300" b="0" i="0" u="none" strike="noStrike" cap="none" dirty="0">
              <a:solidFill>
                <a:schemeClr val="dk1"/>
              </a:solidFill>
              <a:latin typeface="Calibri"/>
              <a:ea typeface="Calibri"/>
              <a:cs typeface="Calibri"/>
              <a:sym typeface="Calibri"/>
            </a:endParaRPr>
          </a:p>
        </p:txBody>
      </p:sp>
      <p:sp>
        <p:nvSpPr>
          <p:cNvPr id="10" name="Google Shape;92;p4">
            <a:extLst>
              <a:ext uri="{FF2B5EF4-FFF2-40B4-BE49-F238E27FC236}">
                <a16:creationId xmlns:a16="http://schemas.microsoft.com/office/drawing/2014/main" id="{41D612DA-7AAA-244A-B7F7-E972EAA21E52}"/>
              </a:ext>
            </a:extLst>
          </p:cNvPr>
          <p:cNvSpPr/>
          <p:nvPr/>
        </p:nvSpPr>
        <p:spPr>
          <a:xfrm>
            <a:off x="9563714" y="3297467"/>
            <a:ext cx="1909828" cy="3044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dirty="0">
                <a:solidFill>
                  <a:srgbClr val="C77F33"/>
                </a:solidFill>
                <a:latin typeface="Calibri"/>
                <a:ea typeface="Calibri"/>
                <a:cs typeface="Calibri"/>
                <a:sym typeface="Calibri"/>
              </a:rPr>
              <a:t>Numerical</a:t>
            </a:r>
            <a:endParaRPr sz="1350" b="0" i="0" u="none" strike="noStrike" cap="none" dirty="0">
              <a:solidFill>
                <a:schemeClr val="dk1"/>
              </a:solidFill>
              <a:latin typeface="Calibri"/>
              <a:ea typeface="Calibri"/>
              <a:cs typeface="Calibri"/>
              <a:sym typeface="Calibri"/>
            </a:endParaRPr>
          </a:p>
        </p:txBody>
      </p:sp>
      <p:sp>
        <p:nvSpPr>
          <p:cNvPr id="12" name="Google Shape;93;p4">
            <a:extLst>
              <a:ext uri="{FF2B5EF4-FFF2-40B4-BE49-F238E27FC236}">
                <a16:creationId xmlns:a16="http://schemas.microsoft.com/office/drawing/2014/main" id="{2CAB99EF-10A2-034E-18A1-020670F3011F}"/>
              </a:ext>
            </a:extLst>
          </p:cNvPr>
          <p:cNvSpPr/>
          <p:nvPr/>
        </p:nvSpPr>
        <p:spPr>
          <a:xfrm>
            <a:off x="9563713" y="3601868"/>
            <a:ext cx="2132275" cy="77316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err="1">
                <a:solidFill>
                  <a:srgbClr val="243029"/>
                </a:solidFill>
                <a:latin typeface="Calibri"/>
                <a:ea typeface="Calibri"/>
                <a:cs typeface="Calibri"/>
                <a:sym typeface="Calibri"/>
              </a:rPr>
              <a:t>LastLoginDays</a:t>
            </a:r>
            <a:r>
              <a:rPr lang="en-US" sz="1300" b="0" i="0" u="none" strike="noStrike" cap="none" dirty="0">
                <a:solidFill>
                  <a:srgbClr val="243029"/>
                </a:solidFill>
                <a:latin typeface="Calibri"/>
                <a:ea typeface="Calibri"/>
                <a:cs typeface="Calibri"/>
                <a:sym typeface="Calibri"/>
              </a:rPr>
              <a:t>, </a:t>
            </a:r>
            <a:r>
              <a:rPr lang="en-US" sz="1300" b="0" i="0" u="none" strike="noStrike" cap="none" dirty="0" err="1">
                <a:solidFill>
                  <a:srgbClr val="243029"/>
                </a:solidFill>
                <a:latin typeface="Calibri"/>
                <a:ea typeface="Calibri"/>
                <a:cs typeface="Calibri"/>
                <a:sym typeface="Calibri"/>
              </a:rPr>
              <a:t>MontlyCharge,AvgUsageHours</a:t>
            </a:r>
            <a:r>
              <a:rPr lang="en-US" sz="1300" b="0" i="0" u="none" strike="noStrike" cap="none" dirty="0">
                <a:solidFill>
                  <a:srgbClr val="243029"/>
                </a:solidFill>
                <a:latin typeface="Calibri"/>
                <a:ea typeface="Calibri"/>
                <a:cs typeface="Calibri"/>
                <a:sym typeface="Calibri"/>
              </a:rPr>
              <a:t>, Support Tickets, </a:t>
            </a:r>
            <a:r>
              <a:rPr lang="en-US" sz="1300" b="0" i="0" u="none" strike="noStrike" cap="none" dirty="0" err="1">
                <a:solidFill>
                  <a:srgbClr val="243029"/>
                </a:solidFill>
                <a:latin typeface="Calibri"/>
                <a:ea typeface="Calibri"/>
                <a:cs typeface="Calibri"/>
                <a:sym typeface="Calibri"/>
              </a:rPr>
              <a:t>TenureMonths</a:t>
            </a:r>
            <a:endParaRPr sz="1300" b="0" i="0" u="none" strike="noStrike" cap="none" dirty="0">
              <a:solidFill>
                <a:schemeClr val="dk1"/>
              </a:solidFill>
              <a:latin typeface="Calibri"/>
              <a:ea typeface="Calibri"/>
              <a:cs typeface="Calibri"/>
              <a:sym typeface="Calibri"/>
            </a:endParaRPr>
          </a:p>
        </p:txBody>
      </p:sp>
      <p:sp>
        <p:nvSpPr>
          <p:cNvPr id="16" name="Google Shape;94;p4">
            <a:extLst>
              <a:ext uri="{FF2B5EF4-FFF2-40B4-BE49-F238E27FC236}">
                <a16:creationId xmlns:a16="http://schemas.microsoft.com/office/drawing/2014/main" id="{5A8B40C4-716C-67D6-EAD6-5DDF23858D9F}"/>
              </a:ext>
            </a:extLst>
          </p:cNvPr>
          <p:cNvSpPr/>
          <p:nvPr/>
        </p:nvSpPr>
        <p:spPr>
          <a:xfrm>
            <a:off x="9563713" y="4429459"/>
            <a:ext cx="1909828" cy="3044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dirty="0">
                <a:solidFill>
                  <a:srgbClr val="C77F33"/>
                </a:solidFill>
                <a:latin typeface="Calibri"/>
                <a:ea typeface="Calibri"/>
                <a:cs typeface="Calibri"/>
                <a:sym typeface="Calibri"/>
              </a:rPr>
              <a:t>Date</a:t>
            </a:r>
            <a:endParaRPr sz="1350" b="0" i="0" u="none" strike="noStrike" cap="none" dirty="0">
              <a:solidFill>
                <a:schemeClr val="dk1"/>
              </a:solidFill>
              <a:latin typeface="Calibri"/>
              <a:ea typeface="Calibri"/>
              <a:cs typeface="Calibri"/>
              <a:sym typeface="Calibri"/>
            </a:endParaRPr>
          </a:p>
        </p:txBody>
      </p:sp>
      <p:sp>
        <p:nvSpPr>
          <p:cNvPr id="18" name="Google Shape;95;p4">
            <a:extLst>
              <a:ext uri="{FF2B5EF4-FFF2-40B4-BE49-F238E27FC236}">
                <a16:creationId xmlns:a16="http://schemas.microsoft.com/office/drawing/2014/main" id="{4D42A5DA-92FE-A920-51C3-04727C65EC68}"/>
              </a:ext>
            </a:extLst>
          </p:cNvPr>
          <p:cNvSpPr/>
          <p:nvPr/>
        </p:nvSpPr>
        <p:spPr>
          <a:xfrm>
            <a:off x="9574600" y="4690518"/>
            <a:ext cx="1909828" cy="19554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err="1">
                <a:solidFill>
                  <a:srgbClr val="243029"/>
                </a:solidFill>
                <a:latin typeface="Calibri"/>
                <a:ea typeface="Calibri"/>
                <a:cs typeface="Calibri"/>
                <a:sym typeface="Calibri"/>
              </a:rPr>
              <a:t>SignupDate</a:t>
            </a:r>
            <a:endParaRPr sz="1300" b="0" i="0" u="none" strike="noStrike" cap="none" dirty="0">
              <a:solidFill>
                <a:schemeClr val="dk1"/>
              </a:solidFill>
              <a:latin typeface="Calibri"/>
              <a:ea typeface="Calibri"/>
              <a:cs typeface="Calibri"/>
              <a:sym typeface="Calibri"/>
            </a:endParaRPr>
          </a:p>
        </p:txBody>
      </p:sp>
      <p:sp>
        <p:nvSpPr>
          <p:cNvPr id="20" name="Google Shape;96;p4">
            <a:extLst>
              <a:ext uri="{FF2B5EF4-FFF2-40B4-BE49-F238E27FC236}">
                <a16:creationId xmlns:a16="http://schemas.microsoft.com/office/drawing/2014/main" id="{7A48DC66-B398-4710-5B5A-1E0776E1F0CD}"/>
              </a:ext>
            </a:extLst>
          </p:cNvPr>
          <p:cNvSpPr/>
          <p:nvPr/>
        </p:nvSpPr>
        <p:spPr>
          <a:xfrm>
            <a:off x="9574600" y="5049347"/>
            <a:ext cx="1909828" cy="30440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7F33"/>
              </a:buClr>
              <a:buSzPts val="1350"/>
              <a:buFont typeface="Calibri"/>
              <a:buNone/>
            </a:pPr>
            <a:r>
              <a:rPr lang="en-US" sz="1350" b="1" i="0" u="none" strike="noStrike" cap="none" dirty="0">
                <a:solidFill>
                  <a:srgbClr val="C77F33"/>
                </a:solidFill>
                <a:latin typeface="Calibri"/>
                <a:ea typeface="Calibri"/>
                <a:cs typeface="Calibri"/>
                <a:sym typeface="Calibri"/>
              </a:rPr>
              <a:t>Keys / IDs</a:t>
            </a:r>
            <a:endParaRPr sz="1350" b="0" i="0" u="none" strike="noStrike" cap="none" dirty="0">
              <a:solidFill>
                <a:schemeClr val="dk1"/>
              </a:solidFill>
              <a:latin typeface="Calibri"/>
              <a:ea typeface="Calibri"/>
              <a:cs typeface="Calibri"/>
              <a:sym typeface="Calibri"/>
            </a:endParaRPr>
          </a:p>
        </p:txBody>
      </p:sp>
      <p:sp>
        <p:nvSpPr>
          <p:cNvPr id="22" name="Google Shape;97;p4">
            <a:extLst>
              <a:ext uri="{FF2B5EF4-FFF2-40B4-BE49-F238E27FC236}">
                <a16:creationId xmlns:a16="http://schemas.microsoft.com/office/drawing/2014/main" id="{63C38FCA-D29B-D0D9-654C-DDB0E04CC8D9}"/>
              </a:ext>
            </a:extLst>
          </p:cNvPr>
          <p:cNvSpPr/>
          <p:nvPr/>
        </p:nvSpPr>
        <p:spPr>
          <a:xfrm>
            <a:off x="9574600" y="5161773"/>
            <a:ext cx="1909828" cy="119044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43029"/>
              </a:buClr>
              <a:buSzPts val="1300"/>
              <a:buFont typeface="Calibri"/>
              <a:buNone/>
            </a:pPr>
            <a:r>
              <a:rPr lang="en-US" sz="1300" b="0" i="0" u="none" strike="noStrike" cap="none" dirty="0" err="1">
                <a:solidFill>
                  <a:srgbClr val="243029"/>
                </a:solidFill>
                <a:latin typeface="Calibri"/>
                <a:ea typeface="Calibri"/>
                <a:cs typeface="Calibri"/>
                <a:sym typeface="Calibri"/>
              </a:rPr>
              <a:t>PlanID</a:t>
            </a:r>
            <a:r>
              <a:rPr lang="en-US" sz="1300" b="0" i="0" u="none" strike="noStrike" cap="none" dirty="0">
                <a:solidFill>
                  <a:srgbClr val="243029"/>
                </a:solidFill>
                <a:latin typeface="Calibri"/>
                <a:ea typeface="Calibri"/>
                <a:cs typeface="Calibri"/>
                <a:sym typeface="Calibri"/>
              </a:rPr>
              <a:t>, </a:t>
            </a:r>
            <a:r>
              <a:rPr lang="en-US" sz="1300" b="0" i="0" u="none" strike="noStrike" cap="none" dirty="0" err="1">
                <a:solidFill>
                  <a:srgbClr val="243029"/>
                </a:solidFill>
                <a:latin typeface="Calibri"/>
                <a:ea typeface="Calibri"/>
                <a:cs typeface="Calibri"/>
                <a:sym typeface="Calibri"/>
              </a:rPr>
              <a:t>CustomerID</a:t>
            </a:r>
            <a:r>
              <a:rPr lang="en-US" sz="1300" b="0" i="0" u="none" strike="noStrike" cap="none" dirty="0">
                <a:solidFill>
                  <a:srgbClr val="243029"/>
                </a:solidFill>
                <a:latin typeface="Calibri"/>
                <a:ea typeface="Calibri"/>
                <a:cs typeface="Calibri"/>
                <a:sym typeface="Calibri"/>
              </a:rPr>
              <a:t>, </a:t>
            </a:r>
            <a:r>
              <a:rPr lang="en-US" sz="1300" dirty="0" err="1">
                <a:solidFill>
                  <a:srgbClr val="243029"/>
                </a:solidFill>
                <a:latin typeface="Calibri"/>
                <a:ea typeface="Calibri"/>
                <a:cs typeface="Calibri"/>
                <a:sym typeface="Calibri"/>
              </a:rPr>
              <a:t>RegionID</a:t>
            </a:r>
            <a:r>
              <a:rPr lang="en-US" sz="1300" dirty="0">
                <a:solidFill>
                  <a:srgbClr val="243029"/>
                </a:solidFill>
                <a:latin typeface="Calibri"/>
                <a:ea typeface="Calibri"/>
                <a:cs typeface="Calibri"/>
                <a:sym typeface="Calibri"/>
              </a:rPr>
              <a:t>, </a:t>
            </a:r>
            <a:r>
              <a:rPr lang="en-US" sz="1300" dirty="0" err="1">
                <a:solidFill>
                  <a:srgbClr val="243029"/>
                </a:solidFill>
                <a:latin typeface="Calibri"/>
                <a:ea typeface="Calibri"/>
                <a:cs typeface="Calibri"/>
                <a:sym typeface="Calibri"/>
              </a:rPr>
              <a:t>PaymentMethodID</a:t>
            </a:r>
            <a:r>
              <a:rPr lang="en-US" sz="1300" b="0" i="0" u="none" strike="noStrike" cap="none" dirty="0">
                <a:solidFill>
                  <a:srgbClr val="243029"/>
                </a:solidFill>
                <a:latin typeface="Calibri"/>
                <a:ea typeface="Calibri"/>
                <a:cs typeface="Calibri"/>
                <a:sym typeface="Calibri"/>
              </a:rPr>
              <a:t> </a:t>
            </a:r>
            <a:r>
              <a:rPr lang="en-US" sz="1300" b="1" i="0" u="none" strike="noStrike" cap="none" dirty="0">
                <a:solidFill>
                  <a:srgbClr val="243029"/>
                </a:solidFill>
                <a:latin typeface="Calibri"/>
                <a:ea typeface="Calibri"/>
                <a:cs typeface="Calibri"/>
                <a:sym typeface="Calibri"/>
              </a:rPr>
              <a:t>(Key columns all hidden, IDs not </a:t>
            </a:r>
            <a:r>
              <a:rPr lang="en-US" sz="1300" b="1" i="0" u="none" strike="noStrike" cap="none" dirty="0" err="1">
                <a:solidFill>
                  <a:srgbClr val="243029"/>
                </a:solidFill>
                <a:latin typeface="Calibri"/>
                <a:ea typeface="Calibri"/>
                <a:cs typeface="Calibri"/>
                <a:sym typeface="Calibri"/>
              </a:rPr>
              <a:t>summarised</a:t>
            </a:r>
            <a:r>
              <a:rPr lang="en-US" sz="1300" b="1" i="0" u="none" strike="noStrike" cap="none" dirty="0">
                <a:solidFill>
                  <a:srgbClr val="243029"/>
                </a:solidFill>
                <a:latin typeface="Calibri"/>
                <a:ea typeface="Calibri"/>
                <a:cs typeface="Calibri"/>
                <a:sym typeface="Calibri"/>
              </a:rPr>
              <a:t>)</a:t>
            </a:r>
            <a:endParaRPr sz="1300" b="1" i="0" u="none" strike="noStrike" cap="none" dirty="0">
              <a:solidFill>
                <a:schemeClr val="dk1"/>
              </a:solidFill>
              <a:latin typeface="Calibri"/>
              <a:ea typeface="Calibri"/>
              <a:cs typeface="Calibri"/>
              <a:sym typeface="Calibri"/>
            </a:endParaRPr>
          </a:p>
        </p:txBody>
      </p:sp>
      <p:sp>
        <p:nvSpPr>
          <p:cNvPr id="23" name="TextBox 22">
            <a:extLst>
              <a:ext uri="{FF2B5EF4-FFF2-40B4-BE49-F238E27FC236}">
                <a16:creationId xmlns:a16="http://schemas.microsoft.com/office/drawing/2014/main" id="{CF000C35-C5C5-0A85-907F-17215B8308BB}"/>
              </a:ext>
            </a:extLst>
          </p:cNvPr>
          <p:cNvSpPr txBox="1"/>
          <p:nvPr/>
        </p:nvSpPr>
        <p:spPr>
          <a:xfrm>
            <a:off x="9473549" y="1241551"/>
            <a:ext cx="2312601" cy="830997"/>
          </a:xfrm>
          <a:prstGeom prst="rect">
            <a:avLst/>
          </a:prstGeom>
          <a:noFill/>
        </p:spPr>
        <p:txBody>
          <a:bodyPr wrap="square" rtlCol="0">
            <a:spAutoFit/>
          </a:bodyPr>
          <a:lstStyle/>
          <a:p>
            <a:r>
              <a:rPr lang="en-GB" sz="1600" dirty="0"/>
              <a:t>The target column to be analysed is Churned. (This is categorical)</a:t>
            </a:r>
          </a:p>
        </p:txBody>
      </p:sp>
    </p:spTree>
    <p:extLst>
      <p:ext uri="{BB962C8B-B14F-4D97-AF65-F5344CB8AC3E}">
        <p14:creationId xmlns:p14="http://schemas.microsoft.com/office/powerpoint/2010/main" val="278031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04470-4442-8A37-CF3F-D2D00A6AD653}"/>
              </a:ext>
            </a:extLst>
          </p:cNvPr>
          <p:cNvSpPr>
            <a:spLocks noGrp="1"/>
          </p:cNvSpPr>
          <p:nvPr>
            <p:ph type="title"/>
          </p:nvPr>
        </p:nvSpPr>
        <p:spPr/>
        <p:txBody>
          <a:bodyPr/>
          <a:lstStyle/>
          <a:p>
            <a:r>
              <a:rPr lang="en-GB" dirty="0"/>
              <a:t>Identified Problems in Dataset</a:t>
            </a:r>
          </a:p>
        </p:txBody>
      </p:sp>
      <p:sp>
        <p:nvSpPr>
          <p:cNvPr id="3" name="Content Placeholder 2">
            <a:extLst>
              <a:ext uri="{FF2B5EF4-FFF2-40B4-BE49-F238E27FC236}">
                <a16:creationId xmlns:a16="http://schemas.microsoft.com/office/drawing/2014/main" id="{5F893FAC-126D-436D-9A26-5C4206A8ABC2}"/>
              </a:ext>
            </a:extLst>
          </p:cNvPr>
          <p:cNvSpPr>
            <a:spLocks noGrp="1"/>
          </p:cNvSpPr>
          <p:nvPr>
            <p:ph idx="1"/>
          </p:nvPr>
        </p:nvSpPr>
        <p:spPr/>
        <p:txBody>
          <a:bodyPr/>
          <a:lstStyle/>
          <a:p>
            <a:r>
              <a:rPr lang="en-GB" dirty="0"/>
              <a:t>Duplicate Customer IDs in Subscriptions and Customers tables.</a:t>
            </a:r>
          </a:p>
          <a:p>
            <a:r>
              <a:rPr lang="en-GB" dirty="0"/>
              <a:t>Some orphan foreign keys. For example, a region ID of 7 in the fact table when no such region ID exists in the Regions Dimension.</a:t>
            </a:r>
          </a:p>
          <a:p>
            <a:r>
              <a:rPr lang="en-GB" dirty="0"/>
              <a:t>Some categories are inconsistent, and there are outlier and null values in some columns too. Some columns are the wrong data type, like Monthly charge.</a:t>
            </a:r>
          </a:p>
          <a:p>
            <a:endParaRPr lang="en-GB" dirty="0"/>
          </a:p>
          <a:p>
            <a:endParaRPr lang="en-GB" dirty="0"/>
          </a:p>
        </p:txBody>
      </p:sp>
    </p:spTree>
    <p:extLst>
      <p:ext uri="{BB962C8B-B14F-4D97-AF65-F5344CB8AC3E}">
        <p14:creationId xmlns:p14="http://schemas.microsoft.com/office/powerpoint/2010/main" val="2667272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833A-F034-6C92-3998-F1157D6EBF76}"/>
              </a:ext>
            </a:extLst>
          </p:cNvPr>
          <p:cNvSpPr>
            <a:spLocks noGrp="1"/>
          </p:cNvSpPr>
          <p:nvPr>
            <p:ph type="title"/>
          </p:nvPr>
        </p:nvSpPr>
        <p:spPr/>
        <p:txBody>
          <a:bodyPr/>
          <a:lstStyle/>
          <a:p>
            <a:r>
              <a:rPr lang="en-GB" dirty="0"/>
              <a:t>Data Cleaning Process</a:t>
            </a:r>
          </a:p>
        </p:txBody>
      </p:sp>
      <p:sp>
        <p:nvSpPr>
          <p:cNvPr id="3" name="Content Placeholder 2">
            <a:extLst>
              <a:ext uri="{FF2B5EF4-FFF2-40B4-BE49-F238E27FC236}">
                <a16:creationId xmlns:a16="http://schemas.microsoft.com/office/drawing/2014/main" id="{4FDE0FE9-BC59-F2D8-52CA-82FB046DC8A5}"/>
              </a:ext>
            </a:extLst>
          </p:cNvPr>
          <p:cNvSpPr>
            <a:spLocks noGrp="1"/>
          </p:cNvSpPr>
          <p:nvPr>
            <p:ph idx="1"/>
          </p:nvPr>
        </p:nvSpPr>
        <p:spPr/>
        <p:txBody>
          <a:bodyPr>
            <a:normAutofit fontScale="92500" lnSpcReduction="20000"/>
          </a:bodyPr>
          <a:lstStyle/>
          <a:p>
            <a:r>
              <a:rPr lang="en-GB" sz="2000" dirty="0"/>
              <a:t>To handle the duplicate customer IDs in both Subscriptions and Customers, I used ‘remove duplicates’ to handle them, and each table ended up with 2000 rows.</a:t>
            </a:r>
          </a:p>
          <a:p>
            <a:r>
              <a:rPr lang="en-GB" sz="2000" dirty="0"/>
              <a:t>With regards to the null values in the Subscriptions table, including the foreign keys </a:t>
            </a:r>
            <a:r>
              <a:rPr lang="en-GB" sz="2000" dirty="0" err="1"/>
              <a:t>RegionID</a:t>
            </a:r>
            <a:r>
              <a:rPr lang="en-GB" sz="2000" dirty="0"/>
              <a:t> and </a:t>
            </a:r>
            <a:r>
              <a:rPr lang="en-GB" sz="2000" dirty="0" err="1"/>
              <a:t>PaymentMethodID</a:t>
            </a:r>
            <a:r>
              <a:rPr lang="en-GB" sz="2000" dirty="0"/>
              <a:t>, I chose to leave them as null. I checked the original source data and the values were null there, meaning the original value (if it ever existed) cannot be found. So I decided to  (</a:t>
            </a:r>
            <a:r>
              <a:rPr lang="en-GB" sz="2000" i="1" dirty="0"/>
              <a:t>I did explore an alternative method which involved creating an “Unknown” dimension member and assigning it an ID of -1 but this wasn’t in the scope of what we covered during bootcamps</a:t>
            </a:r>
            <a:r>
              <a:rPr lang="en-GB" sz="2000" dirty="0"/>
              <a:t>). With regards to the orphan foreign key values, I changed these to “null”. For </a:t>
            </a:r>
            <a:r>
              <a:rPr lang="en-GB" sz="2000" dirty="0" err="1"/>
              <a:t>AvgUsageHours</a:t>
            </a:r>
            <a:r>
              <a:rPr lang="en-GB" sz="2000" dirty="0"/>
              <a:t> and </a:t>
            </a:r>
            <a:r>
              <a:rPr lang="en-GB" sz="2000" dirty="0" err="1"/>
              <a:t>LastLoginDays</a:t>
            </a:r>
            <a:r>
              <a:rPr lang="en-GB" sz="2000" dirty="0"/>
              <a:t>, I did not want to assume the null values were supposed to be 0, which is my reasoning for leaving them as nulls as opposed to replacing them with 0. (If I was supposed to assume the null values represented 0, I will change this upon feedback).</a:t>
            </a:r>
          </a:p>
          <a:p>
            <a:r>
              <a:rPr lang="en-GB" sz="2000" dirty="0"/>
              <a:t>With the outliers of Tenure = 999 and </a:t>
            </a:r>
            <a:r>
              <a:rPr lang="en-GB" sz="2000" dirty="0" err="1"/>
              <a:t>and</a:t>
            </a:r>
            <a:r>
              <a:rPr lang="en-GB" sz="2000" dirty="0"/>
              <a:t> Monthly Charge = 9999, I changed these to “null”, they are obviously not actual outliers and probably just a data entry error, so I did not replace the outliers with something like the average Tenure and average Monthly Charge.</a:t>
            </a:r>
          </a:p>
          <a:p>
            <a:r>
              <a:rPr lang="en-GB" sz="2000" dirty="0"/>
              <a:t>Next, to deal with </a:t>
            </a:r>
            <a:r>
              <a:rPr lang="en-GB" sz="2000" dirty="0" err="1"/>
              <a:t>MonthlyCharge</a:t>
            </a:r>
            <a:r>
              <a:rPr lang="en-GB" sz="2000" dirty="0"/>
              <a:t> being text data type, I first got rid of the dollar signs using ‘replace values’. After that, I changed the data type of the column to fixed decimal.</a:t>
            </a:r>
          </a:p>
          <a:p>
            <a:r>
              <a:rPr lang="en-GB" sz="2000" dirty="0"/>
              <a:t>Looking at inconsistent values for </a:t>
            </a:r>
            <a:r>
              <a:rPr lang="en-GB" sz="2000" dirty="0" err="1"/>
              <a:t>ContractType</a:t>
            </a:r>
            <a:r>
              <a:rPr lang="en-GB" sz="2000" dirty="0"/>
              <a:t>, </a:t>
            </a:r>
            <a:r>
              <a:rPr lang="en-GB" sz="2000" dirty="0" err="1"/>
              <a:t>AutoRenew</a:t>
            </a:r>
            <a:r>
              <a:rPr lang="en-GB" sz="2000" dirty="0"/>
              <a:t> and Churned, I used ‘Replace Values’ to ensure consistency. (Monthly/Annual, Yes/No, and Yes/No respectively).</a:t>
            </a:r>
          </a:p>
          <a:p>
            <a:endParaRPr lang="en-GB" sz="2000" dirty="0"/>
          </a:p>
        </p:txBody>
      </p:sp>
    </p:spTree>
    <p:extLst>
      <p:ext uri="{BB962C8B-B14F-4D97-AF65-F5344CB8AC3E}">
        <p14:creationId xmlns:p14="http://schemas.microsoft.com/office/powerpoint/2010/main" val="281873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88DE-3198-C719-A750-ACF76670754A}"/>
              </a:ext>
            </a:extLst>
          </p:cNvPr>
          <p:cNvSpPr>
            <a:spLocks noGrp="1"/>
          </p:cNvSpPr>
          <p:nvPr>
            <p:ph type="title"/>
          </p:nvPr>
        </p:nvSpPr>
        <p:spPr/>
        <p:txBody>
          <a:bodyPr/>
          <a:lstStyle/>
          <a:p>
            <a:r>
              <a:rPr lang="en-GB"/>
              <a:t>Data Cleaning (Continued)</a:t>
            </a:r>
          </a:p>
        </p:txBody>
      </p:sp>
      <p:sp>
        <p:nvSpPr>
          <p:cNvPr id="3" name="Content Placeholder 2">
            <a:extLst>
              <a:ext uri="{FF2B5EF4-FFF2-40B4-BE49-F238E27FC236}">
                <a16:creationId xmlns:a16="http://schemas.microsoft.com/office/drawing/2014/main" id="{AD66C777-47BC-18A3-923D-E8E6E749D095}"/>
              </a:ext>
            </a:extLst>
          </p:cNvPr>
          <p:cNvSpPr>
            <a:spLocks noGrp="1"/>
          </p:cNvSpPr>
          <p:nvPr>
            <p:ph idx="1"/>
          </p:nvPr>
        </p:nvSpPr>
        <p:spPr/>
        <p:txBody>
          <a:bodyPr>
            <a:normAutofit fontScale="92500" lnSpcReduction="20000"/>
          </a:bodyPr>
          <a:lstStyle/>
          <a:p>
            <a:r>
              <a:rPr lang="en-GB" sz="2000" dirty="0"/>
              <a:t>In the Customers table, I did the following cleaning:</a:t>
            </a:r>
          </a:p>
          <a:p>
            <a:r>
              <a:rPr lang="en-GB" sz="2000" dirty="0"/>
              <a:t>Removed duplicate customer IDs</a:t>
            </a:r>
          </a:p>
          <a:p>
            <a:r>
              <a:rPr lang="en-GB" sz="2000" dirty="0"/>
              <a:t>The missing DOBs were missing in the original data, so again, I had to leave these null because there would be no way to know what the actual DOBs are. There are 26 null values here.</a:t>
            </a:r>
          </a:p>
          <a:p>
            <a:r>
              <a:rPr lang="en-GB" sz="2000" dirty="0"/>
              <a:t>Sorted the inconsistent gender category, so they are now either Male or Female as the only two options</a:t>
            </a:r>
          </a:p>
          <a:p>
            <a:r>
              <a:rPr lang="en-GB" sz="2000" dirty="0"/>
              <a:t>Removed the trailing spaces in </a:t>
            </a:r>
            <a:r>
              <a:rPr lang="en-GB" sz="2000" dirty="0" err="1"/>
              <a:t>CustomerName</a:t>
            </a:r>
            <a:r>
              <a:rPr lang="en-GB" sz="2000" dirty="0"/>
              <a:t>.</a:t>
            </a:r>
          </a:p>
          <a:p>
            <a:endParaRPr lang="en-GB" sz="2000" dirty="0"/>
          </a:p>
          <a:p>
            <a:r>
              <a:rPr lang="en-GB" sz="2000" dirty="0"/>
              <a:t>With regards to all the cleaning steps (or lack of) for the values I left as null, I decided to do this because we had no information on </a:t>
            </a:r>
            <a:r>
              <a:rPr lang="en-GB" sz="2000" i="1" dirty="0"/>
              <a:t>why </a:t>
            </a:r>
            <a:r>
              <a:rPr lang="en-GB" sz="2000" dirty="0"/>
              <a:t>some of the data is missing or wrong so I did not feel comfortable replacing them with a non-null value. Dealing with null values could cause issues when creating visualisations but these can be solved with visual filters.</a:t>
            </a:r>
          </a:p>
          <a:p>
            <a:r>
              <a:rPr lang="en-GB" sz="2000" dirty="0"/>
              <a:t>In the subscriptions table, there are 44 null values for </a:t>
            </a:r>
            <a:r>
              <a:rPr lang="en-GB" sz="2000" dirty="0" err="1"/>
              <a:t>RegionID</a:t>
            </a:r>
            <a:r>
              <a:rPr lang="en-GB" sz="2000" dirty="0"/>
              <a:t>, 5 in </a:t>
            </a:r>
            <a:r>
              <a:rPr lang="en-GB" sz="2000" dirty="0" err="1"/>
              <a:t>PlanID</a:t>
            </a:r>
            <a:r>
              <a:rPr lang="en-GB" sz="2000" dirty="0"/>
              <a:t>, and 50 for </a:t>
            </a:r>
            <a:r>
              <a:rPr lang="en-GB" sz="2000" dirty="0" err="1"/>
              <a:t>PaymentMethodID</a:t>
            </a:r>
            <a:r>
              <a:rPr lang="en-GB" sz="2000" dirty="0"/>
              <a:t>. There are 2 nulls in </a:t>
            </a:r>
            <a:r>
              <a:rPr lang="en-GB" sz="2000" dirty="0" err="1"/>
              <a:t>MonthlyCharge</a:t>
            </a:r>
            <a:r>
              <a:rPr lang="en-GB" sz="2000" dirty="0"/>
              <a:t>, 3 in Tenure, 70 for average usage hours, and 40 for </a:t>
            </a:r>
            <a:r>
              <a:rPr lang="en-GB" sz="2000" dirty="0" err="1"/>
              <a:t>LastLogin</a:t>
            </a:r>
            <a:r>
              <a:rPr lang="en-GB" sz="2000" dirty="0"/>
              <a:t>. </a:t>
            </a:r>
          </a:p>
        </p:txBody>
      </p:sp>
    </p:spTree>
    <p:extLst>
      <p:ext uri="{BB962C8B-B14F-4D97-AF65-F5344CB8AC3E}">
        <p14:creationId xmlns:p14="http://schemas.microsoft.com/office/powerpoint/2010/main" val="4262130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4A1D3-C534-8C4D-FDEC-A97460316325}"/>
              </a:ext>
            </a:extLst>
          </p:cNvPr>
          <p:cNvSpPr>
            <a:spLocks noGrp="1"/>
          </p:cNvSpPr>
          <p:nvPr>
            <p:ph type="title"/>
          </p:nvPr>
        </p:nvSpPr>
        <p:spPr/>
        <p:txBody>
          <a:bodyPr/>
          <a:lstStyle/>
          <a:p>
            <a:r>
              <a:rPr lang="en-GB" dirty="0"/>
              <a:t>Data Cleaning steps in PQ</a:t>
            </a:r>
          </a:p>
        </p:txBody>
      </p:sp>
      <p:pic>
        <p:nvPicPr>
          <p:cNvPr id="5" name="Picture 4">
            <a:extLst>
              <a:ext uri="{FF2B5EF4-FFF2-40B4-BE49-F238E27FC236}">
                <a16:creationId xmlns:a16="http://schemas.microsoft.com/office/drawing/2014/main" id="{17149B03-4B02-81E0-E06C-C7BA961E1FD3}"/>
              </a:ext>
            </a:extLst>
          </p:cNvPr>
          <p:cNvPicPr>
            <a:picLocks noChangeAspect="1"/>
          </p:cNvPicPr>
          <p:nvPr/>
        </p:nvPicPr>
        <p:blipFill>
          <a:blip r:embed="rId2"/>
          <a:stretch>
            <a:fillRect/>
          </a:stretch>
        </p:blipFill>
        <p:spPr>
          <a:xfrm>
            <a:off x="1115298" y="1536972"/>
            <a:ext cx="3532902" cy="3784056"/>
          </a:xfrm>
          <a:prstGeom prst="rect">
            <a:avLst/>
          </a:prstGeom>
        </p:spPr>
      </p:pic>
      <p:sp>
        <p:nvSpPr>
          <p:cNvPr id="6" name="TextBox 5">
            <a:extLst>
              <a:ext uri="{FF2B5EF4-FFF2-40B4-BE49-F238E27FC236}">
                <a16:creationId xmlns:a16="http://schemas.microsoft.com/office/drawing/2014/main" id="{59275B13-DE68-D5FA-700D-7EAAF8AE0C26}"/>
              </a:ext>
            </a:extLst>
          </p:cNvPr>
          <p:cNvSpPr txBox="1"/>
          <p:nvPr/>
        </p:nvSpPr>
        <p:spPr>
          <a:xfrm>
            <a:off x="1153886" y="5431189"/>
            <a:ext cx="3429000" cy="369332"/>
          </a:xfrm>
          <a:prstGeom prst="rect">
            <a:avLst/>
          </a:prstGeom>
          <a:noFill/>
        </p:spPr>
        <p:txBody>
          <a:bodyPr wrap="square" rtlCol="0">
            <a:spAutoFit/>
          </a:bodyPr>
          <a:lstStyle/>
          <a:p>
            <a:r>
              <a:rPr lang="en-GB" dirty="0"/>
              <a:t>Customers table</a:t>
            </a:r>
          </a:p>
        </p:txBody>
      </p:sp>
      <p:pic>
        <p:nvPicPr>
          <p:cNvPr id="8" name="Picture 7">
            <a:extLst>
              <a:ext uri="{FF2B5EF4-FFF2-40B4-BE49-F238E27FC236}">
                <a16:creationId xmlns:a16="http://schemas.microsoft.com/office/drawing/2014/main" id="{19BE5158-A99C-F89A-B9DC-D2C2090D0347}"/>
              </a:ext>
            </a:extLst>
          </p:cNvPr>
          <p:cNvPicPr>
            <a:picLocks noChangeAspect="1"/>
          </p:cNvPicPr>
          <p:nvPr/>
        </p:nvPicPr>
        <p:blipFill>
          <a:blip r:embed="rId3"/>
          <a:stretch>
            <a:fillRect/>
          </a:stretch>
        </p:blipFill>
        <p:spPr>
          <a:xfrm>
            <a:off x="6758557" y="1459508"/>
            <a:ext cx="2352785" cy="3861520"/>
          </a:xfrm>
          <a:prstGeom prst="rect">
            <a:avLst/>
          </a:prstGeom>
        </p:spPr>
      </p:pic>
      <p:sp>
        <p:nvSpPr>
          <p:cNvPr id="9" name="TextBox 8">
            <a:extLst>
              <a:ext uri="{FF2B5EF4-FFF2-40B4-BE49-F238E27FC236}">
                <a16:creationId xmlns:a16="http://schemas.microsoft.com/office/drawing/2014/main" id="{1C48333E-B9C6-739F-C78B-D852503F824F}"/>
              </a:ext>
            </a:extLst>
          </p:cNvPr>
          <p:cNvSpPr txBox="1"/>
          <p:nvPr/>
        </p:nvSpPr>
        <p:spPr>
          <a:xfrm>
            <a:off x="6758557" y="5431189"/>
            <a:ext cx="2505186" cy="369332"/>
          </a:xfrm>
          <a:prstGeom prst="rect">
            <a:avLst/>
          </a:prstGeom>
          <a:noFill/>
        </p:spPr>
        <p:txBody>
          <a:bodyPr wrap="square" rtlCol="0">
            <a:spAutoFit/>
          </a:bodyPr>
          <a:lstStyle/>
          <a:p>
            <a:r>
              <a:rPr lang="en-GB" dirty="0"/>
              <a:t>Subscriptions table</a:t>
            </a:r>
          </a:p>
        </p:txBody>
      </p:sp>
    </p:spTree>
    <p:extLst>
      <p:ext uri="{BB962C8B-B14F-4D97-AF65-F5344CB8AC3E}">
        <p14:creationId xmlns:p14="http://schemas.microsoft.com/office/powerpoint/2010/main" val="2006889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D13CC-E6C1-D897-6C5E-348F60C3260B}"/>
              </a:ext>
            </a:extLst>
          </p:cNvPr>
          <p:cNvSpPr>
            <a:spLocks noGrp="1"/>
          </p:cNvSpPr>
          <p:nvPr>
            <p:ph type="title"/>
          </p:nvPr>
        </p:nvSpPr>
        <p:spPr/>
        <p:txBody>
          <a:bodyPr/>
          <a:lstStyle/>
          <a:p>
            <a:r>
              <a:rPr lang="en-GB" dirty="0"/>
              <a:t>Data Transformation</a:t>
            </a:r>
          </a:p>
        </p:txBody>
      </p:sp>
      <p:sp>
        <p:nvSpPr>
          <p:cNvPr id="3" name="Content Placeholder 2">
            <a:extLst>
              <a:ext uri="{FF2B5EF4-FFF2-40B4-BE49-F238E27FC236}">
                <a16:creationId xmlns:a16="http://schemas.microsoft.com/office/drawing/2014/main" id="{88ADAE2F-D4D9-95D7-60CA-EB9F5A36DF4F}"/>
              </a:ext>
            </a:extLst>
          </p:cNvPr>
          <p:cNvSpPr>
            <a:spLocks noGrp="1"/>
          </p:cNvSpPr>
          <p:nvPr>
            <p:ph idx="1"/>
          </p:nvPr>
        </p:nvSpPr>
        <p:spPr>
          <a:xfrm>
            <a:off x="250370" y="1825625"/>
            <a:ext cx="11310259" cy="4847318"/>
          </a:xfrm>
        </p:spPr>
        <p:txBody>
          <a:bodyPr>
            <a:normAutofit/>
          </a:bodyPr>
          <a:lstStyle/>
          <a:p>
            <a:r>
              <a:rPr lang="en-GB" dirty="0"/>
              <a:t>To create the Date Table I used:</a:t>
            </a:r>
          </a:p>
          <a:p>
            <a:r>
              <a:rPr lang="en-GB" sz="1600" i="1" dirty="0" err="1"/>
              <a:t>DateTable</a:t>
            </a:r>
            <a:r>
              <a:rPr lang="en-GB" sz="1600" i="1" dirty="0"/>
              <a:t> = CALENDAR(MIN(</a:t>
            </a:r>
            <a:r>
              <a:rPr lang="en-GB" sz="1600" i="1" dirty="0" err="1"/>
              <a:t>summit_orders_combined</a:t>
            </a:r>
            <a:r>
              <a:rPr lang="en-GB" sz="1600" i="1" dirty="0"/>
              <a:t>[Order Date]),MAX(</a:t>
            </a:r>
            <a:r>
              <a:rPr lang="en-GB" sz="1600" i="1" dirty="0" err="1"/>
              <a:t>summit_orders_combined</a:t>
            </a:r>
            <a:r>
              <a:rPr lang="en-GB" sz="1600" i="1" dirty="0"/>
              <a:t>[Order Date])).</a:t>
            </a:r>
          </a:p>
          <a:p>
            <a:r>
              <a:rPr lang="en-GB" sz="1600" i="1" dirty="0"/>
              <a:t>I used </a:t>
            </a:r>
            <a:r>
              <a:rPr lang="en-GB" sz="1600" i="1" dirty="0" err="1"/>
              <a:t>PowerQuery</a:t>
            </a:r>
            <a:r>
              <a:rPr lang="en-GB" sz="1600" i="1" dirty="0"/>
              <a:t> to create an age column from Date of birth. This would be important because it allows us to explore whether age could be a factor affecting churn.</a:t>
            </a:r>
          </a:p>
          <a:p>
            <a:r>
              <a:rPr lang="en-GB" sz="1600" i="1" dirty="0"/>
              <a:t>I also created bands for tenure and usage, in order to help </a:t>
            </a:r>
            <a:r>
              <a:rPr lang="en-GB" sz="1600" i="1" dirty="0" err="1"/>
              <a:t>idenfify</a:t>
            </a:r>
            <a:r>
              <a:rPr lang="en-GB" sz="1600" i="1" dirty="0"/>
              <a:t> patterns. E.g. Rather than looking at Churn for every single possible value of tenure and usage, you can split them into High/Medium/Low bands which makes it much easier to interpret. </a:t>
            </a:r>
          </a:p>
          <a:p>
            <a:r>
              <a:rPr lang="en-GB" sz="1600" i="1" dirty="0"/>
              <a:t>Values for tenure range from 1 to 72 months, which works out nicely to six years, so I split tenure into 6 bands, each band representing 12 months (aka a year).</a:t>
            </a:r>
          </a:p>
          <a:p>
            <a:r>
              <a:rPr lang="en-GB" sz="1600" i="1" dirty="0"/>
              <a:t>Values for usage range from 0 to 93, and when looking at the distribution of </a:t>
            </a:r>
            <a:r>
              <a:rPr lang="en-GB" sz="1600" i="1" dirty="0" err="1"/>
              <a:t>avgusagehours</a:t>
            </a:r>
            <a:r>
              <a:rPr lang="en-GB" sz="1600" i="1" dirty="0"/>
              <a:t>, there was a high spike in customers with a value of 0, so I actually had a separate band for the value 0 (No usage), with the other bands being 1-20 (low), 21-40 (moderate) , 41-60 (high), and 61+ (very high). There were only two customers with average usage of over 80, so I felt it was best to have the upper band as 61+ rather than include bands for 61-80 and 81+. </a:t>
            </a:r>
          </a:p>
          <a:p>
            <a:r>
              <a:rPr lang="en-GB" sz="1600" i="1" dirty="0"/>
              <a:t>I know that tenure and usage contain null values, so I also have a band called ‘missing’ for when the value is null.</a:t>
            </a:r>
          </a:p>
          <a:p>
            <a:r>
              <a:rPr lang="en-GB" sz="1600" i="1" dirty="0"/>
              <a:t>I also created bands for last login, and the distribution showed very right skew, so I concentrated more bands in the lower values.</a:t>
            </a:r>
            <a:endParaRPr lang="en-GB" dirty="0"/>
          </a:p>
        </p:txBody>
      </p:sp>
    </p:spTree>
    <p:extLst>
      <p:ext uri="{BB962C8B-B14F-4D97-AF65-F5344CB8AC3E}">
        <p14:creationId xmlns:p14="http://schemas.microsoft.com/office/powerpoint/2010/main" val="2574914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0ABC9-CC20-A1BB-F23B-A8C74C007BBA}"/>
              </a:ext>
            </a:extLst>
          </p:cNvPr>
          <p:cNvSpPr>
            <a:spLocks noGrp="1"/>
          </p:cNvSpPr>
          <p:nvPr>
            <p:ph type="title"/>
          </p:nvPr>
        </p:nvSpPr>
        <p:spPr/>
        <p:txBody>
          <a:bodyPr/>
          <a:lstStyle/>
          <a:p>
            <a:r>
              <a:rPr lang="en-GB" dirty="0"/>
              <a:t>Data Transformation</a:t>
            </a:r>
          </a:p>
        </p:txBody>
      </p:sp>
      <p:sp>
        <p:nvSpPr>
          <p:cNvPr id="3" name="Content Placeholder 2">
            <a:extLst>
              <a:ext uri="{FF2B5EF4-FFF2-40B4-BE49-F238E27FC236}">
                <a16:creationId xmlns:a16="http://schemas.microsoft.com/office/drawing/2014/main" id="{72769CBA-12F4-67B7-F146-89133F86A1B3}"/>
              </a:ext>
            </a:extLst>
          </p:cNvPr>
          <p:cNvSpPr>
            <a:spLocks noGrp="1"/>
          </p:cNvSpPr>
          <p:nvPr>
            <p:ph idx="1"/>
          </p:nvPr>
        </p:nvSpPr>
        <p:spPr>
          <a:xfrm>
            <a:off x="674914" y="1427843"/>
            <a:ext cx="10515600" cy="525689"/>
          </a:xfrm>
        </p:spPr>
        <p:txBody>
          <a:bodyPr/>
          <a:lstStyle/>
          <a:p>
            <a:r>
              <a:rPr lang="en-GB" dirty="0"/>
              <a:t>Below is the DAX I used to create each band:</a:t>
            </a:r>
          </a:p>
        </p:txBody>
      </p:sp>
      <p:pic>
        <p:nvPicPr>
          <p:cNvPr id="5" name="Picture 4">
            <a:extLst>
              <a:ext uri="{FF2B5EF4-FFF2-40B4-BE49-F238E27FC236}">
                <a16:creationId xmlns:a16="http://schemas.microsoft.com/office/drawing/2014/main" id="{0056F333-9D46-A10D-6E25-A094A55D2BDE}"/>
              </a:ext>
            </a:extLst>
          </p:cNvPr>
          <p:cNvPicPr>
            <a:picLocks noChangeAspect="1"/>
          </p:cNvPicPr>
          <p:nvPr/>
        </p:nvPicPr>
        <p:blipFill>
          <a:blip r:embed="rId2"/>
          <a:stretch>
            <a:fillRect/>
          </a:stretch>
        </p:blipFill>
        <p:spPr>
          <a:xfrm>
            <a:off x="1437622" y="1847955"/>
            <a:ext cx="3671465" cy="2381746"/>
          </a:xfrm>
          <a:prstGeom prst="rect">
            <a:avLst/>
          </a:prstGeom>
        </p:spPr>
      </p:pic>
      <p:pic>
        <p:nvPicPr>
          <p:cNvPr id="7" name="Picture 6">
            <a:extLst>
              <a:ext uri="{FF2B5EF4-FFF2-40B4-BE49-F238E27FC236}">
                <a16:creationId xmlns:a16="http://schemas.microsoft.com/office/drawing/2014/main" id="{B55693F9-6EDE-2F71-A360-6F49D0920B6F}"/>
              </a:ext>
            </a:extLst>
          </p:cNvPr>
          <p:cNvPicPr>
            <a:picLocks noChangeAspect="1"/>
          </p:cNvPicPr>
          <p:nvPr/>
        </p:nvPicPr>
        <p:blipFill>
          <a:blip r:embed="rId3"/>
          <a:stretch>
            <a:fillRect/>
          </a:stretch>
        </p:blipFill>
        <p:spPr>
          <a:xfrm>
            <a:off x="4782516" y="1980264"/>
            <a:ext cx="2854457" cy="2191487"/>
          </a:xfrm>
          <a:prstGeom prst="rect">
            <a:avLst/>
          </a:prstGeom>
        </p:spPr>
      </p:pic>
      <p:pic>
        <p:nvPicPr>
          <p:cNvPr id="9" name="Picture 8">
            <a:extLst>
              <a:ext uri="{FF2B5EF4-FFF2-40B4-BE49-F238E27FC236}">
                <a16:creationId xmlns:a16="http://schemas.microsoft.com/office/drawing/2014/main" id="{9318315E-E7AC-7DE2-0A99-582B10BAA391}"/>
              </a:ext>
            </a:extLst>
          </p:cNvPr>
          <p:cNvPicPr>
            <a:picLocks noChangeAspect="1"/>
          </p:cNvPicPr>
          <p:nvPr/>
        </p:nvPicPr>
        <p:blipFill>
          <a:blip r:embed="rId4"/>
          <a:stretch>
            <a:fillRect/>
          </a:stretch>
        </p:blipFill>
        <p:spPr>
          <a:xfrm>
            <a:off x="4782516" y="4496677"/>
            <a:ext cx="3228004" cy="2191488"/>
          </a:xfrm>
          <a:prstGeom prst="rect">
            <a:avLst/>
          </a:prstGeom>
        </p:spPr>
      </p:pic>
      <p:pic>
        <p:nvPicPr>
          <p:cNvPr id="6" name="Picture 5">
            <a:extLst>
              <a:ext uri="{FF2B5EF4-FFF2-40B4-BE49-F238E27FC236}">
                <a16:creationId xmlns:a16="http://schemas.microsoft.com/office/drawing/2014/main" id="{BD061B8A-74DB-7A71-A2B4-97157471B3AD}"/>
              </a:ext>
            </a:extLst>
          </p:cNvPr>
          <p:cNvPicPr>
            <a:picLocks noChangeAspect="1"/>
          </p:cNvPicPr>
          <p:nvPr/>
        </p:nvPicPr>
        <p:blipFill>
          <a:blip r:embed="rId5"/>
          <a:stretch>
            <a:fillRect/>
          </a:stretch>
        </p:blipFill>
        <p:spPr>
          <a:xfrm>
            <a:off x="1437622" y="4612331"/>
            <a:ext cx="2854457" cy="1960181"/>
          </a:xfrm>
          <a:prstGeom prst="rect">
            <a:avLst/>
          </a:prstGeom>
        </p:spPr>
      </p:pic>
    </p:spTree>
    <p:extLst>
      <p:ext uri="{BB962C8B-B14F-4D97-AF65-F5344CB8AC3E}">
        <p14:creationId xmlns:p14="http://schemas.microsoft.com/office/powerpoint/2010/main" val="2908896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FE3F6-EB53-057F-1045-68D9EBF781FC}"/>
              </a:ext>
            </a:extLst>
          </p:cNvPr>
          <p:cNvSpPr>
            <a:spLocks noGrp="1"/>
          </p:cNvSpPr>
          <p:nvPr>
            <p:ph type="title"/>
          </p:nvPr>
        </p:nvSpPr>
        <p:spPr/>
        <p:txBody>
          <a:bodyPr/>
          <a:lstStyle/>
          <a:p>
            <a:r>
              <a:rPr lang="en-GB" dirty="0"/>
              <a:t>Exploratory Data Analysis</a:t>
            </a:r>
          </a:p>
        </p:txBody>
      </p:sp>
      <p:sp>
        <p:nvSpPr>
          <p:cNvPr id="3" name="Content Placeholder 2">
            <a:extLst>
              <a:ext uri="{FF2B5EF4-FFF2-40B4-BE49-F238E27FC236}">
                <a16:creationId xmlns:a16="http://schemas.microsoft.com/office/drawing/2014/main" id="{48D40FC9-1707-AE54-C001-C6C36EDB1496}"/>
              </a:ext>
            </a:extLst>
          </p:cNvPr>
          <p:cNvSpPr>
            <a:spLocks noGrp="1"/>
          </p:cNvSpPr>
          <p:nvPr>
            <p:ph idx="1"/>
          </p:nvPr>
        </p:nvSpPr>
        <p:spPr>
          <a:xfrm>
            <a:off x="838200" y="1825625"/>
            <a:ext cx="8251371" cy="939346"/>
          </a:xfrm>
        </p:spPr>
        <p:txBody>
          <a:bodyPr>
            <a:normAutofit fontScale="92500" lnSpcReduction="20000"/>
          </a:bodyPr>
          <a:lstStyle/>
          <a:p>
            <a:r>
              <a:rPr lang="en-GB" dirty="0"/>
              <a:t>By using DISTINCTCOUNT, we get 2000 for Total Customers, which matches the 2000 rows of our subscriptions and customers tables.</a:t>
            </a:r>
          </a:p>
          <a:p>
            <a:endParaRPr lang="en-GB" dirty="0"/>
          </a:p>
        </p:txBody>
      </p:sp>
      <p:pic>
        <p:nvPicPr>
          <p:cNvPr id="5" name="Picture 4">
            <a:extLst>
              <a:ext uri="{FF2B5EF4-FFF2-40B4-BE49-F238E27FC236}">
                <a16:creationId xmlns:a16="http://schemas.microsoft.com/office/drawing/2014/main" id="{5797672C-E6C3-8E26-5B73-88AFFA11377F}"/>
              </a:ext>
            </a:extLst>
          </p:cNvPr>
          <p:cNvPicPr>
            <a:picLocks noChangeAspect="1"/>
          </p:cNvPicPr>
          <p:nvPr/>
        </p:nvPicPr>
        <p:blipFill>
          <a:blip r:embed="rId2"/>
          <a:stretch>
            <a:fillRect/>
          </a:stretch>
        </p:blipFill>
        <p:spPr>
          <a:xfrm>
            <a:off x="322433" y="3429000"/>
            <a:ext cx="3623187" cy="939345"/>
          </a:xfrm>
          <a:prstGeom prst="rect">
            <a:avLst/>
          </a:prstGeom>
        </p:spPr>
      </p:pic>
      <p:pic>
        <p:nvPicPr>
          <p:cNvPr id="7" name="Picture 6">
            <a:extLst>
              <a:ext uri="{FF2B5EF4-FFF2-40B4-BE49-F238E27FC236}">
                <a16:creationId xmlns:a16="http://schemas.microsoft.com/office/drawing/2014/main" id="{A51B5A1B-2DF5-B873-99C7-F90E3611DF0E}"/>
              </a:ext>
            </a:extLst>
          </p:cNvPr>
          <p:cNvPicPr>
            <a:picLocks noChangeAspect="1"/>
          </p:cNvPicPr>
          <p:nvPr/>
        </p:nvPicPr>
        <p:blipFill>
          <a:blip r:embed="rId3"/>
          <a:stretch>
            <a:fillRect/>
          </a:stretch>
        </p:blipFill>
        <p:spPr>
          <a:xfrm>
            <a:off x="4059436" y="3429000"/>
            <a:ext cx="4073127" cy="1090161"/>
          </a:xfrm>
          <a:prstGeom prst="rect">
            <a:avLst/>
          </a:prstGeom>
        </p:spPr>
      </p:pic>
      <p:pic>
        <p:nvPicPr>
          <p:cNvPr id="9" name="Picture 8">
            <a:extLst>
              <a:ext uri="{FF2B5EF4-FFF2-40B4-BE49-F238E27FC236}">
                <a16:creationId xmlns:a16="http://schemas.microsoft.com/office/drawing/2014/main" id="{3904846B-A298-AD83-249E-A5F72E25ABE1}"/>
              </a:ext>
            </a:extLst>
          </p:cNvPr>
          <p:cNvPicPr>
            <a:picLocks noChangeAspect="1"/>
          </p:cNvPicPr>
          <p:nvPr/>
        </p:nvPicPr>
        <p:blipFill>
          <a:blip r:embed="rId4"/>
          <a:stretch>
            <a:fillRect/>
          </a:stretch>
        </p:blipFill>
        <p:spPr>
          <a:xfrm>
            <a:off x="1553395" y="4635476"/>
            <a:ext cx="5765116" cy="1612924"/>
          </a:xfrm>
          <a:prstGeom prst="rect">
            <a:avLst/>
          </a:prstGeom>
        </p:spPr>
      </p:pic>
      <p:sp>
        <p:nvSpPr>
          <p:cNvPr id="10" name="TextBox 9">
            <a:extLst>
              <a:ext uri="{FF2B5EF4-FFF2-40B4-BE49-F238E27FC236}">
                <a16:creationId xmlns:a16="http://schemas.microsoft.com/office/drawing/2014/main" id="{23946D6E-EA7B-482C-5030-7B50EA51177C}"/>
              </a:ext>
            </a:extLst>
          </p:cNvPr>
          <p:cNvSpPr txBox="1"/>
          <p:nvPr/>
        </p:nvSpPr>
        <p:spPr>
          <a:xfrm>
            <a:off x="8675914" y="3428999"/>
            <a:ext cx="3193653" cy="1477328"/>
          </a:xfrm>
          <a:prstGeom prst="rect">
            <a:avLst/>
          </a:prstGeom>
          <a:noFill/>
        </p:spPr>
        <p:txBody>
          <a:bodyPr wrap="square" rtlCol="0">
            <a:spAutoFit/>
          </a:bodyPr>
          <a:lstStyle/>
          <a:p>
            <a:r>
              <a:rPr lang="en-GB" dirty="0"/>
              <a:t>I have also pasted the DAX code I used to find the number of churned customers, and the overall churn rate, which are all displayed on the left.</a:t>
            </a:r>
          </a:p>
        </p:txBody>
      </p:sp>
    </p:spTree>
    <p:extLst>
      <p:ext uri="{BB962C8B-B14F-4D97-AF65-F5344CB8AC3E}">
        <p14:creationId xmlns:p14="http://schemas.microsoft.com/office/powerpoint/2010/main" val="354185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8166C-D9FD-EA43-70F6-A25635EF3603}"/>
              </a:ext>
            </a:extLst>
          </p:cNvPr>
          <p:cNvSpPr>
            <a:spLocks noGrp="1"/>
          </p:cNvSpPr>
          <p:nvPr>
            <p:ph type="title"/>
          </p:nvPr>
        </p:nvSpPr>
        <p:spPr/>
        <p:txBody>
          <a:bodyPr/>
          <a:lstStyle/>
          <a:p>
            <a:r>
              <a:rPr lang="en-GB" dirty="0"/>
              <a:t>Exploratory Data Analysis (Continued)</a:t>
            </a:r>
          </a:p>
        </p:txBody>
      </p:sp>
      <p:sp>
        <p:nvSpPr>
          <p:cNvPr id="3" name="Content Placeholder 2">
            <a:extLst>
              <a:ext uri="{FF2B5EF4-FFF2-40B4-BE49-F238E27FC236}">
                <a16:creationId xmlns:a16="http://schemas.microsoft.com/office/drawing/2014/main" id="{3E1D137C-59E2-5C4C-A86A-61F1D185EC73}"/>
              </a:ext>
            </a:extLst>
          </p:cNvPr>
          <p:cNvSpPr>
            <a:spLocks noGrp="1"/>
          </p:cNvSpPr>
          <p:nvPr>
            <p:ph idx="1"/>
          </p:nvPr>
        </p:nvSpPr>
        <p:spPr/>
        <p:txBody>
          <a:bodyPr/>
          <a:lstStyle/>
          <a:p>
            <a:r>
              <a:rPr lang="en-GB" dirty="0"/>
              <a:t>Displayed below are the means and medians of several different variables:</a:t>
            </a:r>
          </a:p>
        </p:txBody>
      </p:sp>
      <p:pic>
        <p:nvPicPr>
          <p:cNvPr id="5" name="Picture 4">
            <a:extLst>
              <a:ext uri="{FF2B5EF4-FFF2-40B4-BE49-F238E27FC236}">
                <a16:creationId xmlns:a16="http://schemas.microsoft.com/office/drawing/2014/main" id="{97EA961E-EBA3-2384-A848-ED88D821C33F}"/>
              </a:ext>
            </a:extLst>
          </p:cNvPr>
          <p:cNvPicPr>
            <a:picLocks noChangeAspect="1"/>
          </p:cNvPicPr>
          <p:nvPr/>
        </p:nvPicPr>
        <p:blipFill>
          <a:blip r:embed="rId2"/>
          <a:stretch>
            <a:fillRect/>
          </a:stretch>
        </p:blipFill>
        <p:spPr>
          <a:xfrm>
            <a:off x="838200" y="2742694"/>
            <a:ext cx="6694714" cy="2043649"/>
          </a:xfrm>
          <a:prstGeom prst="rect">
            <a:avLst/>
          </a:prstGeom>
        </p:spPr>
      </p:pic>
      <p:sp>
        <p:nvSpPr>
          <p:cNvPr id="6" name="TextBox 5">
            <a:extLst>
              <a:ext uri="{FF2B5EF4-FFF2-40B4-BE49-F238E27FC236}">
                <a16:creationId xmlns:a16="http://schemas.microsoft.com/office/drawing/2014/main" id="{B8399E28-0ABB-1318-6CFB-463B2E9FC330}"/>
              </a:ext>
            </a:extLst>
          </p:cNvPr>
          <p:cNvSpPr txBox="1"/>
          <p:nvPr/>
        </p:nvSpPr>
        <p:spPr>
          <a:xfrm>
            <a:off x="7304314" y="2742694"/>
            <a:ext cx="4212772" cy="1754326"/>
          </a:xfrm>
          <a:prstGeom prst="rect">
            <a:avLst/>
          </a:prstGeom>
          <a:noFill/>
        </p:spPr>
        <p:txBody>
          <a:bodyPr wrap="square" rtlCol="0">
            <a:spAutoFit/>
          </a:bodyPr>
          <a:lstStyle/>
          <a:p>
            <a:r>
              <a:rPr lang="en-GB" dirty="0"/>
              <a:t>The means and medians for usage and monthly charge are very close, which suggests little to no skew, whereas the median tenure is lower than the mean tenure, suggesting that the distribution might be right skewed.</a:t>
            </a:r>
          </a:p>
        </p:txBody>
      </p:sp>
    </p:spTree>
    <p:extLst>
      <p:ext uri="{BB962C8B-B14F-4D97-AF65-F5344CB8AC3E}">
        <p14:creationId xmlns:p14="http://schemas.microsoft.com/office/powerpoint/2010/main" val="4197001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101CC-F0D2-7578-C873-7B8141976B23}"/>
              </a:ext>
            </a:extLst>
          </p:cNvPr>
          <p:cNvSpPr>
            <a:spLocks noGrp="1"/>
          </p:cNvSpPr>
          <p:nvPr>
            <p:ph type="title"/>
          </p:nvPr>
        </p:nvSpPr>
        <p:spPr>
          <a:xfrm>
            <a:off x="838200" y="365125"/>
            <a:ext cx="10515600" cy="701675"/>
          </a:xfrm>
        </p:spPr>
        <p:txBody>
          <a:bodyPr/>
          <a:lstStyle/>
          <a:p>
            <a:r>
              <a:rPr lang="en-GB" dirty="0"/>
              <a:t>Visual Analysis (part 1)</a:t>
            </a:r>
          </a:p>
        </p:txBody>
      </p:sp>
      <p:pic>
        <p:nvPicPr>
          <p:cNvPr id="5" name="Picture 4">
            <a:extLst>
              <a:ext uri="{FF2B5EF4-FFF2-40B4-BE49-F238E27FC236}">
                <a16:creationId xmlns:a16="http://schemas.microsoft.com/office/drawing/2014/main" id="{6278A856-CCB1-9797-FA4A-7E8717F82E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8088" y="1066800"/>
            <a:ext cx="5306912" cy="2673288"/>
          </a:xfrm>
          <a:prstGeom prst="rect">
            <a:avLst/>
          </a:prstGeom>
        </p:spPr>
      </p:pic>
      <p:pic>
        <p:nvPicPr>
          <p:cNvPr id="7" name="Picture 6">
            <a:extLst>
              <a:ext uri="{FF2B5EF4-FFF2-40B4-BE49-F238E27FC236}">
                <a16:creationId xmlns:a16="http://schemas.microsoft.com/office/drawing/2014/main" id="{E7278CDF-B5FF-E085-C70E-38144FBE719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50787" y="1066800"/>
            <a:ext cx="5003013" cy="2785420"/>
          </a:xfrm>
          <a:prstGeom prst="rect">
            <a:avLst/>
          </a:prstGeom>
        </p:spPr>
      </p:pic>
      <p:pic>
        <p:nvPicPr>
          <p:cNvPr id="9" name="Picture 8">
            <a:extLst>
              <a:ext uri="{FF2B5EF4-FFF2-40B4-BE49-F238E27FC236}">
                <a16:creationId xmlns:a16="http://schemas.microsoft.com/office/drawing/2014/main" id="{88B56131-D8B5-DBC2-1D2E-37205285FBA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08088" y="3740088"/>
            <a:ext cx="5111871" cy="3039722"/>
          </a:xfrm>
          <a:prstGeom prst="rect">
            <a:avLst/>
          </a:prstGeom>
        </p:spPr>
      </p:pic>
      <p:sp>
        <p:nvSpPr>
          <p:cNvPr id="10" name="TextBox 9">
            <a:extLst>
              <a:ext uri="{FF2B5EF4-FFF2-40B4-BE49-F238E27FC236}">
                <a16:creationId xmlns:a16="http://schemas.microsoft.com/office/drawing/2014/main" id="{4F6A3536-DE43-9986-69B5-1FD006B660FB}"/>
              </a:ext>
            </a:extLst>
          </p:cNvPr>
          <p:cNvSpPr txBox="1"/>
          <p:nvPr/>
        </p:nvSpPr>
        <p:spPr>
          <a:xfrm>
            <a:off x="6096000" y="3907971"/>
            <a:ext cx="5758543" cy="2308324"/>
          </a:xfrm>
          <a:prstGeom prst="rect">
            <a:avLst/>
          </a:prstGeom>
          <a:noFill/>
        </p:spPr>
        <p:txBody>
          <a:bodyPr wrap="square" rtlCol="0">
            <a:spAutoFit/>
          </a:bodyPr>
          <a:lstStyle/>
          <a:p>
            <a:r>
              <a:rPr lang="en-GB" dirty="0"/>
              <a:t>Looking at the three column charts here, churn rate is much higher for monthly (~30%) contracts than Annual (12.8%).  </a:t>
            </a:r>
          </a:p>
          <a:p>
            <a:r>
              <a:rPr lang="en-GB" dirty="0"/>
              <a:t>Churn rate is higher for customers with auto-renew turned off (31.25% vs 17.93%). </a:t>
            </a:r>
          </a:p>
          <a:p>
            <a:r>
              <a:rPr lang="en-GB" dirty="0"/>
              <a:t>Churn rate is highest for those on the basic plan, followed by standard, then premium (29% vs 20.97% vs 17.37%)</a:t>
            </a:r>
          </a:p>
        </p:txBody>
      </p:sp>
    </p:spTree>
    <p:extLst>
      <p:ext uri="{BB962C8B-B14F-4D97-AF65-F5344CB8AC3E}">
        <p14:creationId xmlns:p14="http://schemas.microsoft.com/office/powerpoint/2010/main" val="417228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3312-3695-D449-A172-707604831F52}"/>
              </a:ext>
            </a:extLst>
          </p:cNvPr>
          <p:cNvSpPr>
            <a:spLocks noGrp="1"/>
          </p:cNvSpPr>
          <p:nvPr>
            <p:ph type="title"/>
          </p:nvPr>
        </p:nvSpPr>
        <p:spPr/>
        <p:txBody>
          <a:bodyPr/>
          <a:lstStyle/>
          <a:p>
            <a:r>
              <a:rPr lang="en-GB" dirty="0"/>
              <a:t>Visual Analysis (part 2)</a:t>
            </a:r>
          </a:p>
        </p:txBody>
      </p:sp>
      <p:sp>
        <p:nvSpPr>
          <p:cNvPr id="3" name="Content Placeholder 2">
            <a:extLst>
              <a:ext uri="{FF2B5EF4-FFF2-40B4-BE49-F238E27FC236}">
                <a16:creationId xmlns:a16="http://schemas.microsoft.com/office/drawing/2014/main" id="{E80127FF-D2B9-C167-7CA6-43DCF0E79C39}"/>
              </a:ext>
            </a:extLst>
          </p:cNvPr>
          <p:cNvSpPr>
            <a:spLocks noGrp="1"/>
          </p:cNvSpPr>
          <p:nvPr>
            <p:ph idx="1"/>
          </p:nvPr>
        </p:nvSpPr>
        <p:spPr>
          <a:xfrm>
            <a:off x="9209314" y="1690688"/>
            <a:ext cx="2144485" cy="4056970"/>
          </a:xfrm>
        </p:spPr>
        <p:txBody>
          <a:bodyPr>
            <a:normAutofit/>
          </a:bodyPr>
          <a:lstStyle/>
          <a:p>
            <a:r>
              <a:rPr lang="en-GB" sz="1600" dirty="0"/>
              <a:t>Looking at churn rate by monthly charge, we can see the churn rate is highest for those paying between £0 and £20, with 29.31%. However, those paying over £60 actually have a higher churn rate(19.19%) than those paying between £40 and £60 (16.26%).</a:t>
            </a:r>
          </a:p>
        </p:txBody>
      </p:sp>
      <p:pic>
        <p:nvPicPr>
          <p:cNvPr id="5" name="Picture 4">
            <a:extLst>
              <a:ext uri="{FF2B5EF4-FFF2-40B4-BE49-F238E27FC236}">
                <a16:creationId xmlns:a16="http://schemas.microsoft.com/office/drawing/2014/main" id="{A19B71EA-E2A1-5AA2-673F-F972A233F0A3}"/>
              </a:ext>
            </a:extLst>
          </p:cNvPr>
          <p:cNvPicPr>
            <a:picLocks noChangeAspect="1"/>
          </p:cNvPicPr>
          <p:nvPr/>
        </p:nvPicPr>
        <p:blipFill>
          <a:blip r:embed="rId2"/>
          <a:stretch>
            <a:fillRect/>
          </a:stretch>
        </p:blipFill>
        <p:spPr>
          <a:xfrm>
            <a:off x="525061" y="1658031"/>
            <a:ext cx="8499126" cy="3753380"/>
          </a:xfrm>
          <a:prstGeom prst="rect">
            <a:avLst/>
          </a:prstGeom>
        </p:spPr>
      </p:pic>
    </p:spTree>
    <p:extLst>
      <p:ext uri="{BB962C8B-B14F-4D97-AF65-F5344CB8AC3E}">
        <p14:creationId xmlns:p14="http://schemas.microsoft.com/office/powerpoint/2010/main" val="3240362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5C7D-D1EA-0B36-4886-5E5A274E0BA9}"/>
              </a:ext>
            </a:extLst>
          </p:cNvPr>
          <p:cNvSpPr>
            <a:spLocks noGrp="1"/>
          </p:cNvSpPr>
          <p:nvPr>
            <p:ph type="title"/>
          </p:nvPr>
        </p:nvSpPr>
        <p:spPr>
          <a:xfrm>
            <a:off x="838200" y="272143"/>
            <a:ext cx="10515600" cy="707571"/>
          </a:xfrm>
        </p:spPr>
        <p:txBody>
          <a:bodyPr/>
          <a:lstStyle/>
          <a:p>
            <a:r>
              <a:rPr lang="en-GB" dirty="0"/>
              <a:t>Visual Analysis (part 3)</a:t>
            </a:r>
          </a:p>
        </p:txBody>
      </p:sp>
      <p:pic>
        <p:nvPicPr>
          <p:cNvPr id="5" name="Picture 4">
            <a:extLst>
              <a:ext uri="{FF2B5EF4-FFF2-40B4-BE49-F238E27FC236}">
                <a16:creationId xmlns:a16="http://schemas.microsoft.com/office/drawing/2014/main" id="{2D0635C7-0217-C43C-623F-ED0B8DBDFF56}"/>
              </a:ext>
            </a:extLst>
          </p:cNvPr>
          <p:cNvPicPr>
            <a:picLocks noChangeAspect="1"/>
          </p:cNvPicPr>
          <p:nvPr/>
        </p:nvPicPr>
        <p:blipFill>
          <a:blip r:embed="rId2"/>
          <a:stretch>
            <a:fillRect/>
          </a:stretch>
        </p:blipFill>
        <p:spPr>
          <a:xfrm>
            <a:off x="325377" y="1189945"/>
            <a:ext cx="5988600" cy="2794227"/>
          </a:xfrm>
          <a:prstGeom prst="rect">
            <a:avLst/>
          </a:prstGeom>
        </p:spPr>
      </p:pic>
      <p:pic>
        <p:nvPicPr>
          <p:cNvPr id="7" name="Picture 6">
            <a:extLst>
              <a:ext uri="{FF2B5EF4-FFF2-40B4-BE49-F238E27FC236}">
                <a16:creationId xmlns:a16="http://schemas.microsoft.com/office/drawing/2014/main" id="{A5E2CBD9-5C12-691C-8063-9D587A4778A4}"/>
              </a:ext>
            </a:extLst>
          </p:cNvPr>
          <p:cNvPicPr>
            <a:picLocks noChangeAspect="1"/>
          </p:cNvPicPr>
          <p:nvPr/>
        </p:nvPicPr>
        <p:blipFill>
          <a:blip r:embed="rId3"/>
          <a:stretch>
            <a:fillRect/>
          </a:stretch>
        </p:blipFill>
        <p:spPr>
          <a:xfrm>
            <a:off x="325377" y="4161746"/>
            <a:ext cx="6206216" cy="2347911"/>
          </a:xfrm>
          <a:prstGeom prst="rect">
            <a:avLst/>
          </a:prstGeom>
        </p:spPr>
      </p:pic>
      <p:sp>
        <p:nvSpPr>
          <p:cNvPr id="8" name="TextBox 7">
            <a:extLst>
              <a:ext uri="{FF2B5EF4-FFF2-40B4-BE49-F238E27FC236}">
                <a16:creationId xmlns:a16="http://schemas.microsoft.com/office/drawing/2014/main" id="{E18BCFAC-3368-E337-C73A-1E76F8D765EE}"/>
              </a:ext>
            </a:extLst>
          </p:cNvPr>
          <p:cNvSpPr txBox="1"/>
          <p:nvPr/>
        </p:nvSpPr>
        <p:spPr>
          <a:xfrm>
            <a:off x="7021286" y="1349829"/>
            <a:ext cx="4615543" cy="5078313"/>
          </a:xfrm>
          <a:prstGeom prst="rect">
            <a:avLst/>
          </a:prstGeom>
          <a:noFill/>
        </p:spPr>
        <p:txBody>
          <a:bodyPr wrap="square" rtlCol="0">
            <a:spAutoFit/>
          </a:bodyPr>
          <a:lstStyle/>
          <a:p>
            <a:r>
              <a:rPr lang="en-GB" dirty="0"/>
              <a:t>Using the tenure and usage bands we created earlier, we were able to compare churn rate across these variables too.</a:t>
            </a:r>
          </a:p>
          <a:p>
            <a:endParaRPr lang="en-GB" dirty="0"/>
          </a:p>
          <a:p>
            <a:r>
              <a:rPr lang="en-GB" dirty="0"/>
              <a:t>Those in the 1</a:t>
            </a:r>
            <a:r>
              <a:rPr lang="en-GB" baseline="30000" dirty="0"/>
              <a:t>st</a:t>
            </a:r>
            <a:r>
              <a:rPr lang="en-GB" dirty="0"/>
              <a:t> tenure band have the highest churn rate (27%), whereas the tenure band with the lowest churn rate is the 37-48 months (17.42%), with all other bands having a similar churn rate to each other (22-23%).</a:t>
            </a:r>
          </a:p>
          <a:p>
            <a:endParaRPr lang="en-GB" dirty="0"/>
          </a:p>
          <a:p>
            <a:r>
              <a:rPr lang="en-GB" dirty="0"/>
              <a:t>Looking at churn rate by usage band, those with no usage have the highest churn rate (48.65%), and the churn rate decreases at each further band. (</a:t>
            </a:r>
            <a:r>
              <a:rPr lang="en-GB" dirty="0" err="1"/>
              <a:t>ie</a:t>
            </a:r>
            <a:r>
              <a:rPr lang="en-GB" dirty="0"/>
              <a:t>, ‘Low’ usage next highest churn rate, ’Moderate usage next highest churn rate </a:t>
            </a:r>
            <a:r>
              <a:rPr lang="en-GB" dirty="0" err="1"/>
              <a:t>e.t.c</a:t>
            </a:r>
            <a:r>
              <a:rPr lang="en-GB" dirty="0"/>
              <a:t>)</a:t>
            </a:r>
          </a:p>
          <a:p>
            <a:endParaRPr lang="en-GB" dirty="0"/>
          </a:p>
          <a:p>
            <a:endParaRPr lang="en-GB" dirty="0"/>
          </a:p>
        </p:txBody>
      </p:sp>
    </p:spTree>
    <p:extLst>
      <p:ext uri="{BB962C8B-B14F-4D97-AF65-F5344CB8AC3E}">
        <p14:creationId xmlns:p14="http://schemas.microsoft.com/office/powerpoint/2010/main" val="29544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6501E-2359-49AD-D944-17B67B8296B3}"/>
              </a:ext>
            </a:extLst>
          </p:cNvPr>
          <p:cNvSpPr>
            <a:spLocks noGrp="1"/>
          </p:cNvSpPr>
          <p:nvPr>
            <p:ph type="title"/>
          </p:nvPr>
        </p:nvSpPr>
        <p:spPr>
          <a:xfrm>
            <a:off x="729343" y="103868"/>
            <a:ext cx="10515600" cy="690789"/>
          </a:xfrm>
        </p:spPr>
        <p:txBody>
          <a:bodyPr>
            <a:normAutofit fontScale="90000"/>
          </a:bodyPr>
          <a:lstStyle/>
          <a:p>
            <a:r>
              <a:rPr lang="en-GB" dirty="0"/>
              <a:t>Visual Analysis (Part 4)</a:t>
            </a:r>
          </a:p>
        </p:txBody>
      </p:sp>
      <p:pic>
        <p:nvPicPr>
          <p:cNvPr id="5" name="Picture 4">
            <a:extLst>
              <a:ext uri="{FF2B5EF4-FFF2-40B4-BE49-F238E27FC236}">
                <a16:creationId xmlns:a16="http://schemas.microsoft.com/office/drawing/2014/main" id="{E9CEE98E-8026-7446-9502-922C2BFACFF7}"/>
              </a:ext>
            </a:extLst>
          </p:cNvPr>
          <p:cNvPicPr>
            <a:picLocks noChangeAspect="1"/>
          </p:cNvPicPr>
          <p:nvPr/>
        </p:nvPicPr>
        <p:blipFill>
          <a:blip r:embed="rId2"/>
          <a:stretch>
            <a:fillRect/>
          </a:stretch>
        </p:blipFill>
        <p:spPr>
          <a:xfrm>
            <a:off x="544286" y="794657"/>
            <a:ext cx="6318910" cy="3309257"/>
          </a:xfrm>
          <a:prstGeom prst="rect">
            <a:avLst/>
          </a:prstGeom>
        </p:spPr>
      </p:pic>
      <p:pic>
        <p:nvPicPr>
          <p:cNvPr id="7" name="Picture 6">
            <a:extLst>
              <a:ext uri="{FF2B5EF4-FFF2-40B4-BE49-F238E27FC236}">
                <a16:creationId xmlns:a16="http://schemas.microsoft.com/office/drawing/2014/main" id="{BB753A30-6354-7F82-5BCF-5B3AD79B7E6C}"/>
              </a:ext>
            </a:extLst>
          </p:cNvPr>
          <p:cNvPicPr>
            <a:picLocks noChangeAspect="1"/>
          </p:cNvPicPr>
          <p:nvPr/>
        </p:nvPicPr>
        <p:blipFill>
          <a:blip r:embed="rId3"/>
          <a:stretch>
            <a:fillRect/>
          </a:stretch>
        </p:blipFill>
        <p:spPr>
          <a:xfrm>
            <a:off x="308276" y="4486235"/>
            <a:ext cx="7602594" cy="1990765"/>
          </a:xfrm>
          <a:prstGeom prst="rect">
            <a:avLst/>
          </a:prstGeom>
        </p:spPr>
      </p:pic>
      <p:sp>
        <p:nvSpPr>
          <p:cNvPr id="9" name="TextBox 8">
            <a:extLst>
              <a:ext uri="{FF2B5EF4-FFF2-40B4-BE49-F238E27FC236}">
                <a16:creationId xmlns:a16="http://schemas.microsoft.com/office/drawing/2014/main" id="{2FE90E18-9279-AAB5-4FA1-1B15B1746E26}"/>
              </a:ext>
            </a:extLst>
          </p:cNvPr>
          <p:cNvSpPr txBox="1"/>
          <p:nvPr/>
        </p:nvSpPr>
        <p:spPr>
          <a:xfrm>
            <a:off x="8458200" y="283029"/>
            <a:ext cx="3284010" cy="3970318"/>
          </a:xfrm>
          <a:prstGeom prst="rect">
            <a:avLst/>
          </a:prstGeom>
          <a:noFill/>
        </p:spPr>
        <p:txBody>
          <a:bodyPr wrap="square" rtlCol="0">
            <a:spAutoFit/>
          </a:bodyPr>
          <a:lstStyle/>
          <a:p>
            <a:r>
              <a:rPr lang="en-GB" dirty="0"/>
              <a:t>Looking at churn rate by Last Login, we can clearly see that the more days since last login, the greater the churn rate. The churn rate for those who hadn’t logged in over 91 days ago was 75%. However, it should be noted there were not many customers in that band, but even ignoring the 91+ band, churn rate for 61-90 was 45.61% compared to 36% for 31-60, 22.2% for 8-30, and only 17.13% for 0-7.</a:t>
            </a:r>
          </a:p>
        </p:txBody>
      </p:sp>
      <p:sp>
        <p:nvSpPr>
          <p:cNvPr id="10" name="TextBox 9">
            <a:extLst>
              <a:ext uri="{FF2B5EF4-FFF2-40B4-BE49-F238E27FC236}">
                <a16:creationId xmlns:a16="http://schemas.microsoft.com/office/drawing/2014/main" id="{73F5B980-0FA5-C245-549E-4DE8EBC5233F}"/>
              </a:ext>
            </a:extLst>
          </p:cNvPr>
          <p:cNvSpPr txBox="1"/>
          <p:nvPr/>
        </p:nvSpPr>
        <p:spPr>
          <a:xfrm>
            <a:off x="8436429" y="4554532"/>
            <a:ext cx="3447295" cy="2031325"/>
          </a:xfrm>
          <a:prstGeom prst="rect">
            <a:avLst/>
          </a:prstGeom>
          <a:noFill/>
        </p:spPr>
        <p:txBody>
          <a:bodyPr wrap="square" rtlCol="0">
            <a:spAutoFit/>
          </a:bodyPr>
          <a:lstStyle/>
          <a:p>
            <a:r>
              <a:rPr lang="en-GB" dirty="0"/>
              <a:t>Churn rate for those with 6+ support tickets was 45.45% compared to 21.83% for 0 tickets. However, there is no obvious slope compared to some of the other variables we explored.</a:t>
            </a:r>
          </a:p>
        </p:txBody>
      </p:sp>
    </p:spTree>
    <p:extLst>
      <p:ext uri="{BB962C8B-B14F-4D97-AF65-F5344CB8AC3E}">
        <p14:creationId xmlns:p14="http://schemas.microsoft.com/office/powerpoint/2010/main" val="3232612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AD96F-600B-E355-1426-BC198CFC3F98}"/>
              </a:ext>
            </a:extLst>
          </p:cNvPr>
          <p:cNvSpPr>
            <a:spLocks noGrp="1"/>
          </p:cNvSpPr>
          <p:nvPr>
            <p:ph type="title"/>
          </p:nvPr>
        </p:nvSpPr>
        <p:spPr/>
        <p:txBody>
          <a:bodyPr/>
          <a:lstStyle/>
          <a:p>
            <a:r>
              <a:rPr lang="en-GB" dirty="0"/>
              <a:t>Visual Analysis (part 5)</a:t>
            </a:r>
          </a:p>
        </p:txBody>
      </p:sp>
      <p:pic>
        <p:nvPicPr>
          <p:cNvPr id="5" name="Picture 4">
            <a:extLst>
              <a:ext uri="{FF2B5EF4-FFF2-40B4-BE49-F238E27FC236}">
                <a16:creationId xmlns:a16="http://schemas.microsoft.com/office/drawing/2014/main" id="{A0651F1C-D387-A4D9-F894-D3F8CE166B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7993" y="1620027"/>
            <a:ext cx="8455299" cy="3617946"/>
          </a:xfrm>
          <a:prstGeom prst="rect">
            <a:avLst/>
          </a:prstGeom>
        </p:spPr>
      </p:pic>
      <p:sp>
        <p:nvSpPr>
          <p:cNvPr id="6" name="TextBox 5">
            <a:extLst>
              <a:ext uri="{FF2B5EF4-FFF2-40B4-BE49-F238E27FC236}">
                <a16:creationId xmlns:a16="http://schemas.microsoft.com/office/drawing/2014/main" id="{3713A527-0B12-2EF7-44FC-4888B51F9226}"/>
              </a:ext>
            </a:extLst>
          </p:cNvPr>
          <p:cNvSpPr txBox="1"/>
          <p:nvPr/>
        </p:nvSpPr>
        <p:spPr>
          <a:xfrm>
            <a:off x="8866577" y="849086"/>
            <a:ext cx="2852057" cy="5909310"/>
          </a:xfrm>
          <a:prstGeom prst="rect">
            <a:avLst/>
          </a:prstGeom>
          <a:noFill/>
        </p:spPr>
        <p:txBody>
          <a:bodyPr wrap="square" rtlCol="0">
            <a:spAutoFit/>
          </a:bodyPr>
          <a:lstStyle/>
          <a:p>
            <a:r>
              <a:rPr lang="en-GB" dirty="0"/>
              <a:t>I tried examining churn rate by signup month to see whether churn varied across different customer signup cohorts. The churn rate for those who signed up in 2019 and 2020 is higher. </a:t>
            </a:r>
          </a:p>
          <a:p>
            <a:endParaRPr lang="en-GB" dirty="0"/>
          </a:p>
          <a:p>
            <a:r>
              <a:rPr lang="en-GB" dirty="0"/>
              <a:t>However, this visual might not be that useful, since we only know the signup year, and not when the customers actually churned, and what we really want to see if there is any seasonal trend in when customers churned, which I unfortunately believe we cannot find using the current data.</a:t>
            </a:r>
          </a:p>
        </p:txBody>
      </p:sp>
    </p:spTree>
    <p:extLst>
      <p:ext uri="{BB962C8B-B14F-4D97-AF65-F5344CB8AC3E}">
        <p14:creationId xmlns:p14="http://schemas.microsoft.com/office/powerpoint/2010/main" val="2344692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66B10-E0EF-9B43-1C29-3EAA3CE9EE60}"/>
              </a:ext>
            </a:extLst>
          </p:cNvPr>
          <p:cNvSpPr>
            <a:spLocks noGrp="1"/>
          </p:cNvSpPr>
          <p:nvPr>
            <p:ph type="title"/>
          </p:nvPr>
        </p:nvSpPr>
        <p:spPr>
          <a:xfrm>
            <a:off x="838200" y="365126"/>
            <a:ext cx="10515600" cy="494846"/>
          </a:xfrm>
        </p:spPr>
        <p:txBody>
          <a:bodyPr>
            <a:normAutofit fontScale="90000"/>
          </a:bodyPr>
          <a:lstStyle/>
          <a:p>
            <a:r>
              <a:rPr lang="en-GB" dirty="0"/>
              <a:t>Insights and findings</a:t>
            </a:r>
          </a:p>
        </p:txBody>
      </p:sp>
      <p:sp>
        <p:nvSpPr>
          <p:cNvPr id="9" name="TextBox 8">
            <a:extLst>
              <a:ext uri="{FF2B5EF4-FFF2-40B4-BE49-F238E27FC236}">
                <a16:creationId xmlns:a16="http://schemas.microsoft.com/office/drawing/2014/main" id="{C7A50EDC-84ED-BD62-4E6E-D785BB877E8A}"/>
              </a:ext>
            </a:extLst>
          </p:cNvPr>
          <p:cNvSpPr txBox="1"/>
          <p:nvPr/>
        </p:nvSpPr>
        <p:spPr>
          <a:xfrm>
            <a:off x="653142" y="1001486"/>
            <a:ext cx="11059886" cy="2031325"/>
          </a:xfrm>
          <a:prstGeom prst="rect">
            <a:avLst/>
          </a:prstGeom>
          <a:noFill/>
        </p:spPr>
        <p:txBody>
          <a:bodyPr wrap="square" rtlCol="0">
            <a:spAutoFit/>
          </a:bodyPr>
          <a:lstStyle/>
          <a:p>
            <a:r>
              <a:rPr lang="en-GB" dirty="0"/>
              <a:t>We had 5 questions to answer in this brief:</a:t>
            </a:r>
          </a:p>
          <a:p>
            <a:pPr marL="342900" indent="-342900">
              <a:buFont typeface="+mj-lt"/>
              <a:buAutoNum type="arabicPeriod"/>
            </a:pPr>
            <a:r>
              <a:rPr lang="en-GB" dirty="0"/>
              <a:t>What is the overall churn rate?</a:t>
            </a:r>
          </a:p>
          <a:p>
            <a:pPr marL="342900" indent="-342900">
              <a:buFont typeface="+mj-lt"/>
              <a:buAutoNum type="arabicPeriod"/>
            </a:pPr>
            <a:r>
              <a:rPr lang="en-GB" dirty="0"/>
              <a:t>Does contract type relate to churn?</a:t>
            </a:r>
          </a:p>
          <a:p>
            <a:pPr marL="342900" indent="-342900">
              <a:buFont typeface="+mj-lt"/>
              <a:buAutoNum type="arabicPeriod"/>
            </a:pPr>
            <a:r>
              <a:rPr lang="en-GB" dirty="0"/>
              <a:t>Do Auto-renew, plan or price relate to churn?</a:t>
            </a:r>
          </a:p>
          <a:p>
            <a:pPr marL="342900" indent="-342900">
              <a:buFont typeface="+mj-lt"/>
              <a:buAutoNum type="arabicPeriod"/>
            </a:pPr>
            <a:r>
              <a:rPr lang="en-GB" dirty="0"/>
              <a:t>Do engagement signals separate customers who churn from those who stay?</a:t>
            </a:r>
          </a:p>
          <a:p>
            <a:pPr marL="342900" indent="-342900">
              <a:buFont typeface="+mj-lt"/>
              <a:buAutoNum type="arabicPeriod"/>
            </a:pPr>
            <a:r>
              <a:rPr lang="en-GB" dirty="0"/>
              <a:t>Which factors matter most, and which look like they matter but don’t?</a:t>
            </a:r>
          </a:p>
          <a:p>
            <a:endParaRPr lang="en-GB" dirty="0"/>
          </a:p>
        </p:txBody>
      </p:sp>
      <p:sp>
        <p:nvSpPr>
          <p:cNvPr id="10" name="TextBox 9">
            <a:extLst>
              <a:ext uri="{FF2B5EF4-FFF2-40B4-BE49-F238E27FC236}">
                <a16:creationId xmlns:a16="http://schemas.microsoft.com/office/drawing/2014/main" id="{C6C225EB-50B8-36BB-6D57-A82E9EA218EB}"/>
              </a:ext>
            </a:extLst>
          </p:cNvPr>
          <p:cNvSpPr txBox="1"/>
          <p:nvPr/>
        </p:nvSpPr>
        <p:spPr>
          <a:xfrm>
            <a:off x="533400" y="3065468"/>
            <a:ext cx="10265229" cy="3416320"/>
          </a:xfrm>
          <a:prstGeom prst="rect">
            <a:avLst/>
          </a:prstGeom>
          <a:noFill/>
        </p:spPr>
        <p:txBody>
          <a:bodyPr wrap="square" rtlCol="0">
            <a:spAutoFit/>
          </a:bodyPr>
          <a:lstStyle/>
          <a:p>
            <a:r>
              <a:rPr lang="en-GB" dirty="0"/>
              <a:t>1. The overall churn rate is 23.9%</a:t>
            </a:r>
          </a:p>
          <a:p>
            <a:endParaRPr lang="en-GB" dirty="0"/>
          </a:p>
          <a:p>
            <a:r>
              <a:rPr lang="en-GB" dirty="0"/>
              <a:t>2.  Those on a monthly contract have a much higher churn rate (~30%)  than those on an Annual contract (12.8%). This suggests that contract type does relate to churn.</a:t>
            </a:r>
          </a:p>
          <a:p>
            <a:endParaRPr lang="en-GB" dirty="0"/>
          </a:p>
          <a:p>
            <a:r>
              <a:rPr lang="en-GB" dirty="0"/>
              <a:t>3. Based on my insights on Visual Analysis (part 1), Auto-renew and plan seem to relate to churn, with customers with auto-renew turned off churned at a higher rate, and those on the cheaper plans had higher churn rate too. These were both ‘linear’. Based on my insight on part 2 of my visual analysis, there was a relationship between monthly charge and churn, although this one wasn’t as ‘linear’ so I would say it relates to a lesser degree than the other two variables.</a:t>
            </a:r>
          </a:p>
          <a:p>
            <a:endParaRPr lang="en-GB" dirty="0"/>
          </a:p>
          <a:p>
            <a:endParaRPr lang="en-GB" dirty="0"/>
          </a:p>
        </p:txBody>
      </p:sp>
    </p:spTree>
    <p:extLst>
      <p:ext uri="{BB962C8B-B14F-4D97-AF65-F5344CB8AC3E}">
        <p14:creationId xmlns:p14="http://schemas.microsoft.com/office/powerpoint/2010/main" val="315964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F6D9E-41B7-4A5B-72E1-845374527F9B}"/>
              </a:ext>
            </a:extLst>
          </p:cNvPr>
          <p:cNvSpPr>
            <a:spLocks noGrp="1"/>
          </p:cNvSpPr>
          <p:nvPr>
            <p:ph type="title"/>
          </p:nvPr>
        </p:nvSpPr>
        <p:spPr/>
        <p:txBody>
          <a:bodyPr/>
          <a:lstStyle/>
          <a:p>
            <a:r>
              <a:rPr lang="en-GB" dirty="0"/>
              <a:t>(continued)</a:t>
            </a:r>
          </a:p>
        </p:txBody>
      </p:sp>
      <p:sp>
        <p:nvSpPr>
          <p:cNvPr id="3" name="Content Placeholder 2">
            <a:extLst>
              <a:ext uri="{FF2B5EF4-FFF2-40B4-BE49-F238E27FC236}">
                <a16:creationId xmlns:a16="http://schemas.microsoft.com/office/drawing/2014/main" id="{4FB66A1E-2E04-E1B7-4E03-0F74F128BAA9}"/>
              </a:ext>
            </a:extLst>
          </p:cNvPr>
          <p:cNvSpPr>
            <a:spLocks noGrp="1"/>
          </p:cNvSpPr>
          <p:nvPr>
            <p:ph idx="1"/>
          </p:nvPr>
        </p:nvSpPr>
        <p:spPr/>
        <p:txBody>
          <a:bodyPr>
            <a:normAutofit fontScale="92500" lnSpcReduction="20000"/>
          </a:bodyPr>
          <a:lstStyle/>
          <a:p>
            <a:r>
              <a:rPr lang="en-GB" sz="1600" dirty="0"/>
              <a:t>4. My analysis on part 3 of the Visual Analysis slides showed that tenure does not really separate customers who churn from those who don’t. There is not really a strong relationship, as although those with the shortest tenure have the highest churn rate, the band with the lowest churn rate is not the highest tenure band, and all other bands have similar churn rates to each other. </a:t>
            </a:r>
          </a:p>
          <a:p>
            <a:r>
              <a:rPr lang="en-GB" sz="1600" dirty="0"/>
              <a:t>The next weakest indicator is probably the number of support tickets. Although those with 0 support tickets had the lowest churn rate, and those with the most support tickets (6) had the highest churn rate, for anywhere between 1-5 support tickets, there is not a strong relationship.</a:t>
            </a:r>
          </a:p>
          <a:p>
            <a:r>
              <a:rPr lang="en-GB" sz="1600" dirty="0"/>
              <a:t>The other two engagement signals,  last login and usage hours, do show much more evidence for separating those customers who churn and those who don’t. Looking at the visual Churn Rate by Usage Band, we can see churn rate decreases as a customer’s usage increases. Similarly, for last login, churn rate is higher the more days since a customer last logged in. </a:t>
            </a:r>
          </a:p>
          <a:p>
            <a:endParaRPr lang="en-GB" sz="1600" dirty="0"/>
          </a:p>
          <a:p>
            <a:pPr marL="0" indent="0">
              <a:buNone/>
            </a:pPr>
            <a:r>
              <a:rPr lang="en-GB" sz="1600" dirty="0"/>
              <a:t>5. Based on findings, contract type, auto-renew, plan, usage hours, and last login matter the most when it comes to factors associated with churn. </a:t>
            </a:r>
          </a:p>
          <a:p>
            <a:pPr marL="0" indent="0">
              <a:buNone/>
            </a:pPr>
            <a:r>
              <a:rPr lang="en-GB" sz="1600" dirty="0"/>
              <a:t>The analysis suggests that customer activity is more strongly associated with churn than customer tenure. Usage hours and days since last login show clearer differences between churned and retained customers, while tenure shows comparatively little separation. (I expected tenure to have more of an association with churn). Subscription characteristics also appear relevant, such as contract type, auto-renewal and plan.</a:t>
            </a:r>
          </a:p>
          <a:p>
            <a:pPr marL="0" indent="0">
              <a:buNone/>
            </a:pPr>
            <a:r>
              <a:rPr lang="en-GB" sz="1600" dirty="0"/>
              <a:t>Thinking about it, it makes sense that tenure doesn’t have a big association with churn. While at first glance you’d think shorter tenure means higher chance of churn, we must remember tenure includes customers who are still signed up. A customer might only have signed up two months ago, hence a tenure of 2 months, and is not necessarily more likely to leave.</a:t>
            </a:r>
          </a:p>
        </p:txBody>
      </p:sp>
    </p:spTree>
    <p:extLst>
      <p:ext uri="{BB962C8B-B14F-4D97-AF65-F5344CB8AC3E}">
        <p14:creationId xmlns:p14="http://schemas.microsoft.com/office/powerpoint/2010/main" val="323516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DA95E-7A81-36D1-3CD4-165E6A64AC5D}"/>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68A33380-92D8-529D-5FDF-4B9111FBC858}"/>
              </a:ext>
            </a:extLst>
          </p:cNvPr>
          <p:cNvSpPr>
            <a:spLocks noGrp="1"/>
          </p:cNvSpPr>
          <p:nvPr>
            <p:ph idx="1"/>
          </p:nvPr>
        </p:nvSpPr>
        <p:spPr/>
        <p:txBody>
          <a:bodyPr>
            <a:normAutofit fontScale="92500" lnSpcReduction="10000"/>
          </a:bodyPr>
          <a:lstStyle/>
          <a:p>
            <a:r>
              <a:rPr lang="en-GB" sz="1800" dirty="0"/>
              <a:t>Firstly, considering those on monthly contracts churn at a much higher rate than those on an annual contracts, one thing the company should look at is how to incentivise those on monthly contracts to commit to an annual contract. This could be done through offering discounts on annual subscriptions, a free month, or additional benefits for the customer. Alternatively, they could consider introducing a new 6-month subscription as a middle ground.</a:t>
            </a:r>
          </a:p>
          <a:p>
            <a:r>
              <a:rPr lang="en-GB" sz="1800" dirty="0"/>
              <a:t>With regards to auto-renewal (and higher churn rate for customers with it turned off), NovaStream could take measures which encourage users to turn on auto-renew. For example, clearer messaging when a customer first signs up, sending reminders before a subscription expires, or potential incentives.</a:t>
            </a:r>
          </a:p>
          <a:p>
            <a:r>
              <a:rPr lang="en-GB" sz="1800" dirty="0"/>
              <a:t>Since we identified customer engagement (usage hours, days since last login), as another factor associated with churn, NovaStream can use the data it has on users to identify yet-to-churn customers who have either low usage hours, not logged in for a long time, or both. They could trial a system with inactivity triggers, and when this trigger is met, a targeted re-engagement campaign can be sent to the user, e.g. personalised recommendations, limited time offers, reminders about subscription benefits.</a:t>
            </a:r>
          </a:p>
          <a:p>
            <a:r>
              <a:rPr lang="en-GB" sz="1800" dirty="0"/>
              <a:t>One area worth exploring further is Plan. We saw those on basic plan had the highest churn, so it would be worth exploring why. Does the basic plan provide sufficient value for its price? Would moving some standard features down to the basic plan help? When a customer wants to cancel their plan, is it worth asking them why they’re unsubscribing? (Many subscription-based services already do this in real life.) </a:t>
            </a:r>
          </a:p>
          <a:p>
            <a:endParaRPr lang="en-GB" sz="1800" dirty="0"/>
          </a:p>
          <a:p>
            <a:endParaRPr lang="en-GB" sz="1800" dirty="0"/>
          </a:p>
        </p:txBody>
      </p:sp>
    </p:spTree>
    <p:extLst>
      <p:ext uri="{BB962C8B-B14F-4D97-AF65-F5344CB8AC3E}">
        <p14:creationId xmlns:p14="http://schemas.microsoft.com/office/powerpoint/2010/main" val="3010034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9C3F8-1451-52F3-F7A6-C410F72C68BD}"/>
              </a:ext>
            </a:extLst>
          </p:cNvPr>
          <p:cNvSpPr>
            <a:spLocks noGrp="1"/>
          </p:cNvSpPr>
          <p:nvPr>
            <p:ph type="title"/>
          </p:nvPr>
        </p:nvSpPr>
        <p:spPr/>
        <p:txBody>
          <a:bodyPr/>
          <a:lstStyle/>
          <a:p>
            <a:r>
              <a:rPr lang="en-GB" dirty="0"/>
              <a:t>Limitations</a:t>
            </a:r>
          </a:p>
        </p:txBody>
      </p:sp>
      <p:sp>
        <p:nvSpPr>
          <p:cNvPr id="3" name="Content Placeholder 2">
            <a:extLst>
              <a:ext uri="{FF2B5EF4-FFF2-40B4-BE49-F238E27FC236}">
                <a16:creationId xmlns:a16="http://schemas.microsoft.com/office/drawing/2014/main" id="{8022C26E-431B-7C21-62E7-AFC2FA884D42}"/>
              </a:ext>
            </a:extLst>
          </p:cNvPr>
          <p:cNvSpPr>
            <a:spLocks noGrp="1"/>
          </p:cNvSpPr>
          <p:nvPr>
            <p:ph idx="1"/>
          </p:nvPr>
        </p:nvSpPr>
        <p:spPr/>
        <p:txBody>
          <a:bodyPr>
            <a:normAutofit fontScale="85000" lnSpcReduction="20000"/>
          </a:bodyPr>
          <a:lstStyle/>
          <a:p>
            <a:r>
              <a:rPr lang="en-GB" sz="2000" dirty="0"/>
              <a:t>One of my biggest issues was with the amount of nulls in my data. In some cases, it was unavoidable for me as the data was missing from the source, and without any further information as to why the data was missing, I could not replace these null values with something else.</a:t>
            </a:r>
          </a:p>
          <a:p>
            <a:r>
              <a:rPr lang="en-GB" sz="2000" dirty="0"/>
              <a:t>The only case where I could make an assumption is where usage hours and </a:t>
            </a:r>
            <a:r>
              <a:rPr lang="en-GB" sz="2000" dirty="0" err="1"/>
              <a:t>lastLoginDays</a:t>
            </a:r>
            <a:r>
              <a:rPr lang="en-GB" sz="2000" dirty="0"/>
              <a:t> were null, and assume that these were 0s, but I didn’t want to risk it, as again, I had no information on why the data was missing, so I left these as null too (a decision I detailed in my Data Cleaning slides).</a:t>
            </a:r>
          </a:p>
          <a:p>
            <a:r>
              <a:rPr lang="en-GB" sz="2000" dirty="0"/>
              <a:t>These limitations mean my analysis might not be 100% accurate, as missing observations reduced the number of customers available for some analyses, affecting averages, distributions and comparisons. For example, churn by usage or churn by days since last login, does not include all 2000 customers in the data, with 70 and 40 customers missing, respectively.</a:t>
            </a:r>
          </a:p>
          <a:p>
            <a:r>
              <a:rPr lang="en-GB" sz="2000" dirty="0"/>
              <a:t>In addition, the dataset is synthetic teaching data, so findings might not generalise to a real subscription service.</a:t>
            </a:r>
          </a:p>
          <a:p>
            <a:r>
              <a:rPr lang="en-GB" sz="2000" dirty="0"/>
              <a:t>With more time and data, I would investigate the reasons for the missing data, and the orphaned foreign key values to give me a better idea of what I could replace those values with, rather than just leaving them/assigning them null.</a:t>
            </a:r>
          </a:p>
          <a:p>
            <a:r>
              <a:rPr lang="en-GB" sz="2000" dirty="0"/>
              <a:t>Additionally, when calculating the date that a customer churned by counting the number of months since the customer’s sign-up date, it seems all customers left in December 2024, which unfortunately doesn’t give us any information about whether any seasonality of when customers churned exists. (Unsure whether this is unintentional or a limitation of the synthetic teaching data).</a:t>
            </a:r>
          </a:p>
        </p:txBody>
      </p:sp>
    </p:spTree>
    <p:extLst>
      <p:ext uri="{BB962C8B-B14F-4D97-AF65-F5344CB8AC3E}">
        <p14:creationId xmlns:p14="http://schemas.microsoft.com/office/powerpoint/2010/main" val="580067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5948</TotalTime>
  <Words>3033</Words>
  <Application>Microsoft Office PowerPoint</Application>
  <PresentationFormat>Widescreen</PresentationFormat>
  <Paragraphs>119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Customer Subscription and Churn Analysis</vt:lpstr>
      <vt:lpstr>Project Brief</vt:lpstr>
      <vt:lpstr>Dataset overview</vt:lpstr>
      <vt:lpstr>Dataset Structure</vt:lpstr>
      <vt:lpstr>Identified Problems in Dataset</vt:lpstr>
      <vt:lpstr>Data Cleaning Process</vt:lpstr>
      <vt:lpstr>Data Cleaning (Continued)</vt:lpstr>
      <vt:lpstr>Data Cleaning steps in PQ</vt:lpstr>
      <vt:lpstr>Data Transformation</vt:lpstr>
      <vt:lpstr>Data Transformation</vt:lpstr>
      <vt:lpstr>Exploratory Data Analysis</vt:lpstr>
      <vt:lpstr>Exploratory Data Analysis (Continued)</vt:lpstr>
      <vt:lpstr>Visual Analysis (part 1)</vt:lpstr>
      <vt:lpstr>Visual Analysis (part 2)</vt:lpstr>
      <vt:lpstr>Visual Analysis (part 3)</vt:lpstr>
      <vt:lpstr>Visual Analysis (Part 4)</vt:lpstr>
      <vt:lpstr>Visual Analysis (part 5)</vt:lpstr>
      <vt:lpstr>Insights and findings</vt:lpstr>
      <vt:lpstr>(continued)</vt:lpstr>
      <vt:lpstr>Recommendations</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Andreas Wong</dc:creator>
  <cp:lastModifiedBy>Andreas Wong</cp:lastModifiedBy>
  <cp:revision>32</cp:revision>
  <dcterms:created xsi:type="dcterms:W3CDTF">2026-09-08T21:19:08Z</dcterms:created>
  <dcterms:modified xsi:type="dcterms:W3CDTF">2026-09-25T09:37:51Z</dcterms:modified>
</cp:coreProperties>
</file>