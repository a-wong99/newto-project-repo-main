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40" r:id="rId1"/>
  </p:sldMasterIdLst>
  <p:notesMasterIdLst>
    <p:notesMasterId r:id="rId19"/>
  </p:notesMasterIdLst>
  <p:sldIdLst>
    <p:sldId id="256" r:id="rId2"/>
    <p:sldId id="257" r:id="rId3"/>
    <p:sldId id="258" r:id="rId4"/>
    <p:sldId id="259" r:id="rId5"/>
    <p:sldId id="260" r:id="rId6"/>
    <p:sldId id="261" r:id="rId7"/>
    <p:sldId id="262" r:id="rId8"/>
    <p:sldId id="268" r:id="rId9"/>
    <p:sldId id="269" r:id="rId10"/>
    <p:sldId id="263" r:id="rId11"/>
    <p:sldId id="264" r:id="rId12"/>
    <p:sldId id="271" r:id="rId13"/>
    <p:sldId id="274" r:id="rId14"/>
    <p:sldId id="270" r:id="rId15"/>
    <p:sldId id="265" r:id="rId16"/>
    <p:sldId id="272" r:id="rId17"/>
    <p:sldId id="266" r:id="rId1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gGau6bDNrJt6/EQrF84EX7TL8C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 name="Google Shape;2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 name="Google Shape;2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 name="Google Shape;4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6316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13D95807-6375-47AD-ED97-F334A52C718C}"/>
            </a:ext>
          </a:extLst>
        </p:cNvPr>
        <p:cNvGrpSpPr/>
        <p:nvPr/>
      </p:nvGrpSpPr>
      <p:grpSpPr>
        <a:xfrm>
          <a:off x="0" y="0"/>
          <a:ext cx="0" cy="0"/>
          <a:chOff x="0" y="0"/>
          <a:chExt cx="0" cy="0"/>
        </a:xfrm>
      </p:grpSpPr>
      <p:sp>
        <p:nvSpPr>
          <p:cNvPr id="222" name="Google Shape;222;p9:notes">
            <a:extLst>
              <a:ext uri="{FF2B5EF4-FFF2-40B4-BE49-F238E27FC236}">
                <a16:creationId xmlns:a16="http://schemas.microsoft.com/office/drawing/2014/main" id="{30FE03FA-C563-B6D5-3ACD-C3D4952173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9:notes">
            <a:extLst>
              <a:ext uri="{FF2B5EF4-FFF2-40B4-BE49-F238E27FC236}">
                <a16:creationId xmlns:a16="http://schemas.microsoft.com/office/drawing/2014/main" id="{AD9CD205-FDA5-AED8-AF3C-FCBF01A27E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9:notes">
            <a:extLst>
              <a:ext uri="{FF2B5EF4-FFF2-40B4-BE49-F238E27FC236}">
                <a16:creationId xmlns:a16="http://schemas.microsoft.com/office/drawing/2014/main" id="{D22CD550-F278-03FB-20D9-686C8409F56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21137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3570D6FD-E67C-C408-6AC0-8B0AD0942A06}"/>
            </a:ext>
          </a:extLst>
        </p:cNvPr>
        <p:cNvGrpSpPr/>
        <p:nvPr/>
      </p:nvGrpSpPr>
      <p:grpSpPr>
        <a:xfrm>
          <a:off x="0" y="0"/>
          <a:ext cx="0" cy="0"/>
          <a:chOff x="0" y="0"/>
          <a:chExt cx="0" cy="0"/>
        </a:xfrm>
      </p:grpSpPr>
      <p:sp>
        <p:nvSpPr>
          <p:cNvPr id="222" name="Google Shape;222;p9:notes">
            <a:extLst>
              <a:ext uri="{FF2B5EF4-FFF2-40B4-BE49-F238E27FC236}">
                <a16:creationId xmlns:a16="http://schemas.microsoft.com/office/drawing/2014/main" id="{EE78BDA3-63D7-09FB-C378-8522F61920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9:notes">
            <a:extLst>
              <a:ext uri="{FF2B5EF4-FFF2-40B4-BE49-F238E27FC236}">
                <a16:creationId xmlns:a16="http://schemas.microsoft.com/office/drawing/2014/main" id="{8D776AC3-7327-7204-D717-53AE19AFD9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9:notes">
            <a:extLst>
              <a:ext uri="{FF2B5EF4-FFF2-40B4-BE49-F238E27FC236}">
                <a16:creationId xmlns:a16="http://schemas.microsoft.com/office/drawing/2014/main" id="{D11D3458-B87C-32F2-DC91-B4B244DA4F3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662396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7C838501-5A54-13AA-BB24-E55ADF27FA7E}"/>
            </a:ext>
          </a:extLst>
        </p:cNvPr>
        <p:cNvGrpSpPr/>
        <p:nvPr/>
      </p:nvGrpSpPr>
      <p:grpSpPr>
        <a:xfrm>
          <a:off x="0" y="0"/>
          <a:ext cx="0" cy="0"/>
          <a:chOff x="0" y="0"/>
          <a:chExt cx="0" cy="0"/>
        </a:xfrm>
      </p:grpSpPr>
      <p:sp>
        <p:nvSpPr>
          <p:cNvPr id="261" name="Google Shape;261;p10:notes">
            <a:extLst>
              <a:ext uri="{FF2B5EF4-FFF2-40B4-BE49-F238E27FC236}">
                <a16:creationId xmlns:a16="http://schemas.microsoft.com/office/drawing/2014/main" id="{CA1897C8-7674-E075-0067-53D0E4800D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0:notes">
            <a:extLst>
              <a:ext uri="{FF2B5EF4-FFF2-40B4-BE49-F238E27FC236}">
                <a16:creationId xmlns:a16="http://schemas.microsoft.com/office/drawing/2014/main" id="{DB013E8A-3002-3BFA-A8EC-B965F2ADB7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0:notes">
            <a:extLst>
              <a:ext uri="{FF2B5EF4-FFF2-40B4-BE49-F238E27FC236}">
                <a16:creationId xmlns:a16="http://schemas.microsoft.com/office/drawing/2014/main" id="{4D299B0E-6EBC-1798-F1ED-D49276D6A5D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910109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9D47B-42F8-4EC3-8184-68634E0BA4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1E69B5C-6DEE-42A9-70A4-3193B2A5B9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85B4FDB-81C3-7591-310C-DD6488CF517D}"/>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5" name="Footer Placeholder 4">
            <a:extLst>
              <a:ext uri="{FF2B5EF4-FFF2-40B4-BE49-F238E27FC236}">
                <a16:creationId xmlns:a16="http://schemas.microsoft.com/office/drawing/2014/main" id="{F43D8931-BBCB-28C4-B23D-48E0F069DF2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B984A7-F5E4-FE4C-6549-9AE247FDECB9}"/>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10364260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6426F-69CC-BB0C-F38A-F9140529A02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A853B3F-C72E-8747-B351-6FD3C5E977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58261B-60A1-609F-234A-6B7DFADBB208}"/>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5" name="Footer Placeholder 4">
            <a:extLst>
              <a:ext uri="{FF2B5EF4-FFF2-40B4-BE49-F238E27FC236}">
                <a16:creationId xmlns:a16="http://schemas.microsoft.com/office/drawing/2014/main" id="{108319E8-92D0-C03E-C5CD-BE415FCE77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2B6B01A-2D64-637E-61C1-4EA9915024E8}"/>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82296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BC89C-77C9-4FB9-9F8D-2CEF90A3D6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BC2E217-F54B-2914-3A9E-7A6F326C4E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9198A4-FEA6-0E3B-9491-BE99D23E816B}"/>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5" name="Footer Placeholder 4">
            <a:extLst>
              <a:ext uri="{FF2B5EF4-FFF2-40B4-BE49-F238E27FC236}">
                <a16:creationId xmlns:a16="http://schemas.microsoft.com/office/drawing/2014/main" id="{AD816B64-4203-E0E8-F09A-B8A5F4B2FC6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C2145F6-FF81-A127-13B5-E6C089B985DB}"/>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75914793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94902-E95C-1735-7487-E589340A1F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AAAFC8-E621-636C-B289-C0431D86B1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715C47E-3329-EA68-DE27-A323FDF0D4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42BF0E1-A2D9-5C88-4E1E-A37F5B3810EB}"/>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6" name="Footer Placeholder 5">
            <a:extLst>
              <a:ext uri="{FF2B5EF4-FFF2-40B4-BE49-F238E27FC236}">
                <a16:creationId xmlns:a16="http://schemas.microsoft.com/office/drawing/2014/main" id="{DF22F973-953C-0975-BD5D-F7EC6D9BED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0E694BB-5D1C-2AEB-0235-72656A3B101F}"/>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03402174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D40F-FB04-7AAA-08C5-AB1EA53D2B9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8443D7-FD38-7079-E671-45E96A374E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53A3BF-2F2F-5921-5EC0-9903E4A4DA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7726538-0C26-DA4F-21B8-9C256AE714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4DF6BA-24A3-2CCC-C79D-B71A2859E1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CE8BC3B-AB87-BEFE-32FA-7D6838BAE1D4}"/>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8" name="Footer Placeholder 7">
            <a:extLst>
              <a:ext uri="{FF2B5EF4-FFF2-40B4-BE49-F238E27FC236}">
                <a16:creationId xmlns:a16="http://schemas.microsoft.com/office/drawing/2014/main" id="{C5FEC915-3013-CDB3-774F-E0519FFA927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69AD92F-B2C9-43C7-CABF-ED0434453210}"/>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566444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3285B-9295-DB14-FBFF-18D71515568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1DCFFFA-04D0-42E9-C01C-BE9110576F4F}"/>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4" name="Footer Placeholder 3">
            <a:extLst>
              <a:ext uri="{FF2B5EF4-FFF2-40B4-BE49-F238E27FC236}">
                <a16:creationId xmlns:a16="http://schemas.microsoft.com/office/drawing/2014/main" id="{89B5968E-5E78-AC37-2C4E-0BC0A72894E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6EFFB2C-EC85-7DA8-65AA-4896EB4F361C}"/>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75724390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B5D49A-B6FA-27F0-8BF5-2AABB54A4409}"/>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3" name="Footer Placeholder 2">
            <a:extLst>
              <a:ext uri="{FF2B5EF4-FFF2-40B4-BE49-F238E27FC236}">
                <a16:creationId xmlns:a16="http://schemas.microsoft.com/office/drawing/2014/main" id="{349A25CE-D7B9-323F-6E5F-9F651CA0C69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4AEDE3D-2798-AA3F-028D-7E3C189447AE}"/>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2878839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5533B-893D-2E1C-7F21-C2625AC21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438899F-4B04-1BC3-29CD-4526EC357B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DB13F04-B227-4D31-0500-666324455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2D0C81-6F59-A717-2800-EBE85BA26D26}"/>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6" name="Footer Placeholder 5">
            <a:extLst>
              <a:ext uri="{FF2B5EF4-FFF2-40B4-BE49-F238E27FC236}">
                <a16:creationId xmlns:a16="http://schemas.microsoft.com/office/drawing/2014/main" id="{40E1FD77-7E83-77F0-B61A-0D3F4946231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4296E9E-4F4D-E8F2-F41E-2FFE87E80CAF}"/>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5129816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8DFDC-D1BA-548D-01D0-178AFFDDF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C212AD0-660C-996F-C636-B5B99CE6E6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B7BAB08-18A9-6461-F6B9-F199EEA602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53A5E-1A16-35CC-4B7C-D054F8300A92}"/>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6" name="Footer Placeholder 5">
            <a:extLst>
              <a:ext uri="{FF2B5EF4-FFF2-40B4-BE49-F238E27FC236}">
                <a16:creationId xmlns:a16="http://schemas.microsoft.com/office/drawing/2014/main" id="{32F3A177-8684-AC6A-9B4A-CCD0E21131B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5F78E7F-E18B-26D6-3371-56228CBCAB32}"/>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1381301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AC7C-96F4-F22A-EDDD-C11724D7B8C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4113271-4E55-1027-65CB-153E33F24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43C5DA-DBDF-128E-09A6-C5548B91EE6A}"/>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5" name="Footer Placeholder 4">
            <a:extLst>
              <a:ext uri="{FF2B5EF4-FFF2-40B4-BE49-F238E27FC236}">
                <a16:creationId xmlns:a16="http://schemas.microsoft.com/office/drawing/2014/main" id="{05CAEA94-C8F7-A12A-E947-5E8E7A1C8D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992228-E4F0-D6FA-FC15-E9669C05C718}"/>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13037015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2DC151-F55B-BAF6-CEB6-A2B3E47B06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2018A7C-1537-3F8D-590F-7D989DA6B9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FC5126D-CD8C-EEF5-4F33-11D6244C6BFF}"/>
              </a:ext>
            </a:extLst>
          </p:cNvPr>
          <p:cNvSpPr>
            <a:spLocks noGrp="1"/>
          </p:cNvSpPr>
          <p:nvPr>
            <p:ph type="dt" sz="half" idx="10"/>
          </p:nvPr>
        </p:nvSpPr>
        <p:spPr/>
        <p:txBody>
          <a:bodyPr/>
          <a:lstStyle/>
          <a:p>
            <a:fld id="{2ABAD28B-DD56-4B56-883A-96608C765E28}" type="datetimeFigureOut">
              <a:rPr lang="en-US" smtClean="0"/>
              <a:pPr/>
              <a:t>8/18/2026</a:t>
            </a:fld>
            <a:endParaRPr lang="en-US" dirty="0"/>
          </a:p>
        </p:txBody>
      </p:sp>
      <p:sp>
        <p:nvSpPr>
          <p:cNvPr id="5" name="Footer Placeholder 4">
            <a:extLst>
              <a:ext uri="{FF2B5EF4-FFF2-40B4-BE49-F238E27FC236}">
                <a16:creationId xmlns:a16="http://schemas.microsoft.com/office/drawing/2014/main" id="{CE4E6A22-3F5D-1EEC-6443-2ED7B873BE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0BE3DD-8681-AAB9-B294-477BE7505BB0}"/>
              </a:ext>
            </a:extLst>
          </p:cNvPr>
          <p:cNvSpPr>
            <a:spLocks noGrp="1"/>
          </p:cNvSpPr>
          <p:nvPr>
            <p:ph type="sldNum" sz="quarter" idx="12"/>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77247251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1837990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1B5C81-F4D2-5599-73AD-F3C9769EC8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9EA7B8-11C6-B78D-5F41-E66F57C09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F1C4FD-DDAF-A247-84A6-CAF93BC245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BAD28B-DD56-4B56-883A-96608C765E28}" type="datetimeFigureOut">
              <a:rPr lang="en-US" smtClean="0"/>
              <a:pPr/>
              <a:t>8/18/2026</a:t>
            </a:fld>
            <a:endParaRPr lang="en-US" dirty="0"/>
          </a:p>
        </p:txBody>
      </p:sp>
      <p:sp>
        <p:nvSpPr>
          <p:cNvPr id="5" name="Footer Placeholder 4">
            <a:extLst>
              <a:ext uri="{FF2B5EF4-FFF2-40B4-BE49-F238E27FC236}">
                <a16:creationId xmlns:a16="http://schemas.microsoft.com/office/drawing/2014/main" id="{F8ABFB05-2330-2709-382D-DABFA1BF7C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6D4A2B4-87FE-2095-3B99-2A7B02B450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926107788"/>
      </p:ext>
    </p:extLst>
  </p:cSld>
  <p:clrMap bg1="lt1" tx1="dk1" bg2="lt2" tx2="dk2" accent1="accent1" accent2="accent2" accent3="accent3" accent4="accent4" accent5="accent5" accent6="accent6" hlink="hlink" folHlink="folHlink"/>
  <p:sldLayoutIdLst>
    <p:sldLayoutId id="2147483941" r:id="rId1"/>
    <p:sldLayoutId id="2147483942" r:id="rId2"/>
    <p:sldLayoutId id="2147483943" r:id="rId3"/>
    <p:sldLayoutId id="2147483944" r:id="rId4"/>
    <p:sldLayoutId id="2147483945" r:id="rId5"/>
    <p:sldLayoutId id="2147483946" r:id="rId6"/>
    <p:sldLayoutId id="2147483947" r:id="rId7"/>
    <p:sldLayoutId id="2147483948" r:id="rId8"/>
    <p:sldLayoutId id="2147483949" r:id="rId9"/>
    <p:sldLayoutId id="2147483950" r:id="rId10"/>
    <p:sldLayoutId id="2147483951" r:id="rId11"/>
    <p:sldLayoutId id="214748395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D2E"/>
        </a:solidFill>
        <a:effectLst/>
      </p:bgPr>
    </p:bg>
    <p:spTree>
      <p:nvGrpSpPr>
        <p:cNvPr id="1" name="Shape 15"/>
        <p:cNvGrpSpPr/>
        <p:nvPr/>
      </p:nvGrpSpPr>
      <p:grpSpPr>
        <a:xfrm>
          <a:off x="0" y="0"/>
          <a:ext cx="0" cy="0"/>
          <a:chOff x="0" y="0"/>
          <a:chExt cx="0" cy="0"/>
        </a:xfrm>
      </p:grpSpPr>
      <p:sp>
        <p:nvSpPr>
          <p:cNvPr id="16" name="Google Shape;16;p1"/>
          <p:cNvSpPr/>
          <p:nvPr/>
        </p:nvSpPr>
        <p:spPr>
          <a:xfrm>
            <a:off x="9784080" y="4297680"/>
            <a:ext cx="2926080" cy="2926080"/>
          </a:xfrm>
          <a:prstGeom prst="ellipse">
            <a:avLst/>
          </a:prstGeom>
          <a:solidFill>
            <a:srgbClr val="97BC62">
              <a:alpha val="2196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10881360" y="3291840"/>
            <a:ext cx="1828800" cy="1828800"/>
          </a:xfrm>
          <a:prstGeom prst="ellipse">
            <a:avLst/>
          </a:prstGeom>
          <a:solidFill>
            <a:srgbClr val="C77F33">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822960" y="1371600"/>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7BC62"/>
              </a:buClr>
              <a:buSzPts val="1500"/>
              <a:buFont typeface="Calibri"/>
              <a:buNone/>
            </a:pPr>
            <a:r>
              <a:rPr lang="en-US" sz="1500" b="1" i="0" u="none" strike="noStrike" cap="none">
                <a:solidFill>
                  <a:srgbClr val="97BC62"/>
                </a:solidFill>
                <a:latin typeface="Calibri"/>
                <a:ea typeface="Calibri"/>
                <a:cs typeface="Calibri"/>
                <a:sym typeface="Calibri"/>
              </a:rPr>
              <a:t>POWER BI  ·  PL-300  ·  PROJECT 1</a:t>
            </a:r>
            <a:endParaRPr sz="1500" b="0" i="0" u="none" strike="noStrike" cap="none">
              <a:solidFill>
                <a:schemeClr val="dk1"/>
              </a:solidFill>
              <a:latin typeface="Calibri"/>
              <a:ea typeface="Calibri"/>
              <a:cs typeface="Calibri"/>
              <a:sym typeface="Calibri"/>
            </a:endParaRPr>
          </a:p>
        </p:txBody>
      </p:sp>
      <p:sp>
        <p:nvSpPr>
          <p:cNvPr id="19" name="Google Shape;19;p1"/>
          <p:cNvSpPr/>
          <p:nvPr/>
        </p:nvSpPr>
        <p:spPr>
          <a:xfrm>
            <a:off x="777240" y="1828800"/>
            <a:ext cx="105156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5800"/>
              <a:buFont typeface="Cambria"/>
              <a:buNone/>
            </a:pPr>
            <a:r>
              <a:rPr lang="en-US" sz="5800" b="1" i="0" u="none" strike="noStrike" cap="none">
                <a:solidFill>
                  <a:srgbClr val="FFFFFF"/>
                </a:solidFill>
                <a:latin typeface="Cambria"/>
                <a:ea typeface="Cambria"/>
                <a:cs typeface="Cambria"/>
                <a:sym typeface="Cambria"/>
              </a:rPr>
              <a:t>Summit Outfitters</a:t>
            </a:r>
            <a:endParaRPr sz="5800" b="0" i="0" u="none" strike="noStrike" cap="none">
              <a:solidFill>
                <a:schemeClr val="dk1"/>
              </a:solidFill>
              <a:latin typeface="Calibri"/>
              <a:ea typeface="Calibri"/>
              <a:cs typeface="Calibri"/>
              <a:sym typeface="Calibri"/>
            </a:endParaRPr>
          </a:p>
        </p:txBody>
      </p:sp>
      <p:sp>
        <p:nvSpPr>
          <p:cNvPr id="20" name="Google Shape;20;p1"/>
          <p:cNvSpPr/>
          <p:nvPr/>
        </p:nvSpPr>
        <p:spPr>
          <a:xfrm>
            <a:off x="822960" y="2880360"/>
            <a:ext cx="100584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FE0C2"/>
              </a:buClr>
              <a:buSzPts val="2400"/>
              <a:buFont typeface="Cambria"/>
              <a:buNone/>
            </a:pPr>
            <a:r>
              <a:rPr lang="en-US" sz="2400" b="0" i="1" u="none" strike="noStrike" cap="none">
                <a:solidFill>
                  <a:srgbClr val="CFE0C2"/>
                </a:solidFill>
                <a:latin typeface="Cambria"/>
                <a:ea typeface="Cambria"/>
                <a:cs typeface="Cambria"/>
                <a:sym typeface="Cambria"/>
              </a:rPr>
              <a:t>Sales Analysis — a data analysis project</a:t>
            </a:r>
            <a:endParaRPr sz="2400" b="0" i="0" u="none" strike="noStrike" cap="none">
              <a:solidFill>
                <a:schemeClr val="dk1"/>
              </a:solidFill>
              <a:latin typeface="Calibri"/>
              <a:ea typeface="Calibri"/>
              <a:cs typeface="Calibri"/>
              <a:sym typeface="Calibri"/>
            </a:endParaRPr>
          </a:p>
        </p:txBody>
      </p:sp>
      <p:sp>
        <p:nvSpPr>
          <p:cNvPr id="21" name="Google Shape;21;p1"/>
          <p:cNvSpPr/>
          <p:nvPr/>
        </p:nvSpPr>
        <p:spPr>
          <a:xfrm>
            <a:off x="822960" y="4114800"/>
            <a:ext cx="5120640" cy="1371600"/>
          </a:xfrm>
          <a:prstGeom prst="roundRect">
            <a:avLst>
              <a:gd name="adj" fmla="val 6000"/>
            </a:avLst>
          </a:prstGeom>
          <a:solidFill>
            <a:srgbClr val="22463A"/>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1097280" y="4297680"/>
            <a:ext cx="4572000" cy="100584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FFFFFF"/>
              </a:buClr>
              <a:buSzPts val="1600"/>
              <a:buFont typeface="Calibri"/>
              <a:buNone/>
            </a:pPr>
            <a:r>
              <a:rPr lang="en-US" sz="1600" b="1" i="0" u="none" strike="noStrike" cap="none" dirty="0">
                <a:solidFill>
                  <a:srgbClr val="FFFFFF"/>
                </a:solidFill>
                <a:latin typeface="Calibri"/>
                <a:ea typeface="Calibri"/>
                <a:cs typeface="Calibri"/>
                <a:sym typeface="Calibri"/>
              </a:rPr>
              <a:t>Presented by:  </a:t>
            </a:r>
            <a:r>
              <a:rPr lang="en-US" sz="1600" b="0" i="0" u="none" strike="noStrike" cap="none" dirty="0">
                <a:solidFill>
                  <a:srgbClr val="BFD3B2"/>
                </a:solidFill>
                <a:latin typeface="Calibri"/>
                <a:ea typeface="Calibri"/>
                <a:cs typeface="Calibri"/>
                <a:sym typeface="Calibri"/>
              </a:rPr>
              <a:t>[ Andreas Wong]</a:t>
            </a:r>
            <a:endParaRPr sz="16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600"/>
              <a:buFont typeface="Calibri"/>
              <a:buNone/>
            </a:pPr>
            <a:r>
              <a:rPr lang="en-US" sz="1600" b="1" i="0" u="none" strike="noStrike" cap="none" dirty="0">
                <a:solidFill>
                  <a:srgbClr val="FFFFFF"/>
                </a:solidFill>
                <a:latin typeface="Calibri"/>
                <a:ea typeface="Calibri"/>
                <a:cs typeface="Calibri"/>
                <a:sym typeface="Calibri"/>
              </a:rPr>
              <a:t>Date:  </a:t>
            </a:r>
            <a:r>
              <a:rPr lang="en-US" sz="1600" b="0" i="0" u="none" strike="noStrike" cap="none" dirty="0">
                <a:solidFill>
                  <a:srgbClr val="BFD3B2"/>
                </a:solidFill>
                <a:latin typeface="Calibri"/>
                <a:ea typeface="Calibri"/>
                <a:cs typeface="Calibri"/>
                <a:sym typeface="Calibri"/>
              </a:rPr>
              <a:t>[ </a:t>
            </a:r>
            <a:r>
              <a:rPr lang="en-US" sz="1600" dirty="0">
                <a:solidFill>
                  <a:srgbClr val="BFD3B2"/>
                </a:solidFill>
                <a:latin typeface="Calibri"/>
                <a:ea typeface="Calibri"/>
                <a:cs typeface="Calibri"/>
                <a:sym typeface="Calibri"/>
              </a:rPr>
              <a:t>10/08/2026</a:t>
            </a:r>
            <a:r>
              <a:rPr lang="en-US" sz="1600" b="0" i="0" u="none" strike="noStrike" cap="none" dirty="0">
                <a:solidFill>
                  <a:srgbClr val="BFD3B2"/>
                </a:solidFill>
                <a:latin typeface="Calibri"/>
                <a:ea typeface="Calibri"/>
                <a:cs typeface="Calibri"/>
                <a:sym typeface="Calibri"/>
              </a:rPr>
              <a:t> ]</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
        <p:cNvGrpSpPr/>
        <p:nvPr/>
      </p:nvGrpSpPr>
      <p:grpSpPr>
        <a:xfrm>
          <a:off x="0" y="0"/>
          <a:ext cx="0" cy="0"/>
          <a:chOff x="0" y="0"/>
          <a:chExt cx="0" cy="0"/>
        </a:xfrm>
      </p:grpSpPr>
      <p:sp>
        <p:nvSpPr>
          <p:cNvPr id="28" name="Google Shape;28;p2"/>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2</a:t>
            </a:r>
            <a:endParaRPr sz="2400" b="0" i="0" u="none" strike="noStrike" cap="none">
              <a:solidFill>
                <a:schemeClr val="dk1"/>
              </a:solidFill>
              <a:latin typeface="Calibri"/>
              <a:ea typeface="Calibri"/>
              <a:cs typeface="Calibri"/>
              <a:sym typeface="Calibri"/>
            </a:endParaRPr>
          </a:p>
        </p:txBody>
      </p:sp>
      <p:sp>
        <p:nvSpPr>
          <p:cNvPr id="30" name="Google Shape;30;p2"/>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Project Brief</a:t>
            </a:r>
            <a:endParaRPr sz="2900" b="0" i="0" u="none" strike="noStrike" cap="none">
              <a:solidFill>
                <a:schemeClr val="dk1"/>
              </a:solidFill>
              <a:latin typeface="Calibri"/>
              <a:ea typeface="Calibri"/>
              <a:cs typeface="Calibri"/>
              <a:sym typeface="Calibri"/>
            </a:endParaRPr>
          </a:p>
        </p:txBody>
      </p:sp>
      <p:sp>
        <p:nvSpPr>
          <p:cNvPr id="31" name="Google Shape;31;p2"/>
          <p:cNvSpPr/>
          <p:nvPr/>
        </p:nvSpPr>
        <p:spPr>
          <a:xfrm>
            <a:off x="548640" y="1554480"/>
            <a:ext cx="539496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22960" y="169164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800"/>
              <a:buFont typeface="Cambria"/>
              <a:buNone/>
            </a:pPr>
            <a:r>
              <a:rPr lang="en-US" sz="1800" b="1" i="0" u="none" strike="noStrike" cap="none">
                <a:solidFill>
                  <a:srgbClr val="2C5F2D"/>
                </a:solidFill>
                <a:latin typeface="Cambria"/>
                <a:ea typeface="Cambria"/>
                <a:cs typeface="Cambria"/>
                <a:sym typeface="Cambria"/>
              </a:rPr>
              <a:t>Overview</a:t>
            </a:r>
            <a:endParaRPr sz="1800" b="0" i="0" u="none" strike="noStrike" cap="none">
              <a:solidFill>
                <a:schemeClr val="dk1"/>
              </a:solidFill>
              <a:latin typeface="Calibri"/>
              <a:ea typeface="Calibri"/>
              <a:cs typeface="Calibri"/>
              <a:sym typeface="Calibri"/>
            </a:endParaRPr>
          </a:p>
        </p:txBody>
      </p:sp>
      <p:sp>
        <p:nvSpPr>
          <p:cNvPr id="33" name="Google Shape;33;p2"/>
          <p:cNvSpPr/>
          <p:nvPr/>
        </p:nvSpPr>
        <p:spPr>
          <a:xfrm>
            <a:off x="822960" y="2103120"/>
            <a:ext cx="4846320" cy="1234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400"/>
              <a:buFont typeface="Calibri"/>
              <a:buNone/>
            </a:pPr>
            <a:r>
              <a:rPr lang="en-US" sz="1400" b="0" i="0" u="none" strike="noStrike" cap="none">
                <a:solidFill>
                  <a:srgbClr val="243029"/>
                </a:solidFill>
                <a:latin typeface="Calibri"/>
                <a:ea typeface="Calibri"/>
                <a:cs typeface="Calibri"/>
                <a:sym typeface="Calibri"/>
              </a:rPr>
              <a:t>Summit Outfitters is a US outdoor-gear retailer that has grown for three years on instinct and spreadsheets. The order data has never been analysed. Your job: turn the raw exports into one report that shows how the business is really doing.</a:t>
            </a:r>
            <a:endParaRPr sz="1400" b="0" i="0" u="none" strike="noStrike" cap="none">
              <a:solidFill>
                <a:schemeClr val="dk1"/>
              </a:solidFill>
              <a:latin typeface="Calibri"/>
              <a:ea typeface="Calibri"/>
              <a:cs typeface="Calibri"/>
              <a:sym typeface="Calibri"/>
            </a:endParaRPr>
          </a:p>
        </p:txBody>
      </p:sp>
      <p:sp>
        <p:nvSpPr>
          <p:cNvPr id="34" name="Google Shape;34;p2"/>
          <p:cNvSpPr/>
          <p:nvPr/>
        </p:nvSpPr>
        <p:spPr>
          <a:xfrm>
            <a:off x="6172200" y="1554480"/>
            <a:ext cx="548640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6446520" y="16916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800"/>
              <a:buFont typeface="Cambria"/>
              <a:buNone/>
            </a:pPr>
            <a:r>
              <a:rPr lang="en-US" sz="1800" b="1" i="0" u="none" strike="noStrike" cap="none">
                <a:solidFill>
                  <a:srgbClr val="2C5F2D"/>
                </a:solidFill>
                <a:latin typeface="Cambria"/>
                <a:ea typeface="Cambria"/>
                <a:cs typeface="Cambria"/>
                <a:sym typeface="Cambria"/>
              </a:rPr>
              <a:t>Objectives</a:t>
            </a:r>
            <a:endParaRPr sz="1800" b="0" i="0" u="none" strike="noStrike" cap="none">
              <a:solidFill>
                <a:schemeClr val="dk1"/>
              </a:solidFill>
              <a:latin typeface="Calibri"/>
              <a:ea typeface="Calibri"/>
              <a:cs typeface="Calibri"/>
              <a:sym typeface="Calibri"/>
            </a:endParaRPr>
          </a:p>
        </p:txBody>
      </p:sp>
      <p:sp>
        <p:nvSpPr>
          <p:cNvPr id="36" name="Google Shape;36;p2"/>
          <p:cNvSpPr/>
          <p:nvPr/>
        </p:nvSpPr>
        <p:spPr>
          <a:xfrm>
            <a:off x="6446520" y="2103120"/>
            <a:ext cx="4937760" cy="12344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Connect to and clean the raw data</a:t>
            </a:r>
            <a:endParaRPr sz="1400" b="0" i="0" u="none" strike="noStrike" cap="none">
              <a:solidFill>
                <a:schemeClr val="dk1"/>
              </a:solidFill>
              <a:latin typeface="Calibri"/>
              <a:ea typeface="Calibri"/>
              <a:cs typeface="Calibri"/>
              <a:sym typeface="Calibri"/>
            </a:endParaRPr>
          </a:p>
          <a:p>
            <a:pPr marL="177800" marR="0" lvl="0" indent="-177800" algn="l" rtl="0">
              <a:spcBef>
                <a:spcPts val="60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Model it into a star schema</a:t>
            </a:r>
            <a:endParaRPr sz="1400" b="0" i="0" u="none" strike="noStrike" cap="none">
              <a:solidFill>
                <a:schemeClr val="dk1"/>
              </a:solidFill>
              <a:latin typeface="Calibri"/>
              <a:ea typeface="Calibri"/>
              <a:cs typeface="Calibri"/>
              <a:sym typeface="Calibri"/>
            </a:endParaRPr>
          </a:p>
          <a:p>
            <a:pPr marL="177800" marR="0" lvl="0" indent="-177800" algn="l" rtl="0">
              <a:spcBef>
                <a:spcPts val="60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Build the DAX measures</a:t>
            </a:r>
            <a:endParaRPr sz="1400" b="0" i="0" u="none" strike="noStrike" cap="none">
              <a:solidFill>
                <a:schemeClr val="dk1"/>
              </a:solidFill>
              <a:latin typeface="Calibri"/>
              <a:ea typeface="Calibri"/>
              <a:cs typeface="Calibri"/>
              <a:sym typeface="Calibri"/>
            </a:endParaRPr>
          </a:p>
          <a:p>
            <a:pPr marL="177800" marR="0" lvl="0" indent="-177800" algn="l" rtl="0">
              <a:spcBef>
                <a:spcPts val="60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Deliver an interactive report and written insights</a:t>
            </a:r>
            <a:endParaRPr sz="1400" b="0" i="0" u="none" strike="noStrike" cap="none">
              <a:solidFill>
                <a:schemeClr val="dk1"/>
              </a:solidFill>
              <a:latin typeface="Calibri"/>
              <a:ea typeface="Calibri"/>
              <a:cs typeface="Calibri"/>
              <a:sym typeface="Calibri"/>
            </a:endParaRPr>
          </a:p>
        </p:txBody>
      </p:sp>
      <p:sp>
        <p:nvSpPr>
          <p:cNvPr id="37" name="Google Shape;37;p2"/>
          <p:cNvSpPr/>
          <p:nvPr/>
        </p:nvSpPr>
        <p:spPr>
          <a:xfrm>
            <a:off x="548640" y="3611880"/>
            <a:ext cx="11109960" cy="2788920"/>
          </a:xfrm>
          <a:prstGeom prst="roundRect">
            <a:avLst>
              <a:gd name="adj" fmla="val 2951"/>
            </a:avLst>
          </a:prstGeom>
          <a:solidFill>
            <a:srgbClr val="F5F8F1"/>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22960" y="3749040"/>
            <a:ext cx="10515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800"/>
              <a:buFont typeface="Cambria"/>
              <a:buNone/>
            </a:pPr>
            <a:r>
              <a:rPr lang="en-US" sz="1800" b="1" i="0" u="none" strike="noStrike" cap="none">
                <a:solidFill>
                  <a:srgbClr val="2C5F2D"/>
                </a:solidFill>
                <a:latin typeface="Cambria"/>
                <a:ea typeface="Cambria"/>
                <a:cs typeface="Cambria"/>
                <a:sym typeface="Cambria"/>
              </a:rPr>
              <a:t>Key questions the report must answer</a:t>
            </a:r>
            <a:endParaRPr sz="1800" b="0" i="0" u="none" strike="noStrike" cap="none">
              <a:solidFill>
                <a:schemeClr val="dk1"/>
              </a:solidFill>
              <a:latin typeface="Calibri"/>
              <a:ea typeface="Calibri"/>
              <a:cs typeface="Calibri"/>
              <a:sym typeface="Calibri"/>
            </a:endParaRPr>
          </a:p>
        </p:txBody>
      </p:sp>
      <p:sp>
        <p:nvSpPr>
          <p:cNvPr id="39" name="Google Shape;39;p2"/>
          <p:cNvSpPr/>
          <p:nvPr/>
        </p:nvSpPr>
        <p:spPr>
          <a:xfrm>
            <a:off x="868680" y="4160520"/>
            <a:ext cx="5303520" cy="210312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How much revenue, cost &amp; profit — and the margin?</a:t>
            </a:r>
            <a:endParaRPr sz="140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Is the business growing year over year?</a:t>
            </a:r>
            <a:endParaRPr sz="140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Which categories &amp; regions drive profit?</a:t>
            </a:r>
            <a:endParaRPr sz="140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43029"/>
              </a:buClr>
              <a:buSzPts val="1400"/>
              <a:buFont typeface="Calibri"/>
              <a:buChar char="•"/>
            </a:pPr>
            <a:r>
              <a:rPr lang="en-US" sz="1400" b="0" i="0" u="none" strike="noStrike" cap="none">
                <a:solidFill>
                  <a:srgbClr val="243029"/>
                </a:solidFill>
                <a:latin typeface="Calibri"/>
                <a:ea typeface="Calibri"/>
                <a:cs typeface="Calibri"/>
                <a:sym typeface="Calibri"/>
              </a:rPr>
              <a:t>Are we on track vs the $1,550,000 FY2024 target?</a:t>
            </a:r>
            <a:endParaRPr sz="1400" b="0" i="0" u="none" strike="noStrike" cap="none">
              <a:solidFill>
                <a:schemeClr val="dk1"/>
              </a:solidFill>
              <a:latin typeface="Calibri"/>
              <a:ea typeface="Calibri"/>
              <a:cs typeface="Calibri"/>
              <a:sym typeface="Calibri"/>
            </a:endParaRPr>
          </a:p>
        </p:txBody>
      </p:sp>
      <p:sp>
        <p:nvSpPr>
          <p:cNvPr id="40" name="Google Shape;40;p2"/>
          <p:cNvSpPr/>
          <p:nvPr/>
        </p:nvSpPr>
        <p:spPr>
          <a:xfrm>
            <a:off x="6309360" y="4160520"/>
            <a:ext cx="5303520" cy="210312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43029"/>
              </a:buClr>
              <a:buSzPts val="1400"/>
              <a:buFont typeface="Calibri"/>
              <a:buChar char="•"/>
            </a:pPr>
            <a:r>
              <a:rPr lang="en-US" sz="1400" b="0" i="0" u="none" strike="noStrike" cap="none" dirty="0">
                <a:solidFill>
                  <a:srgbClr val="243029"/>
                </a:solidFill>
                <a:latin typeface="Calibri"/>
                <a:ea typeface="Calibri"/>
                <a:cs typeface="Calibri"/>
                <a:sym typeface="Calibri"/>
              </a:rPr>
              <a:t>Where are our customers, geographically?</a:t>
            </a:r>
            <a:endParaRPr sz="1400" b="0" i="0" u="none" strike="noStrike" cap="none" dirty="0">
              <a:solidFill>
                <a:schemeClr val="dk1"/>
              </a:solidFill>
              <a:latin typeface="Calibri"/>
              <a:ea typeface="Calibri"/>
              <a:cs typeface="Calibri"/>
              <a:sym typeface="Calibri"/>
            </a:endParaRPr>
          </a:p>
          <a:p>
            <a:pPr marL="177800" marR="0" lvl="0" indent="-177800" algn="l" rtl="0">
              <a:spcBef>
                <a:spcPts val="900"/>
              </a:spcBef>
              <a:spcAft>
                <a:spcPts val="0"/>
              </a:spcAft>
              <a:buClr>
                <a:srgbClr val="243029"/>
              </a:buClr>
              <a:buSzPts val="1400"/>
              <a:buFont typeface="Calibri"/>
              <a:buChar char="•"/>
            </a:pPr>
            <a:r>
              <a:rPr lang="en-US" sz="1400" b="0" i="0" u="none" strike="noStrike" cap="none" dirty="0">
                <a:solidFill>
                  <a:srgbClr val="243029"/>
                </a:solidFill>
                <a:latin typeface="Calibri"/>
                <a:ea typeface="Calibri"/>
                <a:cs typeface="Calibri"/>
                <a:sym typeface="Calibri"/>
              </a:rPr>
              <a:t>When in the year do we sell the most?</a:t>
            </a:r>
            <a:endParaRPr sz="1400" b="0" i="0" u="none" strike="noStrike" cap="none" dirty="0">
              <a:solidFill>
                <a:schemeClr val="dk1"/>
              </a:solidFill>
              <a:latin typeface="Calibri"/>
              <a:ea typeface="Calibri"/>
              <a:cs typeface="Calibri"/>
              <a:sym typeface="Calibri"/>
            </a:endParaRPr>
          </a:p>
          <a:p>
            <a:pPr marL="177800" marR="0" lvl="0" indent="-88900" algn="l" rtl="0">
              <a:spcBef>
                <a:spcPts val="90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
        <p:cNvGrpSpPr/>
        <p:nvPr/>
      </p:nvGrpSpPr>
      <p:grpSpPr>
        <a:xfrm>
          <a:off x="0" y="0"/>
          <a:ext cx="0" cy="0"/>
          <a:chOff x="0" y="0"/>
          <a:chExt cx="0" cy="0"/>
        </a:xfrm>
      </p:grpSpPr>
      <p:sp>
        <p:nvSpPr>
          <p:cNvPr id="46" name="Google Shape;46;p3"/>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3</a:t>
            </a:r>
            <a:endParaRPr sz="2400" b="0" i="0" u="none" strike="noStrike" cap="none">
              <a:solidFill>
                <a:schemeClr val="dk1"/>
              </a:solidFill>
              <a:latin typeface="Calibri"/>
              <a:ea typeface="Calibri"/>
              <a:cs typeface="Calibri"/>
              <a:sym typeface="Calibri"/>
            </a:endParaRPr>
          </a:p>
        </p:txBody>
      </p:sp>
      <p:sp>
        <p:nvSpPr>
          <p:cNvPr id="48" name="Google Shape;48;p3"/>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Dataset Overview</a:t>
            </a:r>
            <a:endParaRPr sz="2900" b="0" i="0" u="none" strike="noStrike" cap="none">
              <a:solidFill>
                <a:schemeClr val="dk1"/>
              </a:solidFill>
              <a:latin typeface="Calibri"/>
              <a:ea typeface="Calibri"/>
              <a:cs typeface="Calibri"/>
              <a:sym typeface="Calibri"/>
            </a:endParaRPr>
          </a:p>
        </p:txBody>
      </p:sp>
      <p:sp>
        <p:nvSpPr>
          <p:cNvPr id="49" name="Google Shape;49;p3"/>
          <p:cNvSpPr/>
          <p:nvPr/>
        </p:nvSpPr>
        <p:spPr>
          <a:xfrm>
            <a:off x="548640" y="155448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500"/>
              <a:buFont typeface="Calibri"/>
              <a:buNone/>
            </a:pPr>
            <a:r>
              <a:rPr lang="en-US" sz="1500" b="1" i="0" u="none" strike="noStrike" cap="none">
                <a:solidFill>
                  <a:srgbClr val="2C5F2D"/>
                </a:solidFill>
                <a:latin typeface="Calibri"/>
                <a:ea typeface="Calibri"/>
                <a:cs typeface="Calibri"/>
                <a:sym typeface="Calibri"/>
              </a:rPr>
              <a:t>Source:  </a:t>
            </a:r>
            <a:r>
              <a:rPr lang="en-US" sz="1500" b="0" i="0" u="none" strike="noStrike" cap="none">
                <a:solidFill>
                  <a:srgbClr val="243029"/>
                </a:solidFill>
                <a:latin typeface="Calibri"/>
                <a:ea typeface="Calibri"/>
                <a:cs typeface="Calibri"/>
                <a:sym typeface="Calibri"/>
              </a:rPr>
              <a:t>Six raw CSV files from Summit's systems — three yearly order files, a customer list, a product catalogue, and a state-to-region lookup.</a:t>
            </a:r>
            <a:endParaRPr sz="1500" b="0" i="0" u="none" strike="noStrike" cap="none">
              <a:solidFill>
                <a:schemeClr val="dk1"/>
              </a:solidFill>
              <a:latin typeface="Calibri"/>
              <a:ea typeface="Calibri"/>
              <a:cs typeface="Calibri"/>
              <a:sym typeface="Calibri"/>
            </a:endParaRPr>
          </a:p>
        </p:txBody>
      </p:sp>
      <p:sp>
        <p:nvSpPr>
          <p:cNvPr id="50" name="Google Shape;50;p3"/>
          <p:cNvSpPr/>
          <p:nvPr/>
        </p:nvSpPr>
        <p:spPr>
          <a:xfrm>
            <a:off x="548640" y="2240280"/>
            <a:ext cx="2103120" cy="1554480"/>
          </a:xfrm>
          <a:prstGeom prst="roundRect">
            <a:avLst>
              <a:gd name="adj" fmla="val 5294"/>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548640" y="2468880"/>
            <a:ext cx="21031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5F2D"/>
              </a:buClr>
              <a:buSzPts val="3000"/>
              <a:buFont typeface="Cambria"/>
              <a:buNone/>
            </a:pPr>
            <a:r>
              <a:rPr lang="en-US" sz="3000" b="1" i="0" u="none" strike="noStrike" cap="none">
                <a:solidFill>
                  <a:srgbClr val="2C5F2D"/>
                </a:solidFill>
                <a:latin typeface="Cambria"/>
                <a:ea typeface="Cambria"/>
                <a:cs typeface="Cambria"/>
                <a:sym typeface="Cambria"/>
              </a:rPr>
              <a:t>6,700</a:t>
            </a:r>
            <a:endParaRPr sz="3000" b="0" i="0" u="none" strike="noStrike" cap="none">
              <a:solidFill>
                <a:schemeClr val="dk1"/>
              </a:solidFill>
              <a:latin typeface="Calibri"/>
              <a:ea typeface="Calibri"/>
              <a:cs typeface="Calibri"/>
              <a:sym typeface="Calibri"/>
            </a:endParaRPr>
          </a:p>
        </p:txBody>
      </p:sp>
      <p:sp>
        <p:nvSpPr>
          <p:cNvPr id="52" name="Google Shape;52;p3"/>
          <p:cNvSpPr/>
          <p:nvPr/>
        </p:nvSpPr>
        <p:spPr>
          <a:xfrm>
            <a:off x="548640" y="3200400"/>
            <a:ext cx="210312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B71"/>
              </a:buClr>
              <a:buSzPts val="1300"/>
              <a:buFont typeface="Calibri"/>
              <a:buNone/>
            </a:pPr>
            <a:r>
              <a:rPr lang="en-US" sz="1300" b="0" i="0" u="none" strike="noStrike" cap="none">
                <a:solidFill>
                  <a:srgbClr val="6E7B71"/>
                </a:solidFill>
                <a:latin typeface="Calibri"/>
                <a:ea typeface="Calibri"/>
                <a:cs typeface="Calibri"/>
                <a:sym typeface="Calibri"/>
              </a:rPr>
              <a:t>order lines</a:t>
            </a:r>
            <a:endParaRPr sz="1300" b="0" i="0" u="none" strike="noStrike" cap="none">
              <a:solidFill>
                <a:schemeClr val="dk1"/>
              </a:solidFill>
              <a:latin typeface="Calibri"/>
              <a:ea typeface="Calibri"/>
              <a:cs typeface="Calibri"/>
              <a:sym typeface="Calibri"/>
            </a:endParaRPr>
          </a:p>
        </p:txBody>
      </p:sp>
      <p:sp>
        <p:nvSpPr>
          <p:cNvPr id="53" name="Google Shape;53;p3"/>
          <p:cNvSpPr/>
          <p:nvPr/>
        </p:nvSpPr>
        <p:spPr>
          <a:xfrm>
            <a:off x="2816352" y="2240280"/>
            <a:ext cx="2103120" cy="1554480"/>
          </a:xfrm>
          <a:prstGeom prst="roundRect">
            <a:avLst>
              <a:gd name="adj" fmla="val 5294"/>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2816352" y="2468880"/>
            <a:ext cx="21031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5F2D"/>
              </a:buClr>
              <a:buSzPts val="3000"/>
              <a:buFont typeface="Cambria"/>
              <a:buNone/>
            </a:pPr>
            <a:r>
              <a:rPr lang="en-US" sz="3000" b="1" i="0" u="none" strike="noStrike" cap="none">
                <a:solidFill>
                  <a:srgbClr val="2C5F2D"/>
                </a:solidFill>
                <a:latin typeface="Cambria"/>
                <a:ea typeface="Cambria"/>
                <a:cs typeface="Cambria"/>
                <a:sym typeface="Cambria"/>
              </a:rPr>
              <a:t>2022–24</a:t>
            </a:r>
            <a:endParaRPr sz="3000" b="0" i="0" u="none" strike="noStrike" cap="none">
              <a:solidFill>
                <a:schemeClr val="dk1"/>
              </a:solidFill>
              <a:latin typeface="Calibri"/>
              <a:ea typeface="Calibri"/>
              <a:cs typeface="Calibri"/>
              <a:sym typeface="Calibri"/>
            </a:endParaRPr>
          </a:p>
        </p:txBody>
      </p:sp>
      <p:sp>
        <p:nvSpPr>
          <p:cNvPr id="55" name="Google Shape;55;p3"/>
          <p:cNvSpPr/>
          <p:nvPr/>
        </p:nvSpPr>
        <p:spPr>
          <a:xfrm>
            <a:off x="2816352" y="3200400"/>
            <a:ext cx="210312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B71"/>
              </a:buClr>
              <a:buSzPts val="1300"/>
              <a:buFont typeface="Calibri"/>
              <a:buNone/>
            </a:pPr>
            <a:r>
              <a:rPr lang="en-US" sz="1300" b="0" i="0" u="none" strike="noStrike" cap="none">
                <a:solidFill>
                  <a:srgbClr val="6E7B71"/>
                </a:solidFill>
                <a:latin typeface="Calibri"/>
                <a:ea typeface="Calibri"/>
                <a:cs typeface="Calibri"/>
                <a:sym typeface="Calibri"/>
              </a:rPr>
              <a:t>three years</a:t>
            </a:r>
            <a:endParaRPr sz="1300" b="0" i="0" u="none" strike="noStrike" cap="none">
              <a:solidFill>
                <a:schemeClr val="dk1"/>
              </a:solidFill>
              <a:latin typeface="Calibri"/>
              <a:ea typeface="Calibri"/>
              <a:cs typeface="Calibri"/>
              <a:sym typeface="Calibri"/>
            </a:endParaRPr>
          </a:p>
        </p:txBody>
      </p:sp>
      <p:sp>
        <p:nvSpPr>
          <p:cNvPr id="56" name="Google Shape;56;p3"/>
          <p:cNvSpPr/>
          <p:nvPr/>
        </p:nvSpPr>
        <p:spPr>
          <a:xfrm>
            <a:off x="5084064" y="2240280"/>
            <a:ext cx="2103120" cy="1554480"/>
          </a:xfrm>
          <a:prstGeom prst="roundRect">
            <a:avLst>
              <a:gd name="adj" fmla="val 5294"/>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5084064" y="2468880"/>
            <a:ext cx="21031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5F2D"/>
              </a:buClr>
              <a:buSzPts val="3000"/>
              <a:buFont typeface="Cambria"/>
              <a:buNone/>
            </a:pPr>
            <a:r>
              <a:rPr lang="en-US" sz="3000" b="1" i="0" u="none" strike="noStrike" cap="none">
                <a:solidFill>
                  <a:srgbClr val="2C5F2D"/>
                </a:solidFill>
                <a:latin typeface="Cambria"/>
                <a:ea typeface="Cambria"/>
                <a:cs typeface="Cambria"/>
                <a:sym typeface="Cambria"/>
              </a:rPr>
              <a:t>220</a:t>
            </a:r>
            <a:endParaRPr sz="3000" b="0" i="0" u="none" strike="noStrike" cap="none">
              <a:solidFill>
                <a:schemeClr val="dk1"/>
              </a:solidFill>
              <a:latin typeface="Calibri"/>
              <a:ea typeface="Calibri"/>
              <a:cs typeface="Calibri"/>
              <a:sym typeface="Calibri"/>
            </a:endParaRPr>
          </a:p>
        </p:txBody>
      </p:sp>
      <p:sp>
        <p:nvSpPr>
          <p:cNvPr id="58" name="Google Shape;58;p3"/>
          <p:cNvSpPr/>
          <p:nvPr/>
        </p:nvSpPr>
        <p:spPr>
          <a:xfrm>
            <a:off x="5084064" y="3200400"/>
            <a:ext cx="210312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B71"/>
              </a:buClr>
              <a:buSzPts val="1300"/>
              <a:buFont typeface="Calibri"/>
              <a:buNone/>
            </a:pPr>
            <a:r>
              <a:rPr lang="en-US" sz="1300" b="0" i="0" u="none" strike="noStrike" cap="none">
                <a:solidFill>
                  <a:srgbClr val="6E7B71"/>
                </a:solidFill>
                <a:latin typeface="Calibri"/>
                <a:ea typeface="Calibri"/>
                <a:cs typeface="Calibri"/>
                <a:sym typeface="Calibri"/>
              </a:rPr>
              <a:t>customers</a:t>
            </a:r>
            <a:endParaRPr sz="1300" b="0" i="0" u="none" strike="noStrike" cap="none">
              <a:solidFill>
                <a:schemeClr val="dk1"/>
              </a:solidFill>
              <a:latin typeface="Calibri"/>
              <a:ea typeface="Calibri"/>
              <a:cs typeface="Calibri"/>
              <a:sym typeface="Calibri"/>
            </a:endParaRPr>
          </a:p>
        </p:txBody>
      </p:sp>
      <p:sp>
        <p:nvSpPr>
          <p:cNvPr id="59" name="Google Shape;59;p3"/>
          <p:cNvSpPr/>
          <p:nvPr/>
        </p:nvSpPr>
        <p:spPr>
          <a:xfrm>
            <a:off x="7351776" y="2240280"/>
            <a:ext cx="2103120" cy="1554480"/>
          </a:xfrm>
          <a:prstGeom prst="roundRect">
            <a:avLst>
              <a:gd name="adj" fmla="val 5294"/>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7351776" y="2468880"/>
            <a:ext cx="21031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5F2D"/>
              </a:buClr>
              <a:buSzPts val="3000"/>
              <a:buFont typeface="Cambria"/>
              <a:buNone/>
            </a:pPr>
            <a:r>
              <a:rPr lang="en-US" sz="3000" b="1" i="0" u="none" strike="noStrike" cap="none">
                <a:solidFill>
                  <a:srgbClr val="2C5F2D"/>
                </a:solidFill>
                <a:latin typeface="Cambria"/>
                <a:ea typeface="Cambria"/>
                <a:cs typeface="Cambria"/>
                <a:sym typeface="Cambria"/>
              </a:rPr>
              <a:t>36</a:t>
            </a:r>
            <a:endParaRPr sz="3000" b="0" i="0" u="none" strike="noStrike" cap="none">
              <a:solidFill>
                <a:schemeClr val="dk1"/>
              </a:solidFill>
              <a:latin typeface="Calibri"/>
              <a:ea typeface="Calibri"/>
              <a:cs typeface="Calibri"/>
              <a:sym typeface="Calibri"/>
            </a:endParaRPr>
          </a:p>
        </p:txBody>
      </p:sp>
      <p:sp>
        <p:nvSpPr>
          <p:cNvPr id="61" name="Google Shape;61;p3"/>
          <p:cNvSpPr/>
          <p:nvPr/>
        </p:nvSpPr>
        <p:spPr>
          <a:xfrm>
            <a:off x="7351776" y="3200400"/>
            <a:ext cx="210312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B71"/>
              </a:buClr>
              <a:buSzPts val="1300"/>
              <a:buFont typeface="Calibri"/>
              <a:buNone/>
            </a:pPr>
            <a:r>
              <a:rPr lang="en-US" sz="1300" b="0" i="0" u="none" strike="noStrike" cap="none">
                <a:solidFill>
                  <a:srgbClr val="6E7B71"/>
                </a:solidFill>
                <a:latin typeface="Calibri"/>
                <a:ea typeface="Calibri"/>
                <a:cs typeface="Calibri"/>
                <a:sym typeface="Calibri"/>
              </a:rPr>
              <a:t>products</a:t>
            </a:r>
            <a:endParaRPr sz="1300" b="0" i="0" u="none" strike="noStrike" cap="none">
              <a:solidFill>
                <a:schemeClr val="dk1"/>
              </a:solidFill>
              <a:latin typeface="Calibri"/>
              <a:ea typeface="Calibri"/>
              <a:cs typeface="Calibri"/>
              <a:sym typeface="Calibri"/>
            </a:endParaRPr>
          </a:p>
        </p:txBody>
      </p:sp>
      <p:sp>
        <p:nvSpPr>
          <p:cNvPr id="62" name="Google Shape;62;p3"/>
          <p:cNvSpPr/>
          <p:nvPr/>
        </p:nvSpPr>
        <p:spPr>
          <a:xfrm>
            <a:off x="9619488" y="2240280"/>
            <a:ext cx="2103120" cy="1554480"/>
          </a:xfrm>
          <a:prstGeom prst="roundRect">
            <a:avLst>
              <a:gd name="adj" fmla="val 5294"/>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9619488" y="2468880"/>
            <a:ext cx="21031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5F2D"/>
              </a:buClr>
              <a:buSzPts val="3000"/>
              <a:buFont typeface="Cambria"/>
              <a:buNone/>
            </a:pPr>
            <a:r>
              <a:rPr lang="en-US" sz="3000" b="1" i="0" u="none" strike="noStrike" cap="none">
                <a:solidFill>
                  <a:srgbClr val="2C5F2D"/>
                </a:solidFill>
                <a:latin typeface="Cambria"/>
                <a:ea typeface="Cambria"/>
                <a:cs typeface="Cambria"/>
                <a:sym typeface="Cambria"/>
              </a:rPr>
              <a:t>26</a:t>
            </a:r>
            <a:endParaRPr sz="3000" b="0" i="0" u="none" strike="noStrike" cap="none">
              <a:solidFill>
                <a:schemeClr val="dk1"/>
              </a:solidFill>
              <a:latin typeface="Calibri"/>
              <a:ea typeface="Calibri"/>
              <a:cs typeface="Calibri"/>
              <a:sym typeface="Calibri"/>
            </a:endParaRPr>
          </a:p>
        </p:txBody>
      </p:sp>
      <p:sp>
        <p:nvSpPr>
          <p:cNvPr id="64" name="Google Shape;64;p3"/>
          <p:cNvSpPr/>
          <p:nvPr/>
        </p:nvSpPr>
        <p:spPr>
          <a:xfrm>
            <a:off x="9619488" y="3200400"/>
            <a:ext cx="210312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B71"/>
              </a:buClr>
              <a:buSzPts val="1300"/>
              <a:buFont typeface="Calibri"/>
              <a:buNone/>
            </a:pPr>
            <a:r>
              <a:rPr lang="en-US" sz="1300" b="0" i="0" u="none" strike="noStrike" cap="none">
                <a:solidFill>
                  <a:srgbClr val="6E7B71"/>
                </a:solidFill>
                <a:latin typeface="Calibri"/>
                <a:ea typeface="Calibri"/>
                <a:cs typeface="Calibri"/>
                <a:sym typeface="Calibri"/>
              </a:rPr>
              <a:t>states</a:t>
            </a:r>
            <a:endParaRPr sz="1300" b="0" i="0" u="none" strike="noStrike" cap="none">
              <a:solidFill>
                <a:schemeClr val="dk1"/>
              </a:solidFill>
              <a:latin typeface="Calibri"/>
              <a:ea typeface="Calibri"/>
              <a:cs typeface="Calibri"/>
              <a:sym typeface="Calibri"/>
            </a:endParaRPr>
          </a:p>
        </p:txBody>
      </p:sp>
      <p:sp>
        <p:nvSpPr>
          <p:cNvPr id="65" name="Google Shape;65;p3"/>
          <p:cNvSpPr/>
          <p:nvPr/>
        </p:nvSpPr>
        <p:spPr>
          <a:xfrm>
            <a:off x="548640" y="4160520"/>
            <a:ext cx="1110996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22960" y="4297680"/>
            <a:ext cx="10515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800"/>
              <a:buFont typeface="Cambria"/>
              <a:buNone/>
            </a:pPr>
            <a:r>
              <a:rPr lang="en-US" sz="1800" b="1" i="0" u="none" strike="noStrike" cap="none">
                <a:solidFill>
                  <a:srgbClr val="2C5F2D"/>
                </a:solidFill>
                <a:latin typeface="Cambria"/>
                <a:ea typeface="Cambria"/>
                <a:cs typeface="Cambria"/>
                <a:sym typeface="Cambria"/>
              </a:rPr>
              <a:t>Relevance to the project</a:t>
            </a:r>
            <a:endParaRPr sz="1800" b="0" i="0" u="none" strike="noStrike" cap="none">
              <a:solidFill>
                <a:schemeClr val="dk1"/>
              </a:solidFill>
              <a:latin typeface="Calibri"/>
              <a:ea typeface="Calibri"/>
              <a:cs typeface="Calibri"/>
              <a:sym typeface="Calibri"/>
            </a:endParaRPr>
          </a:p>
        </p:txBody>
      </p:sp>
      <p:sp>
        <p:nvSpPr>
          <p:cNvPr id="67" name="Google Shape;67;p3"/>
          <p:cNvSpPr/>
          <p:nvPr/>
        </p:nvSpPr>
        <p:spPr>
          <a:xfrm>
            <a:off x="822960" y="4709160"/>
            <a:ext cx="10515600"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400"/>
              <a:buFont typeface="Calibri"/>
              <a:buNone/>
            </a:pPr>
            <a:r>
              <a:rPr lang="en-US" sz="1400" b="0" i="0" u="none" strike="noStrike" cap="none">
                <a:solidFill>
                  <a:srgbClr val="243029"/>
                </a:solidFill>
                <a:latin typeface="Calibri"/>
                <a:ea typeface="Calibri"/>
                <a:cs typeface="Calibri"/>
                <a:sym typeface="Calibri"/>
              </a:rPr>
              <a:t>The data spans sales, products, customers, geography, and time — every dimension the business questions need. Revenue, cost, and profit come from the order lines and the product costs; growth comes from three years of dates; and the customer states let us map demand. It is enough to answer all seven questions end to end.</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4"/>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4</a:t>
            </a:r>
            <a:endParaRPr sz="2400" b="0" i="0" u="none" strike="noStrike" cap="none">
              <a:solidFill>
                <a:schemeClr val="dk1"/>
              </a:solidFill>
              <a:latin typeface="Calibri"/>
              <a:ea typeface="Calibri"/>
              <a:cs typeface="Calibri"/>
              <a:sym typeface="Calibri"/>
            </a:endParaRPr>
          </a:p>
        </p:txBody>
      </p:sp>
      <p:sp>
        <p:nvSpPr>
          <p:cNvPr id="75" name="Google Shape;75;p4"/>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Dataset Structure</a:t>
            </a:r>
            <a:endParaRPr sz="2900" b="0" i="0" u="none" strike="noStrike" cap="none">
              <a:solidFill>
                <a:schemeClr val="dk1"/>
              </a:solidFill>
              <a:latin typeface="Calibri"/>
              <a:ea typeface="Calibri"/>
              <a:cs typeface="Calibri"/>
              <a:sym typeface="Calibri"/>
            </a:endParaRPr>
          </a:p>
        </p:txBody>
      </p:sp>
      <p:grpSp>
        <p:nvGrpSpPr>
          <p:cNvPr id="2" name="Group 1">
            <a:extLst>
              <a:ext uri="{FF2B5EF4-FFF2-40B4-BE49-F238E27FC236}">
                <a16:creationId xmlns:a16="http://schemas.microsoft.com/office/drawing/2014/main" id="{7E449F4E-A53E-BA91-B9A5-5CF2F73F75F6}"/>
              </a:ext>
            </a:extLst>
          </p:cNvPr>
          <p:cNvGrpSpPr/>
          <p:nvPr/>
        </p:nvGrpSpPr>
        <p:grpSpPr>
          <a:xfrm>
            <a:off x="9829800" y="1663456"/>
            <a:ext cx="2111829" cy="4751513"/>
            <a:chOff x="6400800" y="1600200"/>
            <a:chExt cx="5257800" cy="4567428"/>
          </a:xfrm>
        </p:grpSpPr>
        <p:sp>
          <p:nvSpPr>
            <p:cNvPr id="88" name="Google Shape;88;p4"/>
            <p:cNvSpPr/>
            <p:nvPr/>
          </p:nvSpPr>
          <p:spPr>
            <a:xfrm>
              <a:off x="6400800" y="1600200"/>
              <a:ext cx="5257800" cy="4480560"/>
            </a:xfrm>
            <a:prstGeom prst="roundRect">
              <a:avLst>
                <a:gd name="adj" fmla="val 1837"/>
              </a:avLst>
            </a:prstGeom>
            <a:solidFill>
              <a:srgbClr val="F5F8F1"/>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6675120" y="1783080"/>
              <a:ext cx="47548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800"/>
                <a:buFont typeface="Cambria"/>
                <a:buNone/>
              </a:pPr>
              <a:r>
                <a:rPr lang="en-US" sz="1800" b="1" i="0" u="none" strike="noStrike" cap="none">
                  <a:solidFill>
                    <a:srgbClr val="2C5F2D"/>
                  </a:solidFill>
                  <a:latin typeface="Cambria"/>
                  <a:ea typeface="Cambria"/>
                  <a:cs typeface="Cambria"/>
                  <a:sym typeface="Cambria"/>
                </a:rPr>
                <a:t>Key variables by type</a:t>
              </a:r>
              <a:endParaRPr sz="1800" b="0" i="0" u="none" strike="noStrike" cap="none">
                <a:solidFill>
                  <a:schemeClr val="dk1"/>
                </a:solidFill>
                <a:latin typeface="Calibri"/>
                <a:ea typeface="Calibri"/>
                <a:cs typeface="Calibri"/>
                <a:sym typeface="Calibri"/>
              </a:endParaRPr>
            </a:p>
          </p:txBody>
        </p:sp>
        <p:sp>
          <p:nvSpPr>
            <p:cNvPr id="90" name="Google Shape;90;p4"/>
            <p:cNvSpPr/>
            <p:nvPr/>
          </p:nvSpPr>
          <p:spPr>
            <a:xfrm>
              <a:off x="6675120" y="2240280"/>
              <a:ext cx="4754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a:solidFill>
                    <a:srgbClr val="C77F33"/>
                  </a:solidFill>
                  <a:latin typeface="Calibri"/>
                  <a:ea typeface="Calibri"/>
                  <a:cs typeface="Calibri"/>
                  <a:sym typeface="Calibri"/>
                </a:rPr>
                <a:t>Categorical</a:t>
              </a:r>
              <a:endParaRPr sz="1350" b="0" i="0" u="none" strike="noStrike" cap="none">
                <a:solidFill>
                  <a:schemeClr val="dk1"/>
                </a:solidFill>
                <a:latin typeface="Calibri"/>
                <a:ea typeface="Calibri"/>
                <a:cs typeface="Calibri"/>
                <a:sym typeface="Calibri"/>
              </a:endParaRPr>
            </a:p>
          </p:txBody>
        </p:sp>
        <p:sp>
          <p:nvSpPr>
            <p:cNvPr id="91" name="Google Shape;91;p4"/>
            <p:cNvSpPr/>
            <p:nvPr/>
          </p:nvSpPr>
          <p:spPr>
            <a:xfrm>
              <a:off x="6675120" y="2532888"/>
              <a:ext cx="47548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a:solidFill>
                    <a:srgbClr val="243029"/>
                  </a:solidFill>
                  <a:latin typeface="Calibri"/>
                  <a:ea typeface="Calibri"/>
                  <a:cs typeface="Calibri"/>
                  <a:sym typeface="Calibri"/>
                </a:rPr>
                <a:t>Category, Subcategory, Region, State, Segment, Channel</a:t>
              </a:r>
              <a:endParaRPr sz="1300" b="0" i="0" u="none" strike="noStrike" cap="none">
                <a:solidFill>
                  <a:schemeClr val="dk1"/>
                </a:solidFill>
                <a:latin typeface="Calibri"/>
                <a:ea typeface="Calibri"/>
                <a:cs typeface="Calibri"/>
                <a:sym typeface="Calibri"/>
              </a:endParaRPr>
            </a:p>
          </p:txBody>
        </p:sp>
        <p:sp>
          <p:nvSpPr>
            <p:cNvPr id="92" name="Google Shape;92;p4"/>
            <p:cNvSpPr/>
            <p:nvPr/>
          </p:nvSpPr>
          <p:spPr>
            <a:xfrm>
              <a:off x="6675120" y="3044952"/>
              <a:ext cx="4754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a:solidFill>
                    <a:srgbClr val="C77F33"/>
                  </a:solidFill>
                  <a:latin typeface="Calibri"/>
                  <a:ea typeface="Calibri"/>
                  <a:cs typeface="Calibri"/>
                  <a:sym typeface="Calibri"/>
                </a:rPr>
                <a:t>Numerical</a:t>
              </a:r>
              <a:endParaRPr sz="1350" b="0" i="0" u="none" strike="noStrike" cap="none">
                <a:solidFill>
                  <a:schemeClr val="dk1"/>
                </a:solidFill>
                <a:latin typeface="Calibri"/>
                <a:ea typeface="Calibri"/>
                <a:cs typeface="Calibri"/>
                <a:sym typeface="Calibri"/>
              </a:endParaRPr>
            </a:p>
          </p:txBody>
        </p:sp>
        <p:sp>
          <p:nvSpPr>
            <p:cNvPr id="93" name="Google Shape;93;p4"/>
            <p:cNvSpPr/>
            <p:nvPr/>
          </p:nvSpPr>
          <p:spPr>
            <a:xfrm>
              <a:off x="6675120" y="3337560"/>
              <a:ext cx="47548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a:solidFill>
                    <a:srgbClr val="243029"/>
                  </a:solidFill>
                  <a:latin typeface="Calibri"/>
                  <a:ea typeface="Calibri"/>
                  <a:cs typeface="Calibri"/>
                  <a:sym typeface="Calibri"/>
                </a:rPr>
                <a:t>Quantity, Unit Price, Discount, Unit Cost</a:t>
              </a:r>
              <a:endParaRPr sz="1300" b="0" i="0" u="none" strike="noStrike" cap="none">
                <a:solidFill>
                  <a:schemeClr val="dk1"/>
                </a:solidFill>
                <a:latin typeface="Calibri"/>
                <a:ea typeface="Calibri"/>
                <a:cs typeface="Calibri"/>
                <a:sym typeface="Calibri"/>
              </a:endParaRPr>
            </a:p>
          </p:txBody>
        </p:sp>
        <p:sp>
          <p:nvSpPr>
            <p:cNvPr id="94" name="Google Shape;94;p4"/>
            <p:cNvSpPr/>
            <p:nvPr/>
          </p:nvSpPr>
          <p:spPr>
            <a:xfrm>
              <a:off x="6675120" y="3849624"/>
              <a:ext cx="4754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a:solidFill>
                    <a:srgbClr val="C77F33"/>
                  </a:solidFill>
                  <a:latin typeface="Calibri"/>
                  <a:ea typeface="Calibri"/>
                  <a:cs typeface="Calibri"/>
                  <a:sym typeface="Calibri"/>
                </a:rPr>
                <a:t>Date</a:t>
              </a:r>
              <a:endParaRPr sz="1350" b="0" i="0" u="none" strike="noStrike" cap="none">
                <a:solidFill>
                  <a:schemeClr val="dk1"/>
                </a:solidFill>
                <a:latin typeface="Calibri"/>
                <a:ea typeface="Calibri"/>
                <a:cs typeface="Calibri"/>
                <a:sym typeface="Calibri"/>
              </a:endParaRPr>
            </a:p>
          </p:txBody>
        </p:sp>
        <p:sp>
          <p:nvSpPr>
            <p:cNvPr id="95" name="Google Shape;95;p4"/>
            <p:cNvSpPr/>
            <p:nvPr/>
          </p:nvSpPr>
          <p:spPr>
            <a:xfrm>
              <a:off x="6675120" y="4142232"/>
              <a:ext cx="47548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a:solidFill>
                    <a:srgbClr val="243029"/>
                  </a:solidFill>
                  <a:latin typeface="Calibri"/>
                  <a:ea typeface="Calibri"/>
                  <a:cs typeface="Calibri"/>
                  <a:sym typeface="Calibri"/>
                </a:rPr>
                <a:t>Order Date</a:t>
              </a:r>
              <a:endParaRPr sz="1300" b="0" i="0" u="none" strike="noStrike" cap="none">
                <a:solidFill>
                  <a:schemeClr val="dk1"/>
                </a:solidFill>
                <a:latin typeface="Calibri"/>
                <a:ea typeface="Calibri"/>
                <a:cs typeface="Calibri"/>
                <a:sym typeface="Calibri"/>
              </a:endParaRPr>
            </a:p>
          </p:txBody>
        </p:sp>
        <p:sp>
          <p:nvSpPr>
            <p:cNvPr id="96" name="Google Shape;96;p4"/>
            <p:cNvSpPr/>
            <p:nvPr/>
          </p:nvSpPr>
          <p:spPr>
            <a:xfrm>
              <a:off x="6675120" y="4654296"/>
              <a:ext cx="4754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a:solidFill>
                    <a:srgbClr val="C77F33"/>
                  </a:solidFill>
                  <a:latin typeface="Calibri"/>
                  <a:ea typeface="Calibri"/>
                  <a:cs typeface="Calibri"/>
                  <a:sym typeface="Calibri"/>
                </a:rPr>
                <a:t>Keys / IDs</a:t>
              </a:r>
              <a:endParaRPr sz="1350" b="0" i="0" u="none" strike="noStrike" cap="none">
                <a:solidFill>
                  <a:schemeClr val="dk1"/>
                </a:solidFill>
                <a:latin typeface="Calibri"/>
                <a:ea typeface="Calibri"/>
                <a:cs typeface="Calibri"/>
                <a:sym typeface="Calibri"/>
              </a:endParaRPr>
            </a:p>
          </p:txBody>
        </p:sp>
        <p:sp>
          <p:nvSpPr>
            <p:cNvPr id="97" name="Google Shape;97;p4"/>
            <p:cNvSpPr/>
            <p:nvPr/>
          </p:nvSpPr>
          <p:spPr>
            <a:xfrm>
              <a:off x="6675120" y="4946904"/>
              <a:ext cx="47548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a:solidFill>
                    <a:srgbClr val="243029"/>
                  </a:solidFill>
                  <a:latin typeface="Calibri"/>
                  <a:ea typeface="Calibri"/>
                  <a:cs typeface="Calibri"/>
                  <a:sym typeface="Calibri"/>
                </a:rPr>
                <a:t>Order ID, Customer ID, Product ID </a:t>
              </a:r>
              <a:r>
                <a:rPr lang="en-US" sz="1300" b="1" i="0" u="none" strike="noStrike" cap="none" dirty="0">
                  <a:solidFill>
                    <a:srgbClr val="243029"/>
                  </a:solidFill>
                  <a:latin typeface="Calibri"/>
                  <a:ea typeface="Calibri"/>
                  <a:cs typeface="Calibri"/>
                  <a:sym typeface="Calibri"/>
                </a:rPr>
                <a:t>(Key columns all hidden, IDs not </a:t>
              </a:r>
              <a:r>
                <a:rPr lang="en-US" sz="1300" b="1" i="0" u="none" strike="noStrike" cap="none" dirty="0" err="1">
                  <a:solidFill>
                    <a:srgbClr val="243029"/>
                  </a:solidFill>
                  <a:latin typeface="Calibri"/>
                  <a:ea typeface="Calibri"/>
                  <a:cs typeface="Calibri"/>
                  <a:sym typeface="Calibri"/>
                </a:rPr>
                <a:t>summarised</a:t>
              </a:r>
              <a:r>
                <a:rPr lang="en-US" sz="1300" b="1" i="0" u="none" strike="noStrike" cap="none" dirty="0">
                  <a:solidFill>
                    <a:srgbClr val="243029"/>
                  </a:solidFill>
                  <a:latin typeface="Calibri"/>
                  <a:ea typeface="Calibri"/>
                  <a:cs typeface="Calibri"/>
                  <a:sym typeface="Calibri"/>
                </a:rPr>
                <a:t>)</a:t>
              </a:r>
              <a:endParaRPr sz="1300" b="1" i="0" u="none" strike="noStrike" cap="none" dirty="0">
                <a:solidFill>
                  <a:schemeClr val="dk1"/>
                </a:solidFill>
                <a:latin typeface="Calibri"/>
                <a:ea typeface="Calibri"/>
                <a:cs typeface="Calibri"/>
                <a:sym typeface="Calibri"/>
              </a:endParaRPr>
            </a:p>
          </p:txBody>
        </p:sp>
        <p:sp>
          <p:nvSpPr>
            <p:cNvPr id="98" name="Google Shape;98;p4"/>
            <p:cNvSpPr/>
            <p:nvPr/>
          </p:nvSpPr>
          <p:spPr>
            <a:xfrm>
              <a:off x="6675119" y="5710428"/>
              <a:ext cx="4754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B71"/>
                </a:buClr>
                <a:buSzPts val="1150"/>
                <a:buFont typeface="Calibri"/>
                <a:buNone/>
              </a:pPr>
              <a:r>
                <a:rPr lang="en-US" sz="1150" b="0" i="1" u="none" strike="noStrike" cap="none" dirty="0">
                  <a:solidFill>
                    <a:srgbClr val="6E7B71"/>
                  </a:solidFill>
                  <a:latin typeface="Calibri"/>
                  <a:ea typeface="Calibri"/>
                  <a:cs typeface="Calibri"/>
                  <a:sym typeface="Calibri"/>
                </a:rPr>
                <a:t>Delivered as related tables — clean each, merge Region into Customers, and set the relationships.</a:t>
              </a:r>
              <a:endParaRPr sz="1150" b="0" i="0" u="none" strike="noStrike" cap="none" dirty="0">
                <a:solidFill>
                  <a:schemeClr val="dk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2F330C76-9C24-4225-04E2-E747B0CFA08F}"/>
              </a:ext>
            </a:extLst>
          </p:cNvPr>
          <p:cNvPicPr>
            <a:picLocks noChangeAspect="1"/>
          </p:cNvPicPr>
          <p:nvPr/>
        </p:nvPicPr>
        <p:blipFill>
          <a:blip r:embed="rId3"/>
          <a:srcRect/>
          <a:stretch/>
        </p:blipFill>
        <p:spPr>
          <a:xfrm>
            <a:off x="707965" y="1133856"/>
            <a:ext cx="8860578" cy="55759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p:cNvGrpSpPr/>
        <p:nvPr/>
      </p:nvGrpSpPr>
      <p:grpSpPr>
        <a:xfrm>
          <a:off x="0" y="0"/>
          <a:ext cx="0" cy="0"/>
          <a:chOff x="0" y="0"/>
          <a:chExt cx="0" cy="0"/>
        </a:xfrm>
      </p:grpSpPr>
      <p:sp>
        <p:nvSpPr>
          <p:cNvPr id="104" name="Google Shape;104;p5"/>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5</a:t>
            </a:r>
            <a:endParaRPr sz="2400" b="0" i="0" u="none" strike="noStrike" cap="none">
              <a:solidFill>
                <a:schemeClr val="dk1"/>
              </a:solidFill>
              <a:latin typeface="Calibri"/>
              <a:ea typeface="Calibri"/>
              <a:cs typeface="Calibri"/>
              <a:sym typeface="Calibri"/>
            </a:endParaRPr>
          </a:p>
        </p:txBody>
      </p:sp>
      <p:sp>
        <p:nvSpPr>
          <p:cNvPr id="106" name="Google Shape;106;p5"/>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Identified Problems in the Dataset</a:t>
            </a:r>
            <a:endParaRPr sz="2900" b="0" i="0" u="none" strike="noStrike" cap="none">
              <a:solidFill>
                <a:schemeClr val="dk1"/>
              </a:solidFill>
              <a:latin typeface="Calibri"/>
              <a:ea typeface="Calibri"/>
              <a:cs typeface="Calibri"/>
              <a:sym typeface="Calibri"/>
            </a:endParaRPr>
          </a:p>
        </p:txBody>
      </p:sp>
      <p:sp>
        <p:nvSpPr>
          <p:cNvPr id="107" name="Google Shape;107;p5"/>
          <p:cNvSpPr/>
          <p:nvPr/>
        </p:nvSpPr>
        <p:spPr>
          <a:xfrm>
            <a:off x="548640" y="1508760"/>
            <a:ext cx="109728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B71"/>
              </a:buClr>
              <a:buSzPts val="1400"/>
              <a:buFont typeface="Calibri"/>
              <a:buNone/>
            </a:pPr>
            <a:r>
              <a:rPr lang="en-US" sz="1400" b="0" i="1" u="none" strike="noStrike" cap="none">
                <a:solidFill>
                  <a:srgbClr val="6E7B71"/>
                </a:solidFill>
                <a:latin typeface="Calibri"/>
                <a:ea typeface="Calibri"/>
                <a:cs typeface="Calibri"/>
                <a:sym typeface="Calibri"/>
              </a:rPr>
              <a:t>Found by profiling the columns (column quality &amp; distribution) before modelling:</a:t>
            </a:r>
            <a:endParaRPr sz="1400" b="0" i="0" u="none" strike="noStrike" cap="none">
              <a:solidFill>
                <a:schemeClr val="dk1"/>
              </a:solidFill>
              <a:latin typeface="Calibri"/>
              <a:ea typeface="Calibri"/>
              <a:cs typeface="Calibri"/>
              <a:sym typeface="Calibri"/>
            </a:endParaRPr>
          </a:p>
        </p:txBody>
      </p:sp>
      <p:sp>
        <p:nvSpPr>
          <p:cNvPr id="108" name="Google Shape;108;p5"/>
          <p:cNvSpPr/>
          <p:nvPr/>
        </p:nvSpPr>
        <p:spPr>
          <a:xfrm>
            <a:off x="548640" y="2057400"/>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749808" y="2258568"/>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749808" y="224028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11" name="Google Shape;111;p5"/>
          <p:cNvSpPr/>
          <p:nvPr/>
        </p:nvSpPr>
        <p:spPr>
          <a:xfrm>
            <a:off x="749808" y="2734056"/>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Text dates</a:t>
            </a:r>
            <a:endParaRPr sz="1400" b="0" i="0" u="none" strike="noStrike" cap="none">
              <a:solidFill>
                <a:schemeClr val="dk1"/>
              </a:solidFill>
              <a:latin typeface="Calibri"/>
              <a:ea typeface="Calibri"/>
              <a:cs typeface="Calibri"/>
              <a:sym typeface="Calibri"/>
            </a:endParaRPr>
          </a:p>
        </p:txBody>
      </p:sp>
      <p:sp>
        <p:nvSpPr>
          <p:cNvPr id="112" name="Google Shape;112;p5"/>
          <p:cNvSpPr/>
          <p:nvPr/>
        </p:nvSpPr>
        <p:spPr>
          <a:xfrm>
            <a:off x="749808" y="3081528"/>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Order Date stored as text, not a date</a:t>
            </a:r>
            <a:endParaRPr sz="1200" b="0" i="0" u="none" strike="noStrike" cap="none">
              <a:solidFill>
                <a:schemeClr val="dk1"/>
              </a:solidFill>
              <a:latin typeface="Calibri"/>
              <a:ea typeface="Calibri"/>
              <a:cs typeface="Calibri"/>
              <a:sym typeface="Calibri"/>
            </a:endParaRPr>
          </a:p>
        </p:txBody>
      </p:sp>
      <p:sp>
        <p:nvSpPr>
          <p:cNvPr id="115" name="Google Shape;115;p5"/>
          <p:cNvSpPr/>
          <p:nvPr/>
        </p:nvSpPr>
        <p:spPr>
          <a:xfrm>
            <a:off x="3611880" y="224028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18" name="Google Shape;118;p5"/>
          <p:cNvSpPr/>
          <p:nvPr/>
        </p:nvSpPr>
        <p:spPr>
          <a:xfrm>
            <a:off x="6236208" y="2020824"/>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6473952" y="2258568"/>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6473952" y="224028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21" name="Google Shape;121;p5"/>
          <p:cNvSpPr/>
          <p:nvPr/>
        </p:nvSpPr>
        <p:spPr>
          <a:xfrm>
            <a:off x="6473952" y="2734056"/>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Combined names</a:t>
            </a:r>
            <a:endParaRPr sz="1400" b="0" i="0" u="none" strike="noStrike" cap="none">
              <a:solidFill>
                <a:schemeClr val="dk1"/>
              </a:solidFill>
              <a:latin typeface="Calibri"/>
              <a:ea typeface="Calibri"/>
              <a:cs typeface="Calibri"/>
              <a:sym typeface="Calibri"/>
            </a:endParaRPr>
          </a:p>
        </p:txBody>
      </p:sp>
      <p:sp>
        <p:nvSpPr>
          <p:cNvPr id="122" name="Google Shape;122;p5"/>
          <p:cNvSpPr/>
          <p:nvPr/>
        </p:nvSpPr>
        <p:spPr>
          <a:xfrm>
            <a:off x="6473952" y="3081528"/>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Customer Name is one 'First Last' field</a:t>
            </a:r>
            <a:endParaRPr sz="1200" b="0" i="0" u="none" strike="noStrike" cap="none">
              <a:solidFill>
                <a:schemeClr val="dk1"/>
              </a:solidFill>
              <a:latin typeface="Calibri"/>
              <a:ea typeface="Calibri"/>
              <a:cs typeface="Calibri"/>
              <a:sym typeface="Calibri"/>
            </a:endParaRPr>
          </a:p>
        </p:txBody>
      </p:sp>
      <p:sp>
        <p:nvSpPr>
          <p:cNvPr id="123" name="Google Shape;123;p5"/>
          <p:cNvSpPr/>
          <p:nvPr/>
        </p:nvSpPr>
        <p:spPr>
          <a:xfrm>
            <a:off x="9134856" y="2057400"/>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9336024" y="2258568"/>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9336024" y="224028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26" name="Google Shape;126;p5"/>
          <p:cNvSpPr/>
          <p:nvPr/>
        </p:nvSpPr>
        <p:spPr>
          <a:xfrm>
            <a:off x="9336024" y="2734056"/>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Inconsistent text</a:t>
            </a:r>
            <a:endParaRPr sz="1400" b="0" i="0" u="none" strike="noStrike" cap="none">
              <a:solidFill>
                <a:schemeClr val="dk1"/>
              </a:solidFill>
              <a:latin typeface="Calibri"/>
              <a:ea typeface="Calibri"/>
              <a:cs typeface="Calibri"/>
              <a:sym typeface="Calibri"/>
            </a:endParaRPr>
          </a:p>
        </p:txBody>
      </p:sp>
      <p:sp>
        <p:nvSpPr>
          <p:cNvPr id="127" name="Google Shape;127;p5"/>
          <p:cNvSpPr/>
          <p:nvPr/>
        </p:nvSpPr>
        <p:spPr>
          <a:xfrm>
            <a:off x="9336024" y="3081528"/>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Casing &amp; spaces in Segment, Channel, State</a:t>
            </a:r>
            <a:endParaRPr sz="1200" b="0" i="0" u="none" strike="noStrike" cap="none">
              <a:solidFill>
                <a:schemeClr val="dk1"/>
              </a:solidFill>
              <a:latin typeface="Calibri"/>
              <a:ea typeface="Calibri"/>
              <a:cs typeface="Calibri"/>
              <a:sym typeface="Calibri"/>
            </a:endParaRPr>
          </a:p>
        </p:txBody>
      </p:sp>
      <p:sp>
        <p:nvSpPr>
          <p:cNvPr id="128" name="Google Shape;128;p5"/>
          <p:cNvSpPr/>
          <p:nvPr/>
        </p:nvSpPr>
        <p:spPr>
          <a:xfrm>
            <a:off x="548640" y="3913632"/>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749808" y="4114800"/>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749808" y="4096512"/>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31" name="Google Shape;131;p5"/>
          <p:cNvSpPr/>
          <p:nvPr/>
        </p:nvSpPr>
        <p:spPr>
          <a:xfrm>
            <a:off x="749808" y="4590288"/>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Inconsistent categories</a:t>
            </a:r>
            <a:endParaRPr sz="1400" b="0" i="0" u="none" strike="noStrike" cap="none">
              <a:solidFill>
                <a:schemeClr val="dk1"/>
              </a:solidFill>
              <a:latin typeface="Calibri"/>
              <a:ea typeface="Calibri"/>
              <a:cs typeface="Calibri"/>
              <a:sym typeface="Calibri"/>
            </a:endParaRPr>
          </a:p>
        </p:txBody>
      </p:sp>
      <p:sp>
        <p:nvSpPr>
          <p:cNvPr id="132" name="Google Shape;132;p5"/>
          <p:cNvSpPr/>
          <p:nvPr/>
        </p:nvSpPr>
        <p:spPr>
          <a:xfrm>
            <a:off x="749808" y="4937760"/>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'Foot wear', 'Shoes', 'Tent' variants</a:t>
            </a:r>
            <a:endParaRPr sz="1200" b="0" i="0" u="none" strike="noStrike" cap="none">
              <a:solidFill>
                <a:schemeClr val="dk1"/>
              </a:solidFill>
              <a:latin typeface="Calibri"/>
              <a:ea typeface="Calibri"/>
              <a:cs typeface="Calibri"/>
              <a:sym typeface="Calibri"/>
            </a:endParaRPr>
          </a:p>
        </p:txBody>
      </p:sp>
      <p:grpSp>
        <p:nvGrpSpPr>
          <p:cNvPr id="3" name="Group 2">
            <a:extLst>
              <a:ext uri="{FF2B5EF4-FFF2-40B4-BE49-F238E27FC236}">
                <a16:creationId xmlns:a16="http://schemas.microsoft.com/office/drawing/2014/main" id="{46ED163E-A563-46E9-CDCB-B0E96677FB86}"/>
              </a:ext>
            </a:extLst>
          </p:cNvPr>
          <p:cNvGrpSpPr/>
          <p:nvPr/>
        </p:nvGrpSpPr>
        <p:grpSpPr>
          <a:xfrm>
            <a:off x="3398520" y="2058706"/>
            <a:ext cx="2697480" cy="1691640"/>
            <a:chOff x="3410712" y="3913632"/>
            <a:chExt cx="2697480" cy="1691640"/>
          </a:xfrm>
        </p:grpSpPr>
        <p:sp>
          <p:nvSpPr>
            <p:cNvPr id="133" name="Google Shape;133;p5"/>
            <p:cNvSpPr/>
            <p:nvPr/>
          </p:nvSpPr>
          <p:spPr>
            <a:xfrm>
              <a:off x="3410712" y="3913632"/>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3611880" y="4114800"/>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5"/>
            <p:cNvSpPr/>
            <p:nvPr/>
          </p:nvSpPr>
          <p:spPr>
            <a:xfrm>
              <a:off x="3611880" y="4096512"/>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dirty="0">
                  <a:solidFill>
                    <a:srgbClr val="FFFFFF"/>
                  </a:solidFill>
                  <a:latin typeface="Cambria"/>
                  <a:ea typeface="Cambria"/>
                  <a:cs typeface="Cambria"/>
                  <a:sym typeface="Cambria"/>
                </a:rPr>
                <a:t>!</a:t>
              </a:r>
              <a:endParaRPr sz="1800" b="0" i="0" u="none" strike="noStrike" cap="none" dirty="0">
                <a:solidFill>
                  <a:schemeClr val="dk1"/>
                </a:solidFill>
                <a:latin typeface="Calibri"/>
                <a:ea typeface="Calibri"/>
                <a:cs typeface="Calibri"/>
                <a:sym typeface="Calibri"/>
              </a:endParaRPr>
            </a:p>
          </p:txBody>
        </p:sp>
        <p:sp>
          <p:nvSpPr>
            <p:cNvPr id="136" name="Google Shape;136;p5"/>
            <p:cNvSpPr/>
            <p:nvPr/>
          </p:nvSpPr>
          <p:spPr>
            <a:xfrm>
              <a:off x="3611880" y="4590288"/>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Blank values</a:t>
              </a:r>
              <a:endParaRPr sz="1400" b="0" i="0" u="none" strike="noStrike" cap="none">
                <a:solidFill>
                  <a:schemeClr val="dk1"/>
                </a:solidFill>
                <a:latin typeface="Calibri"/>
                <a:ea typeface="Calibri"/>
                <a:cs typeface="Calibri"/>
                <a:sym typeface="Calibri"/>
              </a:endParaRPr>
            </a:p>
          </p:txBody>
        </p:sp>
        <p:sp>
          <p:nvSpPr>
            <p:cNvPr id="137" name="Google Shape;137;p5"/>
            <p:cNvSpPr/>
            <p:nvPr/>
          </p:nvSpPr>
          <p:spPr>
            <a:xfrm>
              <a:off x="3611880" y="4937760"/>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Discount blank when there was none</a:t>
              </a:r>
              <a:endParaRPr sz="1200" b="0" i="0" u="none" strike="noStrike" cap="none">
                <a:solidFill>
                  <a:schemeClr val="dk1"/>
                </a:solidFill>
                <a:latin typeface="Calibri"/>
                <a:ea typeface="Calibri"/>
                <a:cs typeface="Calibri"/>
                <a:sym typeface="Calibri"/>
              </a:endParaRPr>
            </a:p>
          </p:txBody>
        </p:sp>
      </p:grpSp>
      <p:sp>
        <p:nvSpPr>
          <p:cNvPr id="138" name="Google Shape;138;p5"/>
          <p:cNvSpPr/>
          <p:nvPr/>
        </p:nvSpPr>
        <p:spPr>
          <a:xfrm>
            <a:off x="6272784" y="3913632"/>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6473952" y="4114800"/>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6473952" y="4096512"/>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41" name="Google Shape;141;p5"/>
          <p:cNvSpPr/>
          <p:nvPr/>
        </p:nvSpPr>
        <p:spPr>
          <a:xfrm>
            <a:off x="6473952" y="4590288"/>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Duplicates</a:t>
            </a:r>
            <a:endParaRPr sz="1400" b="0" i="0" u="none" strike="noStrike" cap="none">
              <a:solidFill>
                <a:schemeClr val="dk1"/>
              </a:solidFill>
              <a:latin typeface="Calibri"/>
              <a:ea typeface="Calibri"/>
              <a:cs typeface="Calibri"/>
              <a:sym typeface="Calibri"/>
            </a:endParaRPr>
          </a:p>
        </p:txBody>
      </p:sp>
      <p:sp>
        <p:nvSpPr>
          <p:cNvPr id="142" name="Google Shape;142;p5"/>
          <p:cNvSpPr/>
          <p:nvPr/>
        </p:nvSpPr>
        <p:spPr>
          <a:xfrm>
            <a:off x="6473952" y="4937760"/>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12 repeated order rows across the files</a:t>
            </a:r>
            <a:endParaRPr sz="1200" b="0" i="0" u="none" strike="noStrike" cap="none">
              <a:solidFill>
                <a:schemeClr val="dk1"/>
              </a:solidFill>
              <a:latin typeface="Calibri"/>
              <a:ea typeface="Calibri"/>
              <a:cs typeface="Calibri"/>
              <a:sym typeface="Calibri"/>
            </a:endParaRPr>
          </a:p>
        </p:txBody>
      </p:sp>
      <p:grpSp>
        <p:nvGrpSpPr>
          <p:cNvPr id="4" name="Group 3">
            <a:extLst>
              <a:ext uri="{FF2B5EF4-FFF2-40B4-BE49-F238E27FC236}">
                <a16:creationId xmlns:a16="http://schemas.microsoft.com/office/drawing/2014/main" id="{51B8981D-B8E5-AAC1-2A39-AFB1362D726A}"/>
              </a:ext>
            </a:extLst>
          </p:cNvPr>
          <p:cNvGrpSpPr/>
          <p:nvPr/>
        </p:nvGrpSpPr>
        <p:grpSpPr>
          <a:xfrm>
            <a:off x="3378490" y="3913632"/>
            <a:ext cx="2697480" cy="1691640"/>
            <a:chOff x="9134856" y="3913632"/>
            <a:chExt cx="2697480" cy="1691640"/>
          </a:xfrm>
        </p:grpSpPr>
        <p:sp>
          <p:nvSpPr>
            <p:cNvPr id="143" name="Google Shape;143;p5"/>
            <p:cNvSpPr/>
            <p:nvPr/>
          </p:nvSpPr>
          <p:spPr>
            <a:xfrm>
              <a:off x="9134856" y="3913632"/>
              <a:ext cx="2697480" cy="1691640"/>
            </a:xfrm>
            <a:prstGeom prst="roundRect">
              <a:avLst>
                <a:gd name="adj" fmla="val 4865"/>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9336024" y="4114800"/>
              <a:ext cx="384048" cy="384048"/>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9336024" y="4096512"/>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mbria"/>
                <a:buNone/>
              </a:pPr>
              <a:r>
                <a:rPr lang="en-US" sz="1800" b="1" i="0" u="none" strike="noStrike" cap="none">
                  <a:solidFill>
                    <a:srgbClr val="FFFFFF"/>
                  </a:solidFill>
                  <a:latin typeface="Cambria"/>
                  <a:ea typeface="Cambria"/>
                  <a:cs typeface="Cambria"/>
                  <a:sym typeface="Cambria"/>
                </a:rPr>
                <a:t>!</a:t>
              </a:r>
              <a:endParaRPr sz="1800" b="0" i="0" u="none" strike="noStrike" cap="none">
                <a:solidFill>
                  <a:schemeClr val="dk1"/>
                </a:solidFill>
                <a:latin typeface="Calibri"/>
                <a:ea typeface="Calibri"/>
                <a:cs typeface="Calibri"/>
                <a:sym typeface="Calibri"/>
              </a:endParaRPr>
            </a:p>
          </p:txBody>
        </p:sp>
        <p:sp>
          <p:nvSpPr>
            <p:cNvPr id="146" name="Google Shape;146;p5"/>
            <p:cNvSpPr/>
            <p:nvPr/>
          </p:nvSpPr>
          <p:spPr>
            <a:xfrm>
              <a:off x="9336024" y="4590288"/>
              <a:ext cx="229514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400"/>
                <a:buFont typeface="Calibri"/>
                <a:buNone/>
              </a:pPr>
              <a:r>
                <a:rPr lang="en-US" sz="1400" b="1" i="0" u="none" strike="noStrike" cap="none">
                  <a:solidFill>
                    <a:srgbClr val="1F3D2E"/>
                  </a:solidFill>
                  <a:latin typeface="Calibri"/>
                  <a:ea typeface="Calibri"/>
                  <a:cs typeface="Calibri"/>
                  <a:sym typeface="Calibri"/>
                </a:rPr>
                <a:t>Partial year</a:t>
              </a:r>
              <a:endParaRPr sz="1400" b="0" i="0" u="none" strike="noStrike" cap="none">
                <a:solidFill>
                  <a:schemeClr val="dk1"/>
                </a:solidFill>
                <a:latin typeface="Calibri"/>
                <a:ea typeface="Calibri"/>
                <a:cs typeface="Calibri"/>
                <a:sym typeface="Calibri"/>
              </a:endParaRPr>
            </a:p>
          </p:txBody>
        </p:sp>
        <p:sp>
          <p:nvSpPr>
            <p:cNvPr id="147" name="Google Shape;147;p5"/>
            <p:cNvSpPr/>
            <p:nvPr/>
          </p:nvSpPr>
          <p:spPr>
            <a:xfrm>
              <a:off x="9336024" y="4937760"/>
              <a:ext cx="229514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00"/>
                <a:buFont typeface="Calibri"/>
                <a:buNone/>
              </a:pPr>
              <a:r>
                <a:rPr lang="en-US" sz="1200" b="0" i="0" u="none" strike="noStrike" cap="none">
                  <a:solidFill>
                    <a:srgbClr val="6E7B71"/>
                  </a:solidFill>
                  <a:latin typeface="Calibri"/>
                  <a:ea typeface="Calibri"/>
                  <a:cs typeface="Calibri"/>
                  <a:sym typeface="Calibri"/>
                </a:rPr>
                <a:t>2024 runs to August only</a:t>
              </a:r>
              <a:endParaRPr sz="12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
        <p:cNvGrpSpPr/>
        <p:nvPr/>
      </p:nvGrpSpPr>
      <p:grpSpPr>
        <a:xfrm>
          <a:off x="0" y="0"/>
          <a:ext cx="0" cy="0"/>
          <a:chOff x="0" y="0"/>
          <a:chExt cx="0" cy="0"/>
        </a:xfrm>
      </p:grpSpPr>
      <p:sp>
        <p:nvSpPr>
          <p:cNvPr id="153" name="Google Shape;153;p6"/>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6</a:t>
            </a:r>
            <a:endParaRPr sz="2400" b="0" i="0" u="none" strike="noStrike" cap="none">
              <a:solidFill>
                <a:schemeClr val="dk1"/>
              </a:solidFill>
              <a:latin typeface="Calibri"/>
              <a:ea typeface="Calibri"/>
              <a:cs typeface="Calibri"/>
              <a:sym typeface="Calibri"/>
            </a:endParaRPr>
          </a:p>
        </p:txBody>
      </p:sp>
      <p:sp>
        <p:nvSpPr>
          <p:cNvPr id="155" name="Google Shape;155;p6"/>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Data Cleaning Process</a:t>
            </a:r>
            <a:endParaRPr sz="2900" b="0" i="0" u="none" strike="noStrike" cap="none">
              <a:solidFill>
                <a:schemeClr val="dk1"/>
              </a:solidFill>
              <a:latin typeface="Calibri"/>
              <a:ea typeface="Calibri"/>
              <a:cs typeface="Calibri"/>
              <a:sym typeface="Calibri"/>
            </a:endParaRPr>
          </a:p>
        </p:txBody>
      </p:sp>
      <p:sp>
        <p:nvSpPr>
          <p:cNvPr id="156" name="Google Shape;156;p6"/>
          <p:cNvSpPr/>
          <p:nvPr/>
        </p:nvSpPr>
        <p:spPr>
          <a:xfrm>
            <a:off x="548640" y="150876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00"/>
              <a:buFont typeface="Calibri"/>
              <a:buNone/>
            </a:pPr>
            <a:r>
              <a:rPr lang="en-US" sz="1200" b="1" i="0" u="none" strike="noStrike" cap="none">
                <a:solidFill>
                  <a:srgbClr val="C77F33"/>
                </a:solidFill>
                <a:latin typeface="Calibri"/>
                <a:ea typeface="Calibri"/>
                <a:cs typeface="Calibri"/>
                <a:sym typeface="Calibri"/>
              </a:rPr>
              <a:t>YOUR TASK   </a:t>
            </a:r>
            <a:r>
              <a:rPr lang="en-US" sz="1300" b="0" i="1" u="none" strike="noStrike" cap="none">
                <a:solidFill>
                  <a:srgbClr val="6E7B71"/>
                </a:solidFill>
                <a:latin typeface="Calibri"/>
                <a:ea typeface="Calibri"/>
                <a:cs typeface="Calibri"/>
                <a:sym typeface="Calibri"/>
              </a:rPr>
              <a:t>For each issue you found, record the step you took and why.</a:t>
            </a:r>
            <a:endParaRPr sz="1200" b="0" i="0" u="none" strike="noStrike" cap="none">
              <a:solidFill>
                <a:schemeClr val="dk1"/>
              </a:solidFill>
              <a:latin typeface="Calibri"/>
              <a:ea typeface="Calibri"/>
              <a:cs typeface="Calibri"/>
              <a:sym typeface="Calibri"/>
            </a:endParaRPr>
          </a:p>
        </p:txBody>
      </p:sp>
      <p:sp>
        <p:nvSpPr>
          <p:cNvPr id="157" name="Google Shape;157;p6"/>
          <p:cNvSpPr/>
          <p:nvPr/>
        </p:nvSpPr>
        <p:spPr>
          <a:xfrm>
            <a:off x="579120" y="2148840"/>
            <a:ext cx="6810103" cy="4114800"/>
          </a:xfrm>
          <a:prstGeom prst="roundRect">
            <a:avLst>
              <a:gd name="adj" fmla="val 2000"/>
            </a:avLst>
          </a:prstGeom>
          <a:solidFill>
            <a:srgbClr val="F5F8F1"/>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6"/>
          <p:cNvSpPr/>
          <p:nvPr/>
        </p:nvSpPr>
        <p:spPr>
          <a:xfrm>
            <a:off x="868680" y="2194560"/>
            <a:ext cx="4206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400"/>
              <a:buFont typeface="Calibri"/>
              <a:buNone/>
            </a:pPr>
            <a:r>
              <a:rPr lang="en-US" sz="1400" b="1" i="0" u="none" strike="noStrike" cap="none">
                <a:solidFill>
                  <a:srgbClr val="2C5F2D"/>
                </a:solidFill>
                <a:latin typeface="Calibri"/>
                <a:ea typeface="Calibri"/>
                <a:cs typeface="Calibri"/>
                <a:sym typeface="Calibri"/>
              </a:rPr>
              <a:t>Issue (from profiling)</a:t>
            </a:r>
            <a:endParaRPr sz="1400" b="0" i="0" u="none" strike="noStrike" cap="none">
              <a:solidFill>
                <a:schemeClr val="dk1"/>
              </a:solidFill>
              <a:latin typeface="Calibri"/>
              <a:ea typeface="Calibri"/>
              <a:cs typeface="Calibri"/>
              <a:sym typeface="Calibri"/>
            </a:endParaRPr>
          </a:p>
        </p:txBody>
      </p:sp>
      <p:sp>
        <p:nvSpPr>
          <p:cNvPr id="159" name="Google Shape;159;p6"/>
          <p:cNvSpPr/>
          <p:nvPr/>
        </p:nvSpPr>
        <p:spPr>
          <a:xfrm>
            <a:off x="5303520" y="2194560"/>
            <a:ext cx="60350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400"/>
              <a:buFont typeface="Calibri"/>
              <a:buNone/>
            </a:pPr>
            <a:r>
              <a:rPr lang="en-US" sz="1400" b="1" i="0" u="none" strike="noStrike" cap="none">
                <a:solidFill>
                  <a:srgbClr val="2C5F2D"/>
                </a:solidFill>
                <a:latin typeface="Calibri"/>
                <a:ea typeface="Calibri"/>
                <a:cs typeface="Calibri"/>
                <a:sym typeface="Calibri"/>
              </a:rPr>
              <a:t>Your fix &amp; justification</a:t>
            </a:r>
            <a:endParaRPr sz="1400" b="0" i="0" u="none" strike="noStrike" cap="none">
              <a:solidFill>
                <a:schemeClr val="dk1"/>
              </a:solidFill>
              <a:latin typeface="Calibri"/>
              <a:ea typeface="Calibri"/>
              <a:cs typeface="Calibri"/>
              <a:sym typeface="Calibri"/>
            </a:endParaRPr>
          </a:p>
        </p:txBody>
      </p:sp>
      <p:sp>
        <p:nvSpPr>
          <p:cNvPr id="160" name="Google Shape;160;p6"/>
          <p:cNvSpPr/>
          <p:nvPr/>
        </p:nvSpPr>
        <p:spPr>
          <a:xfrm>
            <a:off x="868680" y="2697480"/>
            <a:ext cx="42976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a:solidFill>
                  <a:srgbClr val="243029"/>
                </a:solidFill>
                <a:latin typeface="Calibri"/>
                <a:ea typeface="Calibri"/>
                <a:cs typeface="Calibri"/>
                <a:sym typeface="Calibri"/>
              </a:rPr>
              <a:t>Text dates → </a:t>
            </a:r>
            <a:endParaRPr sz="1300" b="0" i="0" u="none" strike="noStrike" cap="none">
              <a:solidFill>
                <a:schemeClr val="dk1"/>
              </a:solidFill>
              <a:latin typeface="Calibri"/>
              <a:ea typeface="Calibri"/>
              <a:cs typeface="Calibri"/>
              <a:sym typeface="Calibri"/>
            </a:endParaRPr>
          </a:p>
        </p:txBody>
      </p:sp>
      <p:sp>
        <p:nvSpPr>
          <p:cNvPr id="161" name="Google Shape;161;p6"/>
          <p:cNvSpPr/>
          <p:nvPr/>
        </p:nvSpPr>
        <p:spPr>
          <a:xfrm>
            <a:off x="4687388" y="2555966"/>
            <a:ext cx="6035040" cy="57733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a:t>
            </a:r>
            <a:r>
              <a:rPr lang="en-US" sz="1250" i="1" dirty="0">
                <a:solidFill>
                  <a:srgbClr val="6E7B71"/>
                </a:solidFill>
                <a:latin typeface="Calibri"/>
                <a:ea typeface="Calibri"/>
                <a:cs typeface="Calibri"/>
                <a:sym typeface="Calibri"/>
              </a:rPr>
              <a:t>Changed the data type to short date,</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so that there are no issues when </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creating date table/using dates</a:t>
            </a:r>
          </a:p>
        </p:txBody>
      </p:sp>
      <p:sp>
        <p:nvSpPr>
          <p:cNvPr id="164" name="Google Shape;164;p6"/>
          <p:cNvSpPr/>
          <p:nvPr/>
        </p:nvSpPr>
        <p:spPr>
          <a:xfrm>
            <a:off x="877824" y="3404663"/>
            <a:ext cx="42976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a:solidFill>
                  <a:srgbClr val="243029"/>
                </a:solidFill>
                <a:latin typeface="Calibri"/>
                <a:ea typeface="Calibri"/>
                <a:cs typeface="Calibri"/>
                <a:sym typeface="Calibri"/>
              </a:rPr>
              <a:t>Combined customer name → </a:t>
            </a:r>
            <a:endParaRPr sz="1300" b="0" i="0" u="none" strike="noStrike" cap="none" dirty="0">
              <a:solidFill>
                <a:schemeClr val="dk1"/>
              </a:solidFill>
              <a:latin typeface="Calibri"/>
              <a:ea typeface="Calibri"/>
              <a:cs typeface="Calibri"/>
              <a:sym typeface="Calibri"/>
            </a:endParaRPr>
          </a:p>
        </p:txBody>
      </p:sp>
      <p:sp>
        <p:nvSpPr>
          <p:cNvPr id="165" name="Google Shape;165;p6"/>
          <p:cNvSpPr/>
          <p:nvPr/>
        </p:nvSpPr>
        <p:spPr>
          <a:xfrm>
            <a:off x="4687388" y="3358943"/>
            <a:ext cx="6035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a:t>
            </a:r>
            <a:r>
              <a:rPr lang="en-US" sz="1250" i="1" dirty="0">
                <a:solidFill>
                  <a:srgbClr val="6E7B71"/>
                </a:solidFill>
                <a:latin typeface="Calibri"/>
                <a:ea typeface="Calibri"/>
                <a:cs typeface="Calibri"/>
                <a:sym typeface="Calibri"/>
              </a:rPr>
              <a:t>Splitting the customer's name column</a:t>
            </a:r>
          </a:p>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into first and last name so that it is </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easier to sort and filter by name</a:t>
            </a:r>
            <a:endParaRPr sz="1250" b="0" i="0" u="none" strike="noStrike" cap="none" dirty="0">
              <a:solidFill>
                <a:schemeClr val="dk1"/>
              </a:solidFill>
              <a:latin typeface="Calibri"/>
              <a:ea typeface="Calibri"/>
              <a:cs typeface="Calibri"/>
              <a:sym typeface="Calibri"/>
            </a:endParaRPr>
          </a:p>
        </p:txBody>
      </p:sp>
      <p:sp>
        <p:nvSpPr>
          <p:cNvPr id="166" name="Google Shape;166;p6"/>
          <p:cNvSpPr/>
          <p:nvPr/>
        </p:nvSpPr>
        <p:spPr>
          <a:xfrm>
            <a:off x="868680" y="4147069"/>
            <a:ext cx="42976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a:solidFill>
                  <a:srgbClr val="243029"/>
                </a:solidFill>
                <a:latin typeface="Calibri"/>
                <a:ea typeface="Calibri"/>
                <a:cs typeface="Calibri"/>
                <a:sym typeface="Calibri"/>
              </a:rPr>
              <a:t>Inconsistent text &amp; categories → </a:t>
            </a:r>
            <a:endParaRPr sz="1300" b="0" i="0" u="none" strike="noStrike" cap="none" dirty="0">
              <a:solidFill>
                <a:schemeClr val="dk1"/>
              </a:solidFill>
              <a:latin typeface="Calibri"/>
              <a:ea typeface="Calibri"/>
              <a:cs typeface="Calibri"/>
              <a:sym typeface="Calibri"/>
            </a:endParaRPr>
          </a:p>
        </p:txBody>
      </p:sp>
      <p:sp>
        <p:nvSpPr>
          <p:cNvPr id="167" name="Google Shape;167;p6"/>
          <p:cNvSpPr/>
          <p:nvPr/>
        </p:nvSpPr>
        <p:spPr>
          <a:xfrm>
            <a:off x="4687388" y="4108269"/>
            <a:ext cx="6035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Making sure that all categories are </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consistently cased and spaced allows</a:t>
            </a:r>
          </a:p>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a:t>
            </a:r>
            <a:r>
              <a:rPr lang="en-US" sz="1250" i="1" dirty="0">
                <a:solidFill>
                  <a:srgbClr val="6E7B71"/>
                </a:solidFill>
                <a:latin typeface="Calibri"/>
                <a:ea typeface="Calibri"/>
                <a:cs typeface="Calibri"/>
                <a:sym typeface="Calibri"/>
              </a:rPr>
              <a:t> for more accurate grouping. Also changed</a:t>
            </a:r>
            <a:br>
              <a:rPr lang="en-US" sz="1250" i="1" dirty="0">
                <a:solidFill>
                  <a:srgbClr val="6E7B71"/>
                </a:solidFill>
                <a:latin typeface="Calibri"/>
                <a:ea typeface="Calibri"/>
                <a:cs typeface="Calibri"/>
                <a:sym typeface="Calibri"/>
              </a:rPr>
            </a:br>
            <a:r>
              <a:rPr lang="en-US" sz="1250" i="1" dirty="0">
                <a:solidFill>
                  <a:srgbClr val="6E7B71"/>
                </a:solidFill>
                <a:latin typeface="Calibri"/>
                <a:ea typeface="Calibri"/>
                <a:cs typeface="Calibri"/>
                <a:sym typeface="Calibri"/>
              </a:rPr>
              <a:t>     ‘Shoes’ Category to ‘Footwear’</a:t>
            </a:r>
            <a:endParaRPr sz="1250" b="0" i="0" u="none" strike="noStrike" cap="none" dirty="0">
              <a:solidFill>
                <a:schemeClr val="dk1"/>
              </a:solidFill>
              <a:latin typeface="Calibri"/>
              <a:ea typeface="Calibri"/>
              <a:cs typeface="Calibri"/>
              <a:sym typeface="Calibri"/>
            </a:endParaRPr>
          </a:p>
        </p:txBody>
      </p:sp>
      <p:sp>
        <p:nvSpPr>
          <p:cNvPr id="168" name="Google Shape;168;p6"/>
          <p:cNvSpPr/>
          <p:nvPr/>
        </p:nvSpPr>
        <p:spPr>
          <a:xfrm>
            <a:off x="868680" y="4892040"/>
            <a:ext cx="42976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a:solidFill>
                  <a:srgbClr val="243029"/>
                </a:solidFill>
                <a:latin typeface="Calibri"/>
                <a:ea typeface="Calibri"/>
                <a:cs typeface="Calibri"/>
                <a:sym typeface="Calibri"/>
              </a:rPr>
              <a:t>Blank discounts → </a:t>
            </a:r>
            <a:endParaRPr sz="1300" b="0" i="0" u="none" strike="noStrike" cap="none" dirty="0">
              <a:solidFill>
                <a:schemeClr val="dk1"/>
              </a:solidFill>
              <a:latin typeface="Calibri"/>
              <a:ea typeface="Calibri"/>
              <a:cs typeface="Calibri"/>
              <a:sym typeface="Calibri"/>
            </a:endParaRPr>
          </a:p>
        </p:txBody>
      </p:sp>
      <p:sp>
        <p:nvSpPr>
          <p:cNvPr id="169" name="Google Shape;169;p6"/>
          <p:cNvSpPr/>
          <p:nvPr/>
        </p:nvSpPr>
        <p:spPr>
          <a:xfrm>
            <a:off x="4687388" y="4902427"/>
            <a:ext cx="6035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a:t>
            </a:r>
            <a:r>
              <a:rPr lang="en-US" sz="1250" i="1" dirty="0">
                <a:solidFill>
                  <a:srgbClr val="6E7B71"/>
                </a:solidFill>
                <a:latin typeface="Calibri"/>
                <a:ea typeface="Calibri"/>
                <a:cs typeface="Calibri"/>
                <a:sym typeface="Calibri"/>
              </a:rPr>
              <a:t>Replaced the blank values in discount</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with 0, Power BI will not read the blank</a:t>
            </a:r>
          </a:p>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values as 0 so I needed to change them</a:t>
            </a:r>
            <a:endParaRPr sz="1250" b="0" i="0" u="none" strike="noStrike" cap="none" dirty="0">
              <a:solidFill>
                <a:schemeClr val="dk1"/>
              </a:solidFill>
              <a:latin typeface="Calibri"/>
              <a:ea typeface="Calibri"/>
              <a:cs typeface="Calibri"/>
              <a:sym typeface="Calibri"/>
            </a:endParaRPr>
          </a:p>
        </p:txBody>
      </p:sp>
      <p:sp>
        <p:nvSpPr>
          <p:cNvPr id="170" name="Google Shape;170;p6"/>
          <p:cNvSpPr/>
          <p:nvPr/>
        </p:nvSpPr>
        <p:spPr>
          <a:xfrm>
            <a:off x="822960" y="5538762"/>
            <a:ext cx="42976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a:solidFill>
                  <a:srgbClr val="243029"/>
                </a:solidFill>
                <a:latin typeface="Calibri"/>
                <a:ea typeface="Calibri"/>
                <a:cs typeface="Calibri"/>
                <a:sym typeface="Calibri"/>
              </a:rPr>
              <a:t>Duplicate rows → </a:t>
            </a:r>
            <a:endParaRPr sz="1300" b="0" i="0" u="none" strike="noStrike" cap="none" dirty="0">
              <a:solidFill>
                <a:schemeClr val="dk1"/>
              </a:solidFill>
              <a:latin typeface="Calibri"/>
              <a:ea typeface="Calibri"/>
              <a:cs typeface="Calibri"/>
              <a:sym typeface="Calibri"/>
            </a:endParaRPr>
          </a:p>
        </p:txBody>
      </p:sp>
      <p:sp>
        <p:nvSpPr>
          <p:cNvPr id="171" name="Google Shape;171;p6"/>
          <p:cNvSpPr/>
          <p:nvPr/>
        </p:nvSpPr>
        <p:spPr>
          <a:xfrm>
            <a:off x="4687388" y="5549149"/>
            <a:ext cx="6035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Removed duplicates from each order</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table to improve the quality of the </a:t>
            </a:r>
          </a:p>
          <a:p>
            <a:pPr marL="0" marR="0" lvl="0" indent="0" algn="l" rtl="0">
              <a:spcBef>
                <a:spcPts val="0"/>
              </a:spcBef>
              <a:spcAft>
                <a:spcPts val="0"/>
              </a:spcAft>
              <a:buClr>
                <a:srgbClr val="6E7B71"/>
              </a:buClr>
              <a:buSzPts val="1250"/>
              <a:buFont typeface="Calibri"/>
              <a:buNone/>
            </a:pPr>
            <a:r>
              <a:rPr lang="en-US" sz="1250" b="0" i="1" u="none" strike="noStrike" cap="none" dirty="0">
                <a:solidFill>
                  <a:srgbClr val="6E7B71"/>
                </a:solidFill>
                <a:latin typeface="Calibri"/>
                <a:ea typeface="Calibri"/>
                <a:cs typeface="Calibri"/>
                <a:sym typeface="Calibri"/>
              </a:rPr>
              <a:t>     data, ensures data consistency and </a:t>
            </a:r>
          </a:p>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     accuracy</a:t>
            </a:r>
            <a:endParaRPr sz="1250" b="0" i="0" u="none" strike="noStrike" cap="none" dirty="0">
              <a:solidFill>
                <a:schemeClr val="dk1"/>
              </a:solidFill>
              <a:latin typeface="Calibri"/>
              <a:ea typeface="Calibri"/>
              <a:cs typeface="Calibri"/>
              <a:sym typeface="Calibri"/>
            </a:endParaRPr>
          </a:p>
        </p:txBody>
      </p:sp>
      <p:sp>
        <p:nvSpPr>
          <p:cNvPr id="172" name="Google Shape;172;p6"/>
          <p:cNvSpPr/>
          <p:nvPr/>
        </p:nvSpPr>
        <p:spPr>
          <a:xfrm>
            <a:off x="548640" y="626364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B71"/>
              </a:buClr>
              <a:buSzPts val="1150"/>
              <a:buFont typeface="Calibri"/>
              <a:buNone/>
            </a:pPr>
            <a:r>
              <a:rPr lang="en-US" sz="1150" b="0" i="1" u="none" strike="noStrike" cap="none">
                <a:solidFill>
                  <a:srgbClr val="6E7B71"/>
                </a:solidFill>
                <a:latin typeface="Calibri"/>
                <a:ea typeface="Calibri"/>
                <a:cs typeface="Calibri"/>
                <a:sym typeface="Calibri"/>
              </a:rPr>
              <a:t>Tip: the Power Query Applied Steps list is your audit trail — every fix should appear there so the pipeline survives a refresh.</a:t>
            </a:r>
            <a:endParaRPr sz="115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55C19EFD-EB0A-3A3A-A1A7-0B151AFFCF7F}"/>
              </a:ext>
            </a:extLst>
          </p:cNvPr>
          <p:cNvPicPr>
            <a:picLocks noChangeAspect="1"/>
          </p:cNvPicPr>
          <p:nvPr/>
        </p:nvPicPr>
        <p:blipFill>
          <a:blip r:embed="rId3"/>
          <a:stretch>
            <a:fillRect/>
          </a:stretch>
        </p:blipFill>
        <p:spPr>
          <a:xfrm>
            <a:off x="7905204" y="598785"/>
            <a:ext cx="1979025" cy="1611876"/>
          </a:xfrm>
          <a:prstGeom prst="rect">
            <a:avLst/>
          </a:prstGeom>
        </p:spPr>
      </p:pic>
      <p:sp>
        <p:nvSpPr>
          <p:cNvPr id="4" name="TextBox 3">
            <a:extLst>
              <a:ext uri="{FF2B5EF4-FFF2-40B4-BE49-F238E27FC236}">
                <a16:creationId xmlns:a16="http://schemas.microsoft.com/office/drawing/2014/main" id="{7543816C-58E3-22D6-F474-B95A159DD01D}"/>
              </a:ext>
            </a:extLst>
          </p:cNvPr>
          <p:cNvSpPr txBox="1"/>
          <p:nvPr/>
        </p:nvSpPr>
        <p:spPr>
          <a:xfrm>
            <a:off x="10195424" y="1175207"/>
            <a:ext cx="1578974" cy="646331"/>
          </a:xfrm>
          <a:prstGeom prst="rect">
            <a:avLst/>
          </a:prstGeom>
          <a:noFill/>
        </p:spPr>
        <p:txBody>
          <a:bodyPr wrap="square" rtlCol="0">
            <a:spAutoFit/>
          </a:bodyPr>
          <a:lstStyle/>
          <a:p>
            <a:r>
              <a:rPr lang="en-GB" sz="1200" dirty="0"/>
              <a:t>Cleaning done on each orders dataset (2022-24)</a:t>
            </a:r>
          </a:p>
        </p:txBody>
      </p:sp>
      <p:pic>
        <p:nvPicPr>
          <p:cNvPr id="6" name="Picture 5">
            <a:extLst>
              <a:ext uri="{FF2B5EF4-FFF2-40B4-BE49-F238E27FC236}">
                <a16:creationId xmlns:a16="http://schemas.microsoft.com/office/drawing/2014/main" id="{740BC164-282B-23C2-C5DC-18E878003ED9}"/>
              </a:ext>
            </a:extLst>
          </p:cNvPr>
          <p:cNvPicPr>
            <a:picLocks noChangeAspect="1"/>
          </p:cNvPicPr>
          <p:nvPr/>
        </p:nvPicPr>
        <p:blipFill>
          <a:blip r:embed="rId4"/>
          <a:srcRect/>
          <a:stretch/>
        </p:blipFill>
        <p:spPr>
          <a:xfrm>
            <a:off x="8023574" y="2457067"/>
            <a:ext cx="1922987" cy="1967917"/>
          </a:xfrm>
          <a:prstGeom prst="rect">
            <a:avLst/>
          </a:prstGeom>
        </p:spPr>
      </p:pic>
      <p:sp>
        <p:nvSpPr>
          <p:cNvPr id="7" name="TextBox 6">
            <a:extLst>
              <a:ext uri="{FF2B5EF4-FFF2-40B4-BE49-F238E27FC236}">
                <a16:creationId xmlns:a16="http://schemas.microsoft.com/office/drawing/2014/main" id="{67C5171A-6B5A-0EB4-90A3-B2C84584123C}"/>
              </a:ext>
            </a:extLst>
          </p:cNvPr>
          <p:cNvSpPr txBox="1"/>
          <p:nvPr/>
        </p:nvSpPr>
        <p:spPr>
          <a:xfrm>
            <a:off x="10195424" y="3424535"/>
            <a:ext cx="2313214" cy="461665"/>
          </a:xfrm>
          <a:prstGeom prst="rect">
            <a:avLst/>
          </a:prstGeom>
          <a:noFill/>
        </p:spPr>
        <p:txBody>
          <a:bodyPr wrap="square" rtlCol="0">
            <a:spAutoFit/>
          </a:bodyPr>
          <a:lstStyle/>
          <a:p>
            <a:r>
              <a:rPr lang="en-GB" sz="1200" dirty="0"/>
              <a:t>Cleaning done on products dataset</a:t>
            </a:r>
          </a:p>
        </p:txBody>
      </p:sp>
      <p:pic>
        <p:nvPicPr>
          <p:cNvPr id="9" name="Picture 8">
            <a:extLst>
              <a:ext uri="{FF2B5EF4-FFF2-40B4-BE49-F238E27FC236}">
                <a16:creationId xmlns:a16="http://schemas.microsoft.com/office/drawing/2014/main" id="{95C7C20E-CB05-0C10-F4ED-AF585E2465B4}"/>
              </a:ext>
            </a:extLst>
          </p:cNvPr>
          <p:cNvPicPr>
            <a:picLocks noChangeAspect="1"/>
          </p:cNvPicPr>
          <p:nvPr/>
        </p:nvPicPr>
        <p:blipFill>
          <a:blip r:embed="rId5"/>
          <a:stretch>
            <a:fillRect/>
          </a:stretch>
        </p:blipFill>
        <p:spPr>
          <a:xfrm>
            <a:off x="8154218" y="4717110"/>
            <a:ext cx="1803215" cy="1681923"/>
          </a:xfrm>
          <a:prstGeom prst="rect">
            <a:avLst/>
          </a:prstGeom>
        </p:spPr>
      </p:pic>
      <p:sp>
        <p:nvSpPr>
          <p:cNvPr id="11" name="TextBox 10">
            <a:extLst>
              <a:ext uri="{FF2B5EF4-FFF2-40B4-BE49-F238E27FC236}">
                <a16:creationId xmlns:a16="http://schemas.microsoft.com/office/drawing/2014/main" id="{EACE44BC-3E52-3CF6-840D-FDF94CF2E681}"/>
              </a:ext>
            </a:extLst>
          </p:cNvPr>
          <p:cNvSpPr txBox="1"/>
          <p:nvPr/>
        </p:nvSpPr>
        <p:spPr>
          <a:xfrm>
            <a:off x="10310434" y="5238649"/>
            <a:ext cx="1553061" cy="461665"/>
          </a:xfrm>
          <a:prstGeom prst="rect">
            <a:avLst/>
          </a:prstGeom>
          <a:noFill/>
        </p:spPr>
        <p:txBody>
          <a:bodyPr wrap="square" rtlCol="0">
            <a:spAutoFit/>
          </a:bodyPr>
          <a:lstStyle/>
          <a:p>
            <a:r>
              <a:rPr lang="en-GB" sz="1200" dirty="0"/>
              <a:t>Cleaning done on customers dataset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7"/>
        <p:cNvGrpSpPr/>
        <p:nvPr/>
      </p:nvGrpSpPr>
      <p:grpSpPr>
        <a:xfrm>
          <a:off x="0" y="0"/>
          <a:ext cx="0" cy="0"/>
          <a:chOff x="0" y="0"/>
          <a:chExt cx="0" cy="0"/>
        </a:xfrm>
      </p:grpSpPr>
      <p:sp>
        <p:nvSpPr>
          <p:cNvPr id="178" name="Google Shape;178;p7"/>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7"/>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7</a:t>
            </a:r>
            <a:endParaRPr sz="2400" b="0" i="0" u="none" strike="noStrike" cap="none">
              <a:solidFill>
                <a:schemeClr val="dk1"/>
              </a:solidFill>
              <a:latin typeface="Calibri"/>
              <a:ea typeface="Calibri"/>
              <a:cs typeface="Calibri"/>
              <a:sym typeface="Calibri"/>
            </a:endParaRPr>
          </a:p>
        </p:txBody>
      </p:sp>
      <p:sp>
        <p:nvSpPr>
          <p:cNvPr id="180" name="Google Shape;180;p7"/>
          <p:cNvSpPr/>
          <p:nvPr/>
        </p:nvSpPr>
        <p:spPr>
          <a:xfrm>
            <a:off x="1371600" y="438912"/>
            <a:ext cx="8972146" cy="74134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dirty="0">
                <a:solidFill>
                  <a:srgbClr val="1F3D2E"/>
                </a:solidFill>
                <a:latin typeface="Cambria"/>
                <a:ea typeface="Cambria"/>
                <a:cs typeface="Cambria"/>
                <a:sym typeface="Cambria"/>
              </a:rPr>
              <a:t>Data Transformation</a:t>
            </a:r>
            <a:endParaRPr sz="2900" b="0" i="0" u="none" strike="noStrike" cap="none" dirty="0">
              <a:solidFill>
                <a:schemeClr val="dk1"/>
              </a:solidFill>
              <a:latin typeface="Calibri"/>
              <a:ea typeface="Calibri"/>
              <a:cs typeface="Calibri"/>
              <a:sym typeface="Calibri"/>
            </a:endParaRPr>
          </a:p>
        </p:txBody>
      </p:sp>
      <p:sp>
        <p:nvSpPr>
          <p:cNvPr id="181" name="Google Shape;181;p7"/>
          <p:cNvSpPr/>
          <p:nvPr/>
        </p:nvSpPr>
        <p:spPr>
          <a:xfrm>
            <a:off x="563880" y="118872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00"/>
              <a:buFont typeface="Calibri"/>
              <a:buNone/>
            </a:pPr>
            <a:r>
              <a:rPr lang="en-US" sz="1200" b="1" i="0" u="none" strike="noStrike" cap="none" dirty="0">
                <a:solidFill>
                  <a:srgbClr val="C77F33"/>
                </a:solidFill>
                <a:latin typeface="Calibri"/>
                <a:ea typeface="Calibri"/>
                <a:cs typeface="Calibri"/>
                <a:sym typeface="Calibri"/>
              </a:rPr>
              <a:t>YOUR TASK   </a:t>
            </a:r>
            <a:r>
              <a:rPr lang="en-US" sz="1300" b="0" i="1" u="none" strike="noStrike" cap="none" dirty="0">
                <a:solidFill>
                  <a:srgbClr val="6E7B71"/>
                </a:solidFill>
                <a:latin typeface="Calibri"/>
                <a:ea typeface="Calibri"/>
                <a:cs typeface="Calibri"/>
                <a:sym typeface="Calibri"/>
              </a:rPr>
              <a:t>Show what you built on top of the clean data.</a:t>
            </a:r>
            <a:endParaRPr sz="12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460DB7D-9BD9-3810-BF7C-6A5A6858A703}"/>
              </a:ext>
            </a:extLst>
          </p:cNvPr>
          <p:cNvPicPr>
            <a:picLocks noChangeAspect="1"/>
          </p:cNvPicPr>
          <p:nvPr/>
        </p:nvPicPr>
        <p:blipFill>
          <a:blip r:embed="rId3"/>
          <a:srcRect/>
          <a:stretch/>
        </p:blipFill>
        <p:spPr>
          <a:xfrm>
            <a:off x="372634" y="1526977"/>
            <a:ext cx="4587958" cy="1845519"/>
          </a:xfrm>
          <a:prstGeom prst="rect">
            <a:avLst/>
          </a:prstGeom>
        </p:spPr>
      </p:pic>
      <p:sp>
        <p:nvSpPr>
          <p:cNvPr id="4" name="TextBox 3">
            <a:extLst>
              <a:ext uri="{FF2B5EF4-FFF2-40B4-BE49-F238E27FC236}">
                <a16:creationId xmlns:a16="http://schemas.microsoft.com/office/drawing/2014/main" id="{3AB32C79-6386-ECC2-1043-1AC91CDC305E}"/>
              </a:ext>
            </a:extLst>
          </p:cNvPr>
          <p:cNvSpPr txBox="1"/>
          <p:nvPr/>
        </p:nvSpPr>
        <p:spPr>
          <a:xfrm>
            <a:off x="563880" y="3429000"/>
            <a:ext cx="8846408" cy="307777"/>
          </a:xfrm>
          <a:prstGeom prst="rect">
            <a:avLst/>
          </a:prstGeom>
          <a:noFill/>
        </p:spPr>
        <p:txBody>
          <a:bodyPr wrap="square" rtlCol="0">
            <a:spAutoFit/>
          </a:bodyPr>
          <a:lstStyle/>
          <a:p>
            <a:r>
              <a:rPr lang="en-GB" sz="1400" dirty="0"/>
              <a:t>Above are the measures required for step 4; Total Revenue, Total Cost, Total Profit, and Profit Margin</a:t>
            </a:r>
          </a:p>
        </p:txBody>
      </p:sp>
      <p:pic>
        <p:nvPicPr>
          <p:cNvPr id="6" name="Picture 5">
            <a:extLst>
              <a:ext uri="{FF2B5EF4-FFF2-40B4-BE49-F238E27FC236}">
                <a16:creationId xmlns:a16="http://schemas.microsoft.com/office/drawing/2014/main" id="{C924CEF7-A76F-79A1-107F-E97E9EE21658}"/>
              </a:ext>
            </a:extLst>
          </p:cNvPr>
          <p:cNvPicPr>
            <a:picLocks noChangeAspect="1"/>
          </p:cNvPicPr>
          <p:nvPr/>
        </p:nvPicPr>
        <p:blipFill>
          <a:blip r:embed="rId4"/>
          <a:stretch>
            <a:fillRect/>
          </a:stretch>
        </p:blipFill>
        <p:spPr>
          <a:xfrm>
            <a:off x="509088" y="3831964"/>
            <a:ext cx="3680529" cy="2242981"/>
          </a:xfrm>
          <a:prstGeom prst="rect">
            <a:avLst/>
          </a:prstGeom>
        </p:spPr>
      </p:pic>
      <p:sp>
        <p:nvSpPr>
          <p:cNvPr id="7" name="TextBox 6">
            <a:extLst>
              <a:ext uri="{FF2B5EF4-FFF2-40B4-BE49-F238E27FC236}">
                <a16:creationId xmlns:a16="http://schemas.microsoft.com/office/drawing/2014/main" id="{960AA7DA-4C55-AB64-2937-28CCC3A1481B}"/>
              </a:ext>
            </a:extLst>
          </p:cNvPr>
          <p:cNvSpPr txBox="1"/>
          <p:nvPr/>
        </p:nvSpPr>
        <p:spPr>
          <a:xfrm>
            <a:off x="372634" y="6003353"/>
            <a:ext cx="4224815" cy="758317"/>
          </a:xfrm>
          <a:prstGeom prst="rect">
            <a:avLst/>
          </a:prstGeom>
          <a:noFill/>
        </p:spPr>
        <p:txBody>
          <a:bodyPr wrap="square" rtlCol="0">
            <a:spAutoFit/>
          </a:bodyPr>
          <a:lstStyle/>
          <a:p>
            <a:r>
              <a:rPr lang="en-GB" sz="1400" dirty="0"/>
              <a:t>Above is the DAX code used to create the column Customer Tier (verified manually that the column was calculated correctly).</a:t>
            </a:r>
          </a:p>
        </p:txBody>
      </p:sp>
      <p:pic>
        <p:nvPicPr>
          <p:cNvPr id="14" name="Picture 13">
            <a:extLst>
              <a:ext uri="{FF2B5EF4-FFF2-40B4-BE49-F238E27FC236}">
                <a16:creationId xmlns:a16="http://schemas.microsoft.com/office/drawing/2014/main" id="{E9C15CB6-1E75-712E-F882-D1ECAD928930}"/>
              </a:ext>
            </a:extLst>
          </p:cNvPr>
          <p:cNvPicPr>
            <a:picLocks noChangeAspect="1"/>
          </p:cNvPicPr>
          <p:nvPr/>
        </p:nvPicPr>
        <p:blipFill>
          <a:blip r:embed="rId5"/>
          <a:stretch>
            <a:fillRect/>
          </a:stretch>
        </p:blipFill>
        <p:spPr>
          <a:xfrm>
            <a:off x="5214258" y="1409624"/>
            <a:ext cx="5172797" cy="571580"/>
          </a:xfrm>
          <a:prstGeom prst="rect">
            <a:avLst/>
          </a:prstGeom>
        </p:spPr>
      </p:pic>
      <p:pic>
        <p:nvPicPr>
          <p:cNvPr id="16" name="Picture 15">
            <a:extLst>
              <a:ext uri="{FF2B5EF4-FFF2-40B4-BE49-F238E27FC236}">
                <a16:creationId xmlns:a16="http://schemas.microsoft.com/office/drawing/2014/main" id="{063F54CC-40F2-5BCF-C7AC-0D688D835F9E}"/>
              </a:ext>
            </a:extLst>
          </p:cNvPr>
          <p:cNvPicPr>
            <a:picLocks noChangeAspect="1"/>
          </p:cNvPicPr>
          <p:nvPr/>
        </p:nvPicPr>
        <p:blipFill>
          <a:blip r:embed="rId6"/>
          <a:stretch>
            <a:fillRect/>
          </a:stretch>
        </p:blipFill>
        <p:spPr>
          <a:xfrm>
            <a:off x="5214258" y="2074227"/>
            <a:ext cx="4906060" cy="438211"/>
          </a:xfrm>
          <a:prstGeom prst="rect">
            <a:avLst/>
          </a:prstGeom>
        </p:spPr>
      </p:pic>
      <p:pic>
        <p:nvPicPr>
          <p:cNvPr id="18" name="Picture 17">
            <a:extLst>
              <a:ext uri="{FF2B5EF4-FFF2-40B4-BE49-F238E27FC236}">
                <a16:creationId xmlns:a16="http://schemas.microsoft.com/office/drawing/2014/main" id="{2082469B-6110-8FEA-0CC2-48565C37ADC2}"/>
              </a:ext>
            </a:extLst>
          </p:cNvPr>
          <p:cNvPicPr>
            <a:picLocks noChangeAspect="1"/>
          </p:cNvPicPr>
          <p:nvPr/>
        </p:nvPicPr>
        <p:blipFill>
          <a:blip r:embed="rId7"/>
          <a:stretch>
            <a:fillRect/>
          </a:stretch>
        </p:blipFill>
        <p:spPr>
          <a:xfrm>
            <a:off x="5221008" y="2738057"/>
            <a:ext cx="3324689" cy="276264"/>
          </a:xfrm>
          <a:prstGeom prst="rect">
            <a:avLst/>
          </a:prstGeom>
        </p:spPr>
      </p:pic>
      <p:pic>
        <p:nvPicPr>
          <p:cNvPr id="20" name="Picture 19">
            <a:extLst>
              <a:ext uri="{FF2B5EF4-FFF2-40B4-BE49-F238E27FC236}">
                <a16:creationId xmlns:a16="http://schemas.microsoft.com/office/drawing/2014/main" id="{1650645D-595A-985F-4C55-72F08D5169B5}"/>
              </a:ext>
            </a:extLst>
          </p:cNvPr>
          <p:cNvPicPr>
            <a:picLocks noChangeAspect="1"/>
          </p:cNvPicPr>
          <p:nvPr/>
        </p:nvPicPr>
        <p:blipFill>
          <a:blip r:embed="rId8"/>
          <a:stretch>
            <a:fillRect/>
          </a:stretch>
        </p:blipFill>
        <p:spPr>
          <a:xfrm>
            <a:off x="5214258" y="3200368"/>
            <a:ext cx="3867690" cy="228632"/>
          </a:xfrm>
          <a:prstGeom prst="rect">
            <a:avLst/>
          </a:prstGeom>
        </p:spPr>
      </p:pic>
      <p:pic>
        <p:nvPicPr>
          <p:cNvPr id="22" name="Picture 21">
            <a:extLst>
              <a:ext uri="{FF2B5EF4-FFF2-40B4-BE49-F238E27FC236}">
                <a16:creationId xmlns:a16="http://schemas.microsoft.com/office/drawing/2014/main" id="{5E7A9221-32D6-78B0-353F-BBF79A878441}"/>
              </a:ext>
            </a:extLst>
          </p:cNvPr>
          <p:cNvPicPr>
            <a:picLocks noChangeAspect="1"/>
          </p:cNvPicPr>
          <p:nvPr/>
        </p:nvPicPr>
        <p:blipFill>
          <a:blip r:embed="rId9"/>
          <a:stretch>
            <a:fillRect/>
          </a:stretch>
        </p:blipFill>
        <p:spPr>
          <a:xfrm>
            <a:off x="5396251" y="3960234"/>
            <a:ext cx="2974202" cy="1471556"/>
          </a:xfrm>
          <a:prstGeom prst="rect">
            <a:avLst/>
          </a:prstGeom>
        </p:spPr>
      </p:pic>
      <p:pic>
        <p:nvPicPr>
          <p:cNvPr id="24" name="Picture 23">
            <a:extLst>
              <a:ext uri="{FF2B5EF4-FFF2-40B4-BE49-F238E27FC236}">
                <a16:creationId xmlns:a16="http://schemas.microsoft.com/office/drawing/2014/main" id="{32ABE302-1E91-C46A-E28C-D1AD17B1FBE4}"/>
              </a:ext>
            </a:extLst>
          </p:cNvPr>
          <p:cNvPicPr>
            <a:picLocks noChangeAspect="1"/>
          </p:cNvPicPr>
          <p:nvPr/>
        </p:nvPicPr>
        <p:blipFill>
          <a:blip r:embed="rId10"/>
          <a:srcRect/>
          <a:stretch/>
        </p:blipFill>
        <p:spPr>
          <a:xfrm>
            <a:off x="8539581" y="3950664"/>
            <a:ext cx="3381284" cy="1488142"/>
          </a:xfrm>
          <a:prstGeom prst="rect">
            <a:avLst/>
          </a:prstGeom>
        </p:spPr>
      </p:pic>
      <p:sp>
        <p:nvSpPr>
          <p:cNvPr id="25" name="TextBox 24">
            <a:extLst>
              <a:ext uri="{FF2B5EF4-FFF2-40B4-BE49-F238E27FC236}">
                <a16:creationId xmlns:a16="http://schemas.microsoft.com/office/drawing/2014/main" id="{63598637-1D59-12D9-9EF8-46397DD11DB9}"/>
              </a:ext>
            </a:extLst>
          </p:cNvPr>
          <p:cNvSpPr txBox="1"/>
          <p:nvPr/>
        </p:nvSpPr>
        <p:spPr>
          <a:xfrm>
            <a:off x="5396251" y="5638800"/>
            <a:ext cx="6286661" cy="738664"/>
          </a:xfrm>
          <a:prstGeom prst="rect">
            <a:avLst/>
          </a:prstGeom>
          <a:noFill/>
        </p:spPr>
        <p:txBody>
          <a:bodyPr wrap="square" rtlCol="0">
            <a:spAutoFit/>
          </a:bodyPr>
          <a:lstStyle/>
          <a:p>
            <a:r>
              <a:rPr lang="en-GB" sz="1400" dirty="0"/>
              <a:t>Above is the measure I created for % of Total Revenue, and using channel as an example to show that the total revenues add up, and the percentages add up to 100.</a:t>
            </a:r>
          </a:p>
        </p:txBody>
      </p:sp>
      <p:cxnSp>
        <p:nvCxnSpPr>
          <p:cNvPr id="27" name="Straight Connector 26">
            <a:extLst>
              <a:ext uri="{FF2B5EF4-FFF2-40B4-BE49-F238E27FC236}">
                <a16:creationId xmlns:a16="http://schemas.microsoft.com/office/drawing/2014/main" id="{BF3B4EC5-2A5C-AAB9-C71F-FBC20B8C2E00}"/>
              </a:ext>
            </a:extLst>
          </p:cNvPr>
          <p:cNvCxnSpPr/>
          <p:nvPr/>
        </p:nvCxnSpPr>
        <p:spPr>
          <a:xfrm>
            <a:off x="130629" y="3736777"/>
            <a:ext cx="1155228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FA73A57-9B47-471C-25D6-3E050F27FBB7}"/>
              </a:ext>
            </a:extLst>
          </p:cNvPr>
          <p:cNvCxnSpPr/>
          <p:nvPr/>
        </p:nvCxnSpPr>
        <p:spPr>
          <a:xfrm>
            <a:off x="4855029" y="3831964"/>
            <a:ext cx="0" cy="263415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F5A4A4E7-CBAB-C456-ED06-8FE4B03FC62E}"/>
              </a:ext>
            </a:extLst>
          </p:cNvPr>
          <p:cNvPicPr>
            <a:picLocks noChangeAspect="1"/>
          </p:cNvPicPr>
          <p:nvPr/>
        </p:nvPicPr>
        <p:blipFill>
          <a:blip r:embed="rId3"/>
          <a:srcRect l="8238" r="8238"/>
          <a:stretch/>
        </p:blipFill>
        <p:spPr>
          <a:xfrm>
            <a:off x="5348472" y="5008565"/>
            <a:ext cx="2370214" cy="1368382"/>
          </a:xfrm>
          <a:prstGeom prst="rect">
            <a:avLst/>
          </a:prstGeom>
        </p:spPr>
      </p:pic>
      <p:sp>
        <p:nvSpPr>
          <p:cNvPr id="3" name="Google Shape;180;p7">
            <a:extLst>
              <a:ext uri="{FF2B5EF4-FFF2-40B4-BE49-F238E27FC236}">
                <a16:creationId xmlns:a16="http://schemas.microsoft.com/office/drawing/2014/main" id="{A3ADF997-4886-E743-6DBC-ADA34C52BF0C}"/>
              </a:ext>
            </a:extLst>
          </p:cNvPr>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dirty="0">
                <a:solidFill>
                  <a:srgbClr val="1F3D2E"/>
                </a:solidFill>
                <a:latin typeface="Cambria"/>
                <a:ea typeface="Cambria"/>
                <a:cs typeface="Cambria"/>
                <a:sym typeface="Cambria"/>
              </a:rPr>
              <a:t>Data Transformation (Continued)</a:t>
            </a:r>
            <a:endParaRPr sz="29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37F2BA73-DFFC-17AD-5E3E-778A3B2DDF63}"/>
              </a:ext>
            </a:extLst>
          </p:cNvPr>
          <p:cNvPicPr>
            <a:picLocks noChangeAspect="1"/>
          </p:cNvPicPr>
          <p:nvPr/>
        </p:nvPicPr>
        <p:blipFill>
          <a:blip r:embed="rId4"/>
          <a:stretch>
            <a:fillRect/>
          </a:stretch>
        </p:blipFill>
        <p:spPr>
          <a:xfrm>
            <a:off x="914400" y="1188721"/>
            <a:ext cx="2699657" cy="1935070"/>
          </a:xfrm>
          <a:prstGeom prst="rect">
            <a:avLst/>
          </a:prstGeom>
        </p:spPr>
      </p:pic>
      <p:pic>
        <p:nvPicPr>
          <p:cNvPr id="9" name="Picture 8">
            <a:extLst>
              <a:ext uri="{FF2B5EF4-FFF2-40B4-BE49-F238E27FC236}">
                <a16:creationId xmlns:a16="http://schemas.microsoft.com/office/drawing/2014/main" id="{705C105B-B13E-1AF0-EE3E-CEBCAD19B562}"/>
              </a:ext>
            </a:extLst>
          </p:cNvPr>
          <p:cNvPicPr>
            <a:picLocks noChangeAspect="1"/>
          </p:cNvPicPr>
          <p:nvPr/>
        </p:nvPicPr>
        <p:blipFill>
          <a:blip r:embed="rId5"/>
          <a:srcRect/>
          <a:stretch/>
        </p:blipFill>
        <p:spPr>
          <a:xfrm>
            <a:off x="4942554" y="1079864"/>
            <a:ext cx="2361760" cy="2083906"/>
          </a:xfrm>
          <a:prstGeom prst="rect">
            <a:avLst/>
          </a:prstGeom>
        </p:spPr>
      </p:pic>
      <p:sp>
        <p:nvSpPr>
          <p:cNvPr id="10" name="TextBox 9">
            <a:extLst>
              <a:ext uri="{FF2B5EF4-FFF2-40B4-BE49-F238E27FC236}">
                <a16:creationId xmlns:a16="http://schemas.microsoft.com/office/drawing/2014/main" id="{33B84DAE-CE19-D502-C33C-FB9685B1798E}"/>
              </a:ext>
            </a:extLst>
          </p:cNvPr>
          <p:cNvSpPr txBox="1"/>
          <p:nvPr/>
        </p:nvSpPr>
        <p:spPr>
          <a:xfrm>
            <a:off x="7826828" y="1840591"/>
            <a:ext cx="3973286" cy="738664"/>
          </a:xfrm>
          <a:prstGeom prst="rect">
            <a:avLst/>
          </a:prstGeom>
          <a:noFill/>
        </p:spPr>
        <p:txBody>
          <a:bodyPr wrap="square" rtlCol="0">
            <a:spAutoFit/>
          </a:bodyPr>
          <a:lstStyle/>
          <a:p>
            <a:r>
              <a:rPr lang="en-GB" sz="1400" dirty="0"/>
              <a:t>To the left is the measure for % within category, and a matrix to verify that the percentages add up to 100% </a:t>
            </a:r>
          </a:p>
        </p:txBody>
      </p:sp>
      <p:pic>
        <p:nvPicPr>
          <p:cNvPr id="12" name="Picture 11">
            <a:extLst>
              <a:ext uri="{FF2B5EF4-FFF2-40B4-BE49-F238E27FC236}">
                <a16:creationId xmlns:a16="http://schemas.microsoft.com/office/drawing/2014/main" id="{D1A6DA02-A50E-156C-CEEC-32F17A02D3BD}"/>
              </a:ext>
            </a:extLst>
          </p:cNvPr>
          <p:cNvPicPr>
            <a:picLocks noChangeAspect="1"/>
          </p:cNvPicPr>
          <p:nvPr/>
        </p:nvPicPr>
        <p:blipFill>
          <a:blip r:embed="rId6"/>
          <a:stretch>
            <a:fillRect/>
          </a:stretch>
        </p:blipFill>
        <p:spPr>
          <a:xfrm>
            <a:off x="685008" y="3663652"/>
            <a:ext cx="4663464" cy="1016530"/>
          </a:xfrm>
          <a:prstGeom prst="rect">
            <a:avLst/>
          </a:prstGeom>
        </p:spPr>
      </p:pic>
      <p:pic>
        <p:nvPicPr>
          <p:cNvPr id="14" name="Picture 13">
            <a:extLst>
              <a:ext uri="{FF2B5EF4-FFF2-40B4-BE49-F238E27FC236}">
                <a16:creationId xmlns:a16="http://schemas.microsoft.com/office/drawing/2014/main" id="{62906A0A-B1BC-5587-8462-FE9934E0CF71}"/>
              </a:ext>
            </a:extLst>
          </p:cNvPr>
          <p:cNvPicPr>
            <a:picLocks noChangeAspect="1"/>
          </p:cNvPicPr>
          <p:nvPr/>
        </p:nvPicPr>
        <p:blipFill>
          <a:blip r:embed="rId7"/>
          <a:srcRect/>
          <a:stretch/>
        </p:blipFill>
        <p:spPr>
          <a:xfrm>
            <a:off x="5348472" y="3428999"/>
            <a:ext cx="2730013" cy="1524177"/>
          </a:xfrm>
          <a:prstGeom prst="rect">
            <a:avLst/>
          </a:prstGeom>
        </p:spPr>
      </p:pic>
      <p:cxnSp>
        <p:nvCxnSpPr>
          <p:cNvPr id="16" name="Straight Connector 15">
            <a:extLst>
              <a:ext uri="{FF2B5EF4-FFF2-40B4-BE49-F238E27FC236}">
                <a16:creationId xmlns:a16="http://schemas.microsoft.com/office/drawing/2014/main" id="{85139B09-6AFC-5EC1-02CA-C9E75826A888}"/>
              </a:ext>
            </a:extLst>
          </p:cNvPr>
          <p:cNvCxnSpPr>
            <a:cxnSpLocks/>
          </p:cNvCxnSpPr>
          <p:nvPr/>
        </p:nvCxnSpPr>
        <p:spPr>
          <a:xfrm>
            <a:off x="304800" y="3494314"/>
            <a:ext cx="11495314"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8112840-84F0-8B29-CB5D-2EA55F182FC5}"/>
              </a:ext>
            </a:extLst>
          </p:cNvPr>
          <p:cNvSpPr txBox="1"/>
          <p:nvPr/>
        </p:nvSpPr>
        <p:spPr>
          <a:xfrm>
            <a:off x="6988629" y="3734491"/>
            <a:ext cx="4201886" cy="954107"/>
          </a:xfrm>
          <a:prstGeom prst="rect">
            <a:avLst/>
          </a:prstGeom>
          <a:noFill/>
        </p:spPr>
        <p:txBody>
          <a:bodyPr wrap="square" rtlCol="0">
            <a:spAutoFit/>
          </a:bodyPr>
          <a:lstStyle/>
          <a:p>
            <a:r>
              <a:rPr lang="en-GB" sz="1400" dirty="0"/>
              <a:t>To the left here is the measure for Revenue in the West Region, and the card with the value. (I verified this was correct by filtering the Total Revenue measure by Region.)</a:t>
            </a:r>
          </a:p>
        </p:txBody>
      </p:sp>
      <p:sp>
        <p:nvSpPr>
          <p:cNvPr id="19" name="TextBox 18">
            <a:extLst>
              <a:ext uri="{FF2B5EF4-FFF2-40B4-BE49-F238E27FC236}">
                <a16:creationId xmlns:a16="http://schemas.microsoft.com/office/drawing/2014/main" id="{C24F00C5-3C54-BC55-6B26-A7CEC3D027A3}"/>
              </a:ext>
            </a:extLst>
          </p:cNvPr>
          <p:cNvSpPr txBox="1"/>
          <p:nvPr/>
        </p:nvSpPr>
        <p:spPr>
          <a:xfrm>
            <a:off x="6988629" y="5001491"/>
            <a:ext cx="4288971" cy="1169551"/>
          </a:xfrm>
          <a:prstGeom prst="rect">
            <a:avLst/>
          </a:prstGeom>
          <a:noFill/>
        </p:spPr>
        <p:txBody>
          <a:bodyPr wrap="square" rtlCol="0">
            <a:spAutoFit/>
          </a:bodyPr>
          <a:lstStyle/>
          <a:p>
            <a:r>
              <a:rPr lang="en-GB" sz="1400" dirty="0"/>
              <a:t>I noticed the marking scheme awards marks for using RELATED, but I couldn’t find a good place to use it, so instead I created a new measure for calculating Revenue in West region which does use RELATED and gives the same answer</a:t>
            </a:r>
          </a:p>
        </p:txBody>
      </p:sp>
      <p:pic>
        <p:nvPicPr>
          <p:cNvPr id="21" name="Picture 20">
            <a:extLst>
              <a:ext uri="{FF2B5EF4-FFF2-40B4-BE49-F238E27FC236}">
                <a16:creationId xmlns:a16="http://schemas.microsoft.com/office/drawing/2014/main" id="{F28897A8-D780-E1B1-F93D-DC8AA6AD8A4C}"/>
              </a:ext>
            </a:extLst>
          </p:cNvPr>
          <p:cNvPicPr>
            <a:picLocks noChangeAspect="1"/>
          </p:cNvPicPr>
          <p:nvPr/>
        </p:nvPicPr>
        <p:blipFill>
          <a:blip r:embed="rId8"/>
          <a:stretch>
            <a:fillRect/>
          </a:stretch>
        </p:blipFill>
        <p:spPr>
          <a:xfrm>
            <a:off x="417402" y="4979705"/>
            <a:ext cx="4687998" cy="1646681"/>
          </a:xfrm>
          <a:prstGeom prst="rect">
            <a:avLst/>
          </a:prstGeom>
        </p:spPr>
      </p:pic>
      <p:cxnSp>
        <p:nvCxnSpPr>
          <p:cNvPr id="23" name="Straight Connector 22">
            <a:extLst>
              <a:ext uri="{FF2B5EF4-FFF2-40B4-BE49-F238E27FC236}">
                <a16:creationId xmlns:a16="http://schemas.microsoft.com/office/drawing/2014/main" id="{E4837673-FF6A-A827-39D9-740268CB8F67}"/>
              </a:ext>
            </a:extLst>
          </p:cNvPr>
          <p:cNvCxnSpPr/>
          <p:nvPr/>
        </p:nvCxnSpPr>
        <p:spPr>
          <a:xfrm>
            <a:off x="417402" y="4792930"/>
            <a:ext cx="1157151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485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80;p7">
            <a:extLst>
              <a:ext uri="{FF2B5EF4-FFF2-40B4-BE49-F238E27FC236}">
                <a16:creationId xmlns:a16="http://schemas.microsoft.com/office/drawing/2014/main" id="{7AF66ED5-4D16-B677-FCFC-F931D4AAA1AB}"/>
              </a:ext>
            </a:extLst>
          </p:cNvPr>
          <p:cNvSpPr/>
          <p:nvPr/>
        </p:nvSpPr>
        <p:spPr>
          <a:xfrm>
            <a:off x="870857" y="536883"/>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dirty="0">
                <a:solidFill>
                  <a:srgbClr val="1F3D2E"/>
                </a:solidFill>
                <a:latin typeface="Cambria"/>
                <a:ea typeface="Cambria"/>
                <a:cs typeface="Cambria"/>
                <a:sym typeface="Cambria"/>
              </a:rPr>
              <a:t>Data Transformation (Continued)</a:t>
            </a:r>
            <a:endParaRPr sz="29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5BD25222-D3C9-2A54-A166-0D801D2852BC}"/>
              </a:ext>
            </a:extLst>
          </p:cNvPr>
          <p:cNvPicPr>
            <a:picLocks noChangeAspect="1"/>
          </p:cNvPicPr>
          <p:nvPr/>
        </p:nvPicPr>
        <p:blipFill>
          <a:blip r:embed="rId2"/>
          <a:stretch>
            <a:fillRect/>
          </a:stretch>
        </p:blipFill>
        <p:spPr>
          <a:xfrm>
            <a:off x="412768" y="1343622"/>
            <a:ext cx="3463071" cy="456547"/>
          </a:xfrm>
          <a:prstGeom prst="rect">
            <a:avLst/>
          </a:prstGeom>
        </p:spPr>
      </p:pic>
      <p:pic>
        <p:nvPicPr>
          <p:cNvPr id="6" name="Picture 5">
            <a:extLst>
              <a:ext uri="{FF2B5EF4-FFF2-40B4-BE49-F238E27FC236}">
                <a16:creationId xmlns:a16="http://schemas.microsoft.com/office/drawing/2014/main" id="{0BB8FB7C-91B5-F56E-4EB0-BFE18FDDA66C}"/>
              </a:ext>
            </a:extLst>
          </p:cNvPr>
          <p:cNvPicPr>
            <a:picLocks noChangeAspect="1"/>
          </p:cNvPicPr>
          <p:nvPr/>
        </p:nvPicPr>
        <p:blipFill>
          <a:blip r:embed="rId3"/>
          <a:srcRect/>
          <a:stretch/>
        </p:blipFill>
        <p:spPr>
          <a:xfrm>
            <a:off x="584607" y="1711466"/>
            <a:ext cx="2243346" cy="1668735"/>
          </a:xfrm>
          <a:prstGeom prst="rect">
            <a:avLst/>
          </a:prstGeom>
        </p:spPr>
      </p:pic>
      <p:sp>
        <p:nvSpPr>
          <p:cNvPr id="7" name="TextBox 6">
            <a:extLst>
              <a:ext uri="{FF2B5EF4-FFF2-40B4-BE49-F238E27FC236}">
                <a16:creationId xmlns:a16="http://schemas.microsoft.com/office/drawing/2014/main" id="{6461FC6A-80FA-4EDA-B6AC-91DF5A1D8732}"/>
              </a:ext>
            </a:extLst>
          </p:cNvPr>
          <p:cNvSpPr txBox="1"/>
          <p:nvPr/>
        </p:nvSpPr>
        <p:spPr>
          <a:xfrm>
            <a:off x="2144304" y="2051459"/>
            <a:ext cx="2167145" cy="646331"/>
          </a:xfrm>
          <a:prstGeom prst="rect">
            <a:avLst/>
          </a:prstGeom>
          <a:noFill/>
        </p:spPr>
        <p:txBody>
          <a:bodyPr wrap="square" rtlCol="0">
            <a:spAutoFit/>
          </a:bodyPr>
          <a:lstStyle/>
          <a:p>
            <a:r>
              <a:rPr lang="en-GB" dirty="0"/>
              <a:t>This figure is for 2024</a:t>
            </a:r>
          </a:p>
        </p:txBody>
      </p:sp>
      <p:pic>
        <p:nvPicPr>
          <p:cNvPr id="9" name="Picture 8">
            <a:extLst>
              <a:ext uri="{FF2B5EF4-FFF2-40B4-BE49-F238E27FC236}">
                <a16:creationId xmlns:a16="http://schemas.microsoft.com/office/drawing/2014/main" id="{CF9C8F34-62ED-FA26-8125-A3AB0C7B5690}"/>
              </a:ext>
            </a:extLst>
          </p:cNvPr>
          <p:cNvPicPr>
            <a:picLocks noChangeAspect="1"/>
          </p:cNvPicPr>
          <p:nvPr/>
        </p:nvPicPr>
        <p:blipFill>
          <a:blip r:embed="rId4"/>
          <a:stretch>
            <a:fillRect/>
          </a:stretch>
        </p:blipFill>
        <p:spPr>
          <a:xfrm>
            <a:off x="5476745" y="1172826"/>
            <a:ext cx="3272663" cy="1140823"/>
          </a:xfrm>
          <a:prstGeom prst="rect">
            <a:avLst/>
          </a:prstGeom>
        </p:spPr>
      </p:pic>
      <p:pic>
        <p:nvPicPr>
          <p:cNvPr id="11" name="Picture 10">
            <a:extLst>
              <a:ext uri="{FF2B5EF4-FFF2-40B4-BE49-F238E27FC236}">
                <a16:creationId xmlns:a16="http://schemas.microsoft.com/office/drawing/2014/main" id="{B23C3A9B-137C-5C85-CA78-E6C993D0799B}"/>
              </a:ext>
            </a:extLst>
          </p:cNvPr>
          <p:cNvPicPr>
            <a:picLocks noChangeAspect="1"/>
          </p:cNvPicPr>
          <p:nvPr/>
        </p:nvPicPr>
        <p:blipFill>
          <a:blip r:embed="rId5"/>
          <a:srcRect/>
          <a:stretch/>
        </p:blipFill>
        <p:spPr>
          <a:xfrm>
            <a:off x="6101528" y="2305991"/>
            <a:ext cx="2720865" cy="1460465"/>
          </a:xfrm>
          <a:prstGeom prst="rect">
            <a:avLst/>
          </a:prstGeom>
        </p:spPr>
      </p:pic>
      <p:sp>
        <p:nvSpPr>
          <p:cNvPr id="12" name="TextBox 11">
            <a:extLst>
              <a:ext uri="{FF2B5EF4-FFF2-40B4-BE49-F238E27FC236}">
                <a16:creationId xmlns:a16="http://schemas.microsoft.com/office/drawing/2014/main" id="{96CB10F8-A71A-22E5-A211-5CF3CC172FDD}"/>
              </a:ext>
            </a:extLst>
          </p:cNvPr>
          <p:cNvSpPr txBox="1"/>
          <p:nvPr/>
        </p:nvSpPr>
        <p:spPr>
          <a:xfrm>
            <a:off x="8896981" y="1161390"/>
            <a:ext cx="2652762" cy="2441781"/>
          </a:xfrm>
          <a:prstGeom prst="rect">
            <a:avLst/>
          </a:prstGeom>
          <a:noFill/>
        </p:spPr>
        <p:txBody>
          <a:bodyPr wrap="square" rtlCol="0">
            <a:spAutoFit/>
          </a:bodyPr>
          <a:lstStyle/>
          <a:p>
            <a:r>
              <a:rPr lang="en-GB" sz="1400" dirty="0"/>
              <a:t>Since the data for 2024 only goes up to August, using SAMEPERIODLASTYEAR in the Revenue LY measure here essentially calculates the total revenue from the period January 2023-August 2023 (to make comparisons fair). I verified this because the revenue for the whole year of 2023 (1.29m) was more than the figure on the left.</a:t>
            </a:r>
          </a:p>
        </p:txBody>
      </p:sp>
      <p:pic>
        <p:nvPicPr>
          <p:cNvPr id="14" name="Picture 13">
            <a:extLst>
              <a:ext uri="{FF2B5EF4-FFF2-40B4-BE49-F238E27FC236}">
                <a16:creationId xmlns:a16="http://schemas.microsoft.com/office/drawing/2014/main" id="{B46A907D-10BC-144C-37E7-BB83DC2BD5A5}"/>
              </a:ext>
            </a:extLst>
          </p:cNvPr>
          <p:cNvPicPr>
            <a:picLocks noChangeAspect="1"/>
          </p:cNvPicPr>
          <p:nvPr/>
        </p:nvPicPr>
        <p:blipFill>
          <a:blip r:embed="rId6"/>
          <a:stretch>
            <a:fillRect/>
          </a:stretch>
        </p:blipFill>
        <p:spPr>
          <a:xfrm>
            <a:off x="412768" y="3907481"/>
            <a:ext cx="3306862" cy="1231968"/>
          </a:xfrm>
          <a:prstGeom prst="rect">
            <a:avLst/>
          </a:prstGeom>
        </p:spPr>
      </p:pic>
      <p:pic>
        <p:nvPicPr>
          <p:cNvPr id="16" name="Picture 15">
            <a:extLst>
              <a:ext uri="{FF2B5EF4-FFF2-40B4-BE49-F238E27FC236}">
                <a16:creationId xmlns:a16="http://schemas.microsoft.com/office/drawing/2014/main" id="{1A8E7045-2A6E-0E45-7A5F-2041193FA59B}"/>
              </a:ext>
            </a:extLst>
          </p:cNvPr>
          <p:cNvPicPr>
            <a:picLocks noChangeAspect="1"/>
          </p:cNvPicPr>
          <p:nvPr/>
        </p:nvPicPr>
        <p:blipFill>
          <a:blip r:embed="rId7"/>
          <a:srcRect l="-5043" t="26029" r="46493" b="24842"/>
          <a:stretch>
            <a:fillRect/>
          </a:stretch>
        </p:blipFill>
        <p:spPr>
          <a:xfrm>
            <a:off x="163103" y="5342108"/>
            <a:ext cx="1981200" cy="1061791"/>
          </a:xfrm>
          <a:prstGeom prst="rect">
            <a:avLst/>
          </a:prstGeom>
        </p:spPr>
      </p:pic>
      <p:sp>
        <p:nvSpPr>
          <p:cNvPr id="17" name="TextBox 16">
            <a:extLst>
              <a:ext uri="{FF2B5EF4-FFF2-40B4-BE49-F238E27FC236}">
                <a16:creationId xmlns:a16="http://schemas.microsoft.com/office/drawing/2014/main" id="{927FDCDB-57FF-D57B-B617-286A0F891C77}"/>
              </a:ext>
            </a:extLst>
          </p:cNvPr>
          <p:cNvSpPr txBox="1"/>
          <p:nvPr/>
        </p:nvSpPr>
        <p:spPr>
          <a:xfrm>
            <a:off x="2220687" y="5421086"/>
            <a:ext cx="2950028" cy="923330"/>
          </a:xfrm>
          <a:prstGeom prst="rect">
            <a:avLst/>
          </a:prstGeom>
          <a:noFill/>
        </p:spPr>
        <p:txBody>
          <a:bodyPr wrap="square" rtlCol="0">
            <a:spAutoFit/>
          </a:bodyPr>
          <a:lstStyle/>
          <a:p>
            <a:r>
              <a:rPr lang="en-GB" dirty="0"/>
              <a:t>Using the two figures above gives us the % Revenue YoY for 2024.</a:t>
            </a:r>
          </a:p>
        </p:txBody>
      </p:sp>
      <p:pic>
        <p:nvPicPr>
          <p:cNvPr id="19" name="Picture 18">
            <a:extLst>
              <a:ext uri="{FF2B5EF4-FFF2-40B4-BE49-F238E27FC236}">
                <a16:creationId xmlns:a16="http://schemas.microsoft.com/office/drawing/2014/main" id="{4779A120-EAD6-16D7-9932-E41DF1465EAB}"/>
              </a:ext>
            </a:extLst>
          </p:cNvPr>
          <p:cNvPicPr>
            <a:picLocks noChangeAspect="1"/>
          </p:cNvPicPr>
          <p:nvPr/>
        </p:nvPicPr>
        <p:blipFill>
          <a:blip r:embed="rId8"/>
          <a:stretch>
            <a:fillRect/>
          </a:stretch>
        </p:blipFill>
        <p:spPr>
          <a:xfrm>
            <a:off x="6402490" y="4418660"/>
            <a:ext cx="2849129" cy="2197899"/>
          </a:xfrm>
          <a:prstGeom prst="rect">
            <a:avLst/>
          </a:prstGeom>
        </p:spPr>
      </p:pic>
      <p:sp>
        <p:nvSpPr>
          <p:cNvPr id="20" name="TextBox 19">
            <a:extLst>
              <a:ext uri="{FF2B5EF4-FFF2-40B4-BE49-F238E27FC236}">
                <a16:creationId xmlns:a16="http://schemas.microsoft.com/office/drawing/2014/main" id="{BCEF098E-391A-D2A3-5D31-17B569178B17}"/>
              </a:ext>
            </a:extLst>
          </p:cNvPr>
          <p:cNvSpPr txBox="1"/>
          <p:nvPr/>
        </p:nvSpPr>
        <p:spPr>
          <a:xfrm>
            <a:off x="9585803" y="4418660"/>
            <a:ext cx="2193429" cy="2031325"/>
          </a:xfrm>
          <a:prstGeom prst="rect">
            <a:avLst/>
          </a:prstGeom>
          <a:noFill/>
        </p:spPr>
        <p:txBody>
          <a:bodyPr wrap="square" rtlCol="0">
            <a:spAutoFit/>
          </a:bodyPr>
          <a:lstStyle/>
          <a:p>
            <a:r>
              <a:rPr lang="en-GB" dirty="0"/>
              <a:t>This is the measure used for calculating the three-month rolling revenue. (It will be used on the trend visual next slide).</a:t>
            </a:r>
          </a:p>
        </p:txBody>
      </p:sp>
    </p:spTree>
    <p:extLst>
      <p:ext uri="{BB962C8B-B14F-4D97-AF65-F5344CB8AC3E}">
        <p14:creationId xmlns:p14="http://schemas.microsoft.com/office/powerpoint/2010/main" val="2378658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sp>
        <p:nvSpPr>
          <p:cNvPr id="201" name="Google Shape;201;p8"/>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8</a:t>
            </a:r>
            <a:endParaRPr sz="2400" b="0" i="0" u="none" strike="noStrike" cap="none">
              <a:solidFill>
                <a:schemeClr val="dk1"/>
              </a:solidFill>
              <a:latin typeface="Calibri"/>
              <a:ea typeface="Calibri"/>
              <a:cs typeface="Calibri"/>
              <a:sym typeface="Calibri"/>
            </a:endParaRPr>
          </a:p>
        </p:txBody>
      </p:sp>
      <p:sp>
        <p:nvSpPr>
          <p:cNvPr id="203" name="Google Shape;203;p8"/>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Exploratory Data Analysis</a:t>
            </a:r>
            <a:endParaRPr sz="2900" b="0" i="0" u="none" strike="noStrike" cap="none">
              <a:solidFill>
                <a:schemeClr val="dk1"/>
              </a:solidFill>
              <a:latin typeface="Calibri"/>
              <a:ea typeface="Calibri"/>
              <a:cs typeface="Calibri"/>
              <a:sym typeface="Calibri"/>
            </a:endParaRPr>
          </a:p>
        </p:txBody>
      </p:sp>
      <p:grpSp>
        <p:nvGrpSpPr>
          <p:cNvPr id="3" name="Group 2">
            <a:extLst>
              <a:ext uri="{FF2B5EF4-FFF2-40B4-BE49-F238E27FC236}">
                <a16:creationId xmlns:a16="http://schemas.microsoft.com/office/drawing/2014/main" id="{692D4FF3-04B6-1B2A-D008-A049512FA0AF}"/>
              </a:ext>
            </a:extLst>
          </p:cNvPr>
          <p:cNvGrpSpPr/>
          <p:nvPr/>
        </p:nvGrpSpPr>
        <p:grpSpPr>
          <a:xfrm>
            <a:off x="287385" y="1174569"/>
            <a:ext cx="5440680" cy="1874520"/>
            <a:chOff x="703217" y="2065020"/>
            <a:chExt cx="5440680" cy="1874520"/>
          </a:xfrm>
        </p:grpSpPr>
        <p:sp>
          <p:nvSpPr>
            <p:cNvPr id="205" name="Google Shape;205;p8"/>
            <p:cNvSpPr/>
            <p:nvPr/>
          </p:nvSpPr>
          <p:spPr>
            <a:xfrm>
              <a:off x="703217" y="2065020"/>
              <a:ext cx="5440680" cy="1874520"/>
            </a:xfrm>
            <a:prstGeom prst="roundRect">
              <a:avLst>
                <a:gd name="adj" fmla="val 4390"/>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en-GB" sz="1200" dirty="0"/>
            </a:p>
            <a:p>
              <a:pPr marL="0" lvl="0" indent="0" algn="l" rtl="0">
                <a:spcBef>
                  <a:spcPts val="0"/>
                </a:spcBef>
                <a:spcAft>
                  <a:spcPts val="0"/>
                </a:spcAft>
                <a:buNone/>
              </a:pPr>
              <a:endParaRPr lang="en-GB" sz="1200" dirty="0"/>
            </a:p>
            <a:p>
              <a:pPr marL="0" lvl="0" indent="0" algn="l" rtl="0">
                <a:spcBef>
                  <a:spcPts val="0"/>
                </a:spcBef>
                <a:spcAft>
                  <a:spcPts val="0"/>
                </a:spcAft>
                <a:buNone/>
              </a:pPr>
              <a:endParaRPr lang="en-GB" sz="1200" dirty="0"/>
            </a:p>
            <a:p>
              <a:pPr marL="0" lvl="0" indent="0" algn="l" rtl="0">
                <a:spcBef>
                  <a:spcPts val="0"/>
                </a:spcBef>
                <a:spcAft>
                  <a:spcPts val="0"/>
                </a:spcAft>
                <a:buNone/>
              </a:pPr>
              <a:endParaRPr lang="en-GB" sz="1200" dirty="0"/>
            </a:p>
            <a:p>
              <a:pPr marL="0" lvl="0" indent="0" algn="l" rtl="0">
                <a:spcBef>
                  <a:spcPts val="0"/>
                </a:spcBef>
                <a:spcAft>
                  <a:spcPts val="0"/>
                </a:spcAft>
                <a:buNone/>
              </a:pPr>
              <a:endParaRPr lang="en-GB" sz="1200" dirty="0"/>
            </a:p>
            <a:p>
              <a:pPr marL="0" lvl="0" indent="0" algn="l" rtl="0">
                <a:spcBef>
                  <a:spcPts val="0"/>
                </a:spcBef>
                <a:spcAft>
                  <a:spcPts val="0"/>
                </a:spcAft>
                <a:buNone/>
              </a:pPr>
              <a:r>
                <a:rPr lang="en-GB" sz="1200" dirty="0"/>
                <a:t>Total Order value: $2.9m, </a:t>
              </a:r>
            </a:p>
            <a:p>
              <a:pPr marL="0" lvl="0" indent="0" algn="l" rtl="0">
                <a:spcBef>
                  <a:spcPts val="0"/>
                </a:spcBef>
                <a:spcAft>
                  <a:spcPts val="0"/>
                </a:spcAft>
                <a:buNone/>
              </a:pPr>
              <a:r>
                <a:rPr lang="en-GB" sz="1200" dirty="0"/>
                <a:t>Average Order Value: $433.36</a:t>
              </a:r>
            </a:p>
            <a:p>
              <a:pPr marL="0" lvl="0" indent="0" algn="l" rtl="0">
                <a:spcBef>
                  <a:spcPts val="0"/>
                </a:spcBef>
                <a:spcAft>
                  <a:spcPts val="0"/>
                </a:spcAft>
                <a:buNone/>
              </a:pPr>
              <a:r>
                <a:rPr lang="en-GB" sz="1200" dirty="0"/>
                <a:t>Median Order Value: $326.28</a:t>
              </a:r>
            </a:p>
            <a:p>
              <a:pPr marL="0" lvl="0" indent="0" algn="l" rtl="0">
                <a:spcBef>
                  <a:spcPts val="0"/>
                </a:spcBef>
                <a:spcAft>
                  <a:spcPts val="0"/>
                </a:spcAft>
                <a:buNone/>
              </a:pPr>
              <a:r>
                <a:rPr lang="en-GB" sz="1200" dirty="0"/>
                <a:t>Standard Deviation for Quantity: 1.12</a:t>
              </a:r>
            </a:p>
            <a:p>
              <a:pPr marL="0" lvl="0" indent="0" algn="l" rtl="0">
                <a:spcBef>
                  <a:spcPts val="0"/>
                </a:spcBef>
                <a:spcAft>
                  <a:spcPts val="0"/>
                </a:spcAft>
                <a:buNone/>
              </a:pPr>
              <a:r>
                <a:rPr lang="en-GB" sz="1200" dirty="0"/>
                <a:t>Standard Deviation for Price:  $123</a:t>
              </a:r>
            </a:p>
            <a:p>
              <a:pPr marL="0" lvl="0" indent="0" algn="l" rtl="0">
                <a:spcBef>
                  <a:spcPts val="0"/>
                </a:spcBef>
                <a:spcAft>
                  <a:spcPts val="0"/>
                </a:spcAft>
                <a:buNone/>
              </a:pPr>
              <a:r>
                <a:rPr lang="en-GB" sz="1200" dirty="0"/>
                <a:t> </a:t>
              </a:r>
              <a:endParaRPr sz="1200" dirty="0"/>
            </a:p>
          </p:txBody>
        </p:sp>
        <p:sp>
          <p:nvSpPr>
            <p:cNvPr id="206" name="Google Shape;206;p8"/>
            <p:cNvSpPr/>
            <p:nvPr/>
          </p:nvSpPr>
          <p:spPr>
            <a:xfrm>
              <a:off x="822960" y="219456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600"/>
                <a:buFont typeface="Cambria"/>
                <a:buNone/>
              </a:pPr>
              <a:r>
                <a:rPr lang="en-US" sz="1600" b="1" i="0" u="none" strike="noStrike" cap="none">
                  <a:solidFill>
                    <a:srgbClr val="2C5F2D"/>
                  </a:solidFill>
                  <a:latin typeface="Cambria"/>
                  <a:ea typeface="Cambria"/>
                  <a:cs typeface="Cambria"/>
                  <a:sym typeface="Cambria"/>
                </a:rPr>
                <a:t>Descriptive stats</a:t>
              </a:r>
              <a:endParaRPr sz="1600" b="0" i="0" u="none" strike="noStrike" cap="none">
                <a:solidFill>
                  <a:schemeClr val="dk1"/>
                </a:solidFill>
                <a:latin typeface="Calibri"/>
                <a:ea typeface="Calibri"/>
                <a:cs typeface="Calibri"/>
                <a:sym typeface="Calibri"/>
              </a:endParaRPr>
            </a:p>
          </p:txBody>
        </p:sp>
        <p:sp>
          <p:nvSpPr>
            <p:cNvPr id="207" name="Google Shape;207;p8"/>
            <p:cNvSpPr/>
            <p:nvPr/>
          </p:nvSpPr>
          <p:spPr>
            <a:xfrm>
              <a:off x="822960" y="2606040"/>
              <a:ext cx="49377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300"/>
                <a:buFont typeface="Calibri"/>
                <a:buNone/>
              </a:pPr>
              <a:r>
                <a:rPr lang="en-US" sz="1300" b="0" i="0" u="none" strike="noStrike" cap="none">
                  <a:solidFill>
                    <a:srgbClr val="6E7B71"/>
                  </a:solidFill>
                  <a:latin typeface="Calibri"/>
                  <a:ea typeface="Calibri"/>
                  <a:cs typeface="Calibri"/>
                  <a:sym typeface="Calibri"/>
                </a:rPr>
                <a:t>Total &amp; average order value, median, spread of quantity and price</a:t>
              </a:r>
              <a:endParaRPr sz="1300" b="0" i="0" u="none" strike="noStrike" cap="none">
                <a:solidFill>
                  <a:schemeClr val="dk1"/>
                </a:solidFill>
                <a:latin typeface="Calibri"/>
                <a:ea typeface="Calibri"/>
                <a:cs typeface="Calibri"/>
                <a:sym typeface="Calibri"/>
              </a:endParaRPr>
            </a:p>
          </p:txBody>
        </p:sp>
      </p:grpSp>
      <p:sp>
        <p:nvSpPr>
          <p:cNvPr id="208" name="Google Shape;208;p8"/>
          <p:cNvSpPr/>
          <p:nvPr/>
        </p:nvSpPr>
        <p:spPr>
          <a:xfrm>
            <a:off x="822960" y="2895600"/>
            <a:ext cx="4937760" cy="807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50"/>
              <a:buFont typeface="Calibri"/>
              <a:buNone/>
            </a:pPr>
            <a:endParaRPr sz="1250" b="0" i="0" u="none" strike="noStrike" cap="none" dirty="0">
              <a:solidFill>
                <a:schemeClr val="dk1"/>
              </a:solidFill>
              <a:latin typeface="Calibri"/>
              <a:ea typeface="Calibri"/>
              <a:cs typeface="Calibri"/>
              <a:sym typeface="Calibri"/>
            </a:endParaRPr>
          </a:p>
        </p:txBody>
      </p:sp>
      <p:grpSp>
        <p:nvGrpSpPr>
          <p:cNvPr id="8" name="Group 7">
            <a:extLst>
              <a:ext uri="{FF2B5EF4-FFF2-40B4-BE49-F238E27FC236}">
                <a16:creationId xmlns:a16="http://schemas.microsoft.com/office/drawing/2014/main" id="{F2785C79-9DFE-74C1-AF74-F341935AF8D8}"/>
              </a:ext>
            </a:extLst>
          </p:cNvPr>
          <p:cNvGrpSpPr/>
          <p:nvPr/>
        </p:nvGrpSpPr>
        <p:grpSpPr>
          <a:xfrm>
            <a:off x="179331" y="4014652"/>
            <a:ext cx="5440680" cy="1874520"/>
            <a:chOff x="178527" y="3916680"/>
            <a:chExt cx="5440680" cy="1874520"/>
          </a:xfrm>
        </p:grpSpPr>
        <p:grpSp>
          <p:nvGrpSpPr>
            <p:cNvPr id="4" name="Group 3">
              <a:extLst>
                <a:ext uri="{FF2B5EF4-FFF2-40B4-BE49-F238E27FC236}">
                  <a16:creationId xmlns:a16="http://schemas.microsoft.com/office/drawing/2014/main" id="{914EFE73-6472-E2CA-4EBF-C6EEF19A0145}"/>
                </a:ext>
              </a:extLst>
            </p:cNvPr>
            <p:cNvGrpSpPr/>
            <p:nvPr/>
          </p:nvGrpSpPr>
          <p:grpSpPr>
            <a:xfrm>
              <a:off x="178527" y="3916680"/>
              <a:ext cx="5440680" cy="1874520"/>
              <a:chOff x="6154782" y="1775460"/>
              <a:chExt cx="5440680" cy="1874520"/>
            </a:xfrm>
          </p:grpSpPr>
          <p:sp>
            <p:nvSpPr>
              <p:cNvPr id="213" name="Google Shape;213;p8"/>
              <p:cNvSpPr/>
              <p:nvPr/>
            </p:nvSpPr>
            <p:spPr>
              <a:xfrm>
                <a:off x="6154782" y="1775460"/>
                <a:ext cx="5440680" cy="1874520"/>
              </a:xfrm>
              <a:prstGeom prst="roundRect">
                <a:avLst>
                  <a:gd name="adj" fmla="val 4390"/>
                </a:avLst>
              </a:prstGeom>
              <a:solidFill>
                <a:srgbClr val="EDF3E7"/>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 name="Google Shape;214;p8"/>
              <p:cNvSpPr/>
              <p:nvPr/>
            </p:nvSpPr>
            <p:spPr>
              <a:xfrm>
                <a:off x="6515100" y="198120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600"/>
                  <a:buFont typeface="Cambria"/>
                  <a:buNone/>
                </a:pPr>
                <a:r>
                  <a:rPr lang="en-US" sz="1600" b="1" i="0" u="none" strike="noStrike" cap="none">
                    <a:solidFill>
                      <a:srgbClr val="2C5F2D"/>
                    </a:solidFill>
                    <a:latin typeface="Cambria"/>
                    <a:ea typeface="Cambria"/>
                    <a:cs typeface="Cambria"/>
                    <a:sym typeface="Cambria"/>
                  </a:rPr>
                  <a:t>Time pattern</a:t>
                </a:r>
                <a:endParaRPr sz="1600" b="0" i="0" u="none" strike="noStrike" cap="none">
                  <a:solidFill>
                    <a:schemeClr val="dk1"/>
                  </a:solidFill>
                  <a:latin typeface="Calibri"/>
                  <a:ea typeface="Calibri"/>
                  <a:cs typeface="Calibri"/>
                  <a:sym typeface="Calibri"/>
                </a:endParaRPr>
              </a:p>
            </p:txBody>
          </p:sp>
          <p:sp>
            <p:nvSpPr>
              <p:cNvPr id="215" name="Google Shape;215;p8"/>
              <p:cNvSpPr/>
              <p:nvPr/>
            </p:nvSpPr>
            <p:spPr>
              <a:xfrm>
                <a:off x="6515100" y="2392680"/>
                <a:ext cx="49377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300"/>
                  <a:buFont typeface="Calibri"/>
                  <a:buNone/>
                </a:pPr>
                <a:r>
                  <a:rPr lang="en-US" sz="1300" b="0" i="0" u="none" strike="noStrike" cap="none" dirty="0">
                    <a:solidFill>
                      <a:srgbClr val="6E7B71"/>
                    </a:solidFill>
                    <a:latin typeface="Calibri"/>
                    <a:ea typeface="Calibri"/>
                    <a:cs typeface="Calibri"/>
                    <a:sym typeface="Calibri"/>
                  </a:rPr>
                  <a:t>Revenue by month — is there a clear seasonal shape?</a:t>
                </a:r>
                <a:endParaRPr sz="1300" b="0" i="0" u="none" strike="noStrike" cap="none" dirty="0">
                  <a:solidFill>
                    <a:schemeClr val="dk1"/>
                  </a:solidFill>
                  <a:latin typeface="Calibri"/>
                  <a:ea typeface="Calibri"/>
                  <a:cs typeface="Calibri"/>
                  <a:sym typeface="Calibri"/>
                </a:endParaRPr>
              </a:p>
            </p:txBody>
          </p:sp>
          <p:sp>
            <p:nvSpPr>
              <p:cNvPr id="216" name="Google Shape;216;p8"/>
              <p:cNvSpPr/>
              <p:nvPr/>
            </p:nvSpPr>
            <p:spPr>
              <a:xfrm>
                <a:off x="6515100" y="312420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50"/>
                  <a:buFont typeface="Calibri"/>
                  <a:buNone/>
                </a:pPr>
                <a:endParaRPr sz="1250" b="0" i="0" u="none" strike="noStrike" cap="none" dirty="0">
                  <a:solidFill>
                    <a:schemeClr val="dk1"/>
                  </a:solidFill>
                  <a:latin typeface="Calibri"/>
                  <a:ea typeface="Calibri"/>
                  <a:cs typeface="Calibri"/>
                  <a:sym typeface="Calibri"/>
                </a:endParaRPr>
              </a:p>
            </p:txBody>
          </p:sp>
        </p:grpSp>
        <p:sp>
          <p:nvSpPr>
            <p:cNvPr id="7" name="TextBox 6">
              <a:extLst>
                <a:ext uri="{FF2B5EF4-FFF2-40B4-BE49-F238E27FC236}">
                  <a16:creationId xmlns:a16="http://schemas.microsoft.com/office/drawing/2014/main" id="{0E690C88-40DB-B633-57C8-D095FBBB42FB}"/>
                </a:ext>
              </a:extLst>
            </p:cNvPr>
            <p:cNvSpPr txBox="1"/>
            <p:nvPr/>
          </p:nvSpPr>
          <p:spPr>
            <a:xfrm>
              <a:off x="465912" y="4942896"/>
              <a:ext cx="3787234" cy="738664"/>
            </a:xfrm>
            <a:prstGeom prst="rect">
              <a:avLst/>
            </a:prstGeom>
            <a:noFill/>
          </p:spPr>
          <p:txBody>
            <a:bodyPr wrap="square" rtlCol="0">
              <a:spAutoFit/>
            </a:bodyPr>
            <a:lstStyle/>
            <a:p>
              <a:r>
                <a:rPr lang="en-GB" sz="1400" dirty="0"/>
                <a:t>Looking at the total monthly revenue, it does look like there is a seasonal shape, with peaks coming in Q2-Q3 (aka April-August). </a:t>
              </a:r>
            </a:p>
          </p:txBody>
        </p:sp>
      </p:grpSp>
      <p:pic>
        <p:nvPicPr>
          <p:cNvPr id="6" name="Picture 5">
            <a:extLst>
              <a:ext uri="{FF2B5EF4-FFF2-40B4-BE49-F238E27FC236}">
                <a16:creationId xmlns:a16="http://schemas.microsoft.com/office/drawing/2014/main" id="{18EFD24A-CAFF-4378-0CC1-D73A2965964C}"/>
              </a:ext>
            </a:extLst>
          </p:cNvPr>
          <p:cNvPicPr>
            <a:picLocks noChangeAspect="1"/>
          </p:cNvPicPr>
          <p:nvPr/>
        </p:nvPicPr>
        <p:blipFill>
          <a:blip r:embed="rId3"/>
          <a:srcRect/>
          <a:stretch/>
        </p:blipFill>
        <p:spPr>
          <a:xfrm>
            <a:off x="4424926" y="3581400"/>
            <a:ext cx="7767074" cy="27174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sp>
        <p:nvSpPr>
          <p:cNvPr id="226" name="Google Shape;226;p9"/>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9</a:t>
            </a:r>
            <a:endParaRPr sz="2400" b="0" i="0" u="none" strike="noStrike" cap="none">
              <a:solidFill>
                <a:schemeClr val="dk1"/>
              </a:solidFill>
              <a:latin typeface="Calibri"/>
              <a:ea typeface="Calibri"/>
              <a:cs typeface="Calibri"/>
              <a:sym typeface="Calibri"/>
            </a:endParaRPr>
          </a:p>
        </p:txBody>
      </p:sp>
      <p:sp>
        <p:nvSpPr>
          <p:cNvPr id="228" name="Google Shape;228;p9"/>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Visual Analysis</a:t>
            </a:r>
            <a:endParaRPr sz="2900" b="0" i="0" u="none" strike="noStrike" cap="none">
              <a:solidFill>
                <a:schemeClr val="dk1"/>
              </a:solidFill>
              <a:latin typeface="Calibri"/>
              <a:ea typeface="Calibri"/>
              <a:cs typeface="Calibri"/>
              <a:sym typeface="Calibri"/>
            </a:endParaRPr>
          </a:p>
        </p:txBody>
      </p:sp>
      <p:sp>
        <p:nvSpPr>
          <p:cNvPr id="245" name="Google Shape;245;p9"/>
          <p:cNvSpPr/>
          <p:nvPr/>
        </p:nvSpPr>
        <p:spPr>
          <a:xfrm>
            <a:off x="548640" y="411480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9"/>
          <p:cNvSpPr/>
          <p:nvPr/>
        </p:nvSpPr>
        <p:spPr>
          <a:xfrm>
            <a:off x="4270248" y="411480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1FADE19B-70D7-611D-29C4-8F191D7522CE}"/>
              </a:ext>
            </a:extLst>
          </p:cNvPr>
          <p:cNvPicPr>
            <a:picLocks noChangeAspect="1"/>
          </p:cNvPicPr>
          <p:nvPr/>
        </p:nvPicPr>
        <p:blipFill>
          <a:blip r:embed="rId3"/>
          <a:srcRect/>
          <a:stretch/>
        </p:blipFill>
        <p:spPr>
          <a:xfrm>
            <a:off x="724726" y="1188720"/>
            <a:ext cx="9598242" cy="5425735"/>
          </a:xfrm>
          <a:prstGeom prst="rect">
            <a:avLst/>
          </a:prstGeom>
        </p:spPr>
      </p:pic>
      <p:sp>
        <p:nvSpPr>
          <p:cNvPr id="4" name="TextBox 3">
            <a:extLst>
              <a:ext uri="{FF2B5EF4-FFF2-40B4-BE49-F238E27FC236}">
                <a16:creationId xmlns:a16="http://schemas.microsoft.com/office/drawing/2014/main" id="{613A1D0E-8F91-D520-E806-CF976CAF3829}"/>
              </a:ext>
            </a:extLst>
          </p:cNvPr>
          <p:cNvSpPr txBox="1"/>
          <p:nvPr/>
        </p:nvSpPr>
        <p:spPr>
          <a:xfrm>
            <a:off x="10450286" y="1883664"/>
            <a:ext cx="1458686" cy="646331"/>
          </a:xfrm>
          <a:prstGeom prst="rect">
            <a:avLst/>
          </a:prstGeom>
          <a:noFill/>
        </p:spPr>
        <p:txBody>
          <a:bodyPr wrap="square" rtlCol="0">
            <a:spAutoFit/>
          </a:bodyPr>
          <a:lstStyle/>
          <a:p>
            <a:r>
              <a:rPr lang="en-GB" dirty="0"/>
              <a:t>My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a:extLst>
            <a:ext uri="{FF2B5EF4-FFF2-40B4-BE49-F238E27FC236}">
              <a16:creationId xmlns:a16="http://schemas.microsoft.com/office/drawing/2014/main" id="{728A07ED-F238-3B94-4403-3C0665A50545}"/>
            </a:ext>
          </a:extLst>
        </p:cNvPr>
        <p:cNvGrpSpPr/>
        <p:nvPr/>
      </p:nvGrpSpPr>
      <p:grpSpPr>
        <a:xfrm>
          <a:off x="0" y="0"/>
          <a:ext cx="0" cy="0"/>
          <a:chOff x="0" y="0"/>
          <a:chExt cx="0" cy="0"/>
        </a:xfrm>
      </p:grpSpPr>
      <p:sp>
        <p:nvSpPr>
          <p:cNvPr id="226" name="Google Shape;226;p9">
            <a:extLst>
              <a:ext uri="{FF2B5EF4-FFF2-40B4-BE49-F238E27FC236}">
                <a16:creationId xmlns:a16="http://schemas.microsoft.com/office/drawing/2014/main" id="{28095B74-5B3B-B1F7-59E0-84C6636EC9E0}"/>
              </a:ext>
            </a:extLst>
          </p:cNvPr>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a:extLst>
              <a:ext uri="{FF2B5EF4-FFF2-40B4-BE49-F238E27FC236}">
                <a16:creationId xmlns:a16="http://schemas.microsoft.com/office/drawing/2014/main" id="{1D894601-AD80-162D-06B2-772FB7CE6493}"/>
              </a:ext>
            </a:extLst>
          </p:cNvPr>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9</a:t>
            </a:r>
            <a:endParaRPr sz="2400" b="0" i="0" u="none" strike="noStrike" cap="none">
              <a:solidFill>
                <a:schemeClr val="dk1"/>
              </a:solidFill>
              <a:latin typeface="Calibri"/>
              <a:ea typeface="Calibri"/>
              <a:cs typeface="Calibri"/>
              <a:sym typeface="Calibri"/>
            </a:endParaRPr>
          </a:p>
        </p:txBody>
      </p:sp>
      <p:sp>
        <p:nvSpPr>
          <p:cNvPr id="228" name="Google Shape;228;p9">
            <a:extLst>
              <a:ext uri="{FF2B5EF4-FFF2-40B4-BE49-F238E27FC236}">
                <a16:creationId xmlns:a16="http://schemas.microsoft.com/office/drawing/2014/main" id="{02550E8A-71A8-F814-306A-745627549C3E}"/>
              </a:ext>
            </a:extLst>
          </p:cNvPr>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Visual Analysis</a:t>
            </a:r>
            <a:endParaRPr sz="2900" b="0" i="0" u="none" strike="noStrike" cap="none">
              <a:solidFill>
                <a:schemeClr val="dk1"/>
              </a:solidFill>
              <a:latin typeface="Calibri"/>
              <a:ea typeface="Calibri"/>
              <a:cs typeface="Calibri"/>
              <a:sym typeface="Calibri"/>
            </a:endParaRPr>
          </a:p>
        </p:txBody>
      </p:sp>
      <p:sp>
        <p:nvSpPr>
          <p:cNvPr id="245" name="Google Shape;245;p9">
            <a:extLst>
              <a:ext uri="{FF2B5EF4-FFF2-40B4-BE49-F238E27FC236}">
                <a16:creationId xmlns:a16="http://schemas.microsoft.com/office/drawing/2014/main" id="{ADC255FD-718A-6F3D-3B7C-1D9E645BD33A}"/>
              </a:ext>
            </a:extLst>
          </p:cNvPr>
          <p:cNvSpPr/>
          <p:nvPr/>
        </p:nvSpPr>
        <p:spPr>
          <a:xfrm>
            <a:off x="548640" y="411480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9">
            <a:extLst>
              <a:ext uri="{FF2B5EF4-FFF2-40B4-BE49-F238E27FC236}">
                <a16:creationId xmlns:a16="http://schemas.microsoft.com/office/drawing/2014/main" id="{93E2E466-6589-80D4-40F4-C3BEA8D1A7EE}"/>
              </a:ext>
            </a:extLst>
          </p:cNvPr>
          <p:cNvSpPr/>
          <p:nvPr/>
        </p:nvSpPr>
        <p:spPr>
          <a:xfrm>
            <a:off x="4270248" y="411480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3BF8EA6B-A275-B91E-86CA-C042EBA74F34}"/>
              </a:ext>
            </a:extLst>
          </p:cNvPr>
          <p:cNvSpPr txBox="1"/>
          <p:nvPr/>
        </p:nvSpPr>
        <p:spPr>
          <a:xfrm>
            <a:off x="10450286" y="1883664"/>
            <a:ext cx="1458686" cy="646331"/>
          </a:xfrm>
          <a:prstGeom prst="rect">
            <a:avLst/>
          </a:prstGeom>
          <a:noFill/>
        </p:spPr>
        <p:txBody>
          <a:bodyPr wrap="square" rtlCol="0">
            <a:spAutoFit/>
          </a:bodyPr>
          <a:lstStyle/>
          <a:p>
            <a:r>
              <a:rPr lang="en-GB" dirty="0"/>
              <a:t>My mobile dashboard</a:t>
            </a:r>
          </a:p>
        </p:txBody>
      </p:sp>
      <p:pic>
        <p:nvPicPr>
          <p:cNvPr id="7" name="Picture 6">
            <a:extLst>
              <a:ext uri="{FF2B5EF4-FFF2-40B4-BE49-F238E27FC236}">
                <a16:creationId xmlns:a16="http://schemas.microsoft.com/office/drawing/2014/main" id="{5303DAC3-3ED0-62C1-DB87-3AC51C5ADEE7}"/>
              </a:ext>
            </a:extLst>
          </p:cNvPr>
          <p:cNvPicPr>
            <a:picLocks noChangeAspect="1"/>
          </p:cNvPicPr>
          <p:nvPr/>
        </p:nvPicPr>
        <p:blipFill>
          <a:blip r:embed="rId3"/>
          <a:srcRect/>
          <a:stretch/>
        </p:blipFill>
        <p:spPr>
          <a:xfrm>
            <a:off x="735178" y="1122970"/>
            <a:ext cx="3071069" cy="5696340"/>
          </a:xfrm>
          <a:prstGeom prst="rect">
            <a:avLst/>
          </a:prstGeom>
        </p:spPr>
      </p:pic>
      <p:pic>
        <p:nvPicPr>
          <p:cNvPr id="9" name="Picture 8">
            <a:extLst>
              <a:ext uri="{FF2B5EF4-FFF2-40B4-BE49-F238E27FC236}">
                <a16:creationId xmlns:a16="http://schemas.microsoft.com/office/drawing/2014/main" id="{F86D3F99-9381-227B-A28E-5D3BF963D881}"/>
              </a:ext>
            </a:extLst>
          </p:cNvPr>
          <p:cNvPicPr>
            <a:picLocks noChangeAspect="1"/>
          </p:cNvPicPr>
          <p:nvPr/>
        </p:nvPicPr>
        <p:blipFill>
          <a:blip r:embed="rId4"/>
          <a:srcRect/>
          <a:stretch/>
        </p:blipFill>
        <p:spPr>
          <a:xfrm>
            <a:off x="4270248" y="1370394"/>
            <a:ext cx="2989025" cy="5201490"/>
          </a:xfrm>
          <a:prstGeom prst="rect">
            <a:avLst/>
          </a:prstGeom>
        </p:spPr>
      </p:pic>
      <p:pic>
        <p:nvPicPr>
          <p:cNvPr id="13" name="Picture 12">
            <a:extLst>
              <a:ext uri="{FF2B5EF4-FFF2-40B4-BE49-F238E27FC236}">
                <a16:creationId xmlns:a16="http://schemas.microsoft.com/office/drawing/2014/main" id="{EFB876CE-A223-560C-FA38-1DDD89A70351}"/>
              </a:ext>
            </a:extLst>
          </p:cNvPr>
          <p:cNvPicPr>
            <a:picLocks noChangeAspect="1"/>
          </p:cNvPicPr>
          <p:nvPr/>
        </p:nvPicPr>
        <p:blipFill>
          <a:blip r:embed="rId5"/>
          <a:srcRect/>
          <a:stretch/>
        </p:blipFill>
        <p:spPr>
          <a:xfrm>
            <a:off x="7460441" y="1194317"/>
            <a:ext cx="2892085" cy="5167092"/>
          </a:xfrm>
          <a:prstGeom prst="rect">
            <a:avLst/>
          </a:prstGeom>
        </p:spPr>
      </p:pic>
    </p:spTree>
    <p:extLst>
      <p:ext uri="{BB962C8B-B14F-4D97-AF65-F5344CB8AC3E}">
        <p14:creationId xmlns:p14="http://schemas.microsoft.com/office/powerpoint/2010/main" val="2828795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875E4-676F-2114-7E3B-E3C1D7CA37B4}"/>
              </a:ext>
            </a:extLst>
          </p:cNvPr>
          <p:cNvSpPr txBox="1"/>
          <p:nvPr/>
        </p:nvSpPr>
        <p:spPr>
          <a:xfrm>
            <a:off x="783771" y="642256"/>
            <a:ext cx="4920343" cy="369332"/>
          </a:xfrm>
          <a:prstGeom prst="rect">
            <a:avLst/>
          </a:prstGeom>
          <a:noFill/>
        </p:spPr>
        <p:txBody>
          <a:bodyPr wrap="square" rtlCol="0">
            <a:spAutoFit/>
          </a:bodyPr>
          <a:lstStyle/>
          <a:p>
            <a:r>
              <a:rPr lang="en-GB" dirty="0"/>
              <a:t>Additional visual: Region by profit margin</a:t>
            </a:r>
          </a:p>
        </p:txBody>
      </p:sp>
      <p:pic>
        <p:nvPicPr>
          <p:cNvPr id="4" name="Picture 3">
            <a:extLst>
              <a:ext uri="{FF2B5EF4-FFF2-40B4-BE49-F238E27FC236}">
                <a16:creationId xmlns:a16="http://schemas.microsoft.com/office/drawing/2014/main" id="{EA7568BF-F40F-C5B9-35CC-D7F73A7C35B2}"/>
              </a:ext>
            </a:extLst>
          </p:cNvPr>
          <p:cNvPicPr>
            <a:picLocks noChangeAspect="1"/>
          </p:cNvPicPr>
          <p:nvPr/>
        </p:nvPicPr>
        <p:blipFill>
          <a:blip r:embed="rId2"/>
          <a:stretch>
            <a:fillRect/>
          </a:stretch>
        </p:blipFill>
        <p:spPr>
          <a:xfrm>
            <a:off x="620639" y="1586993"/>
            <a:ext cx="7554379" cy="4010585"/>
          </a:xfrm>
          <a:prstGeom prst="rect">
            <a:avLst/>
          </a:prstGeom>
        </p:spPr>
      </p:pic>
      <p:sp>
        <p:nvSpPr>
          <p:cNvPr id="5" name="TextBox 4">
            <a:extLst>
              <a:ext uri="{FF2B5EF4-FFF2-40B4-BE49-F238E27FC236}">
                <a16:creationId xmlns:a16="http://schemas.microsoft.com/office/drawing/2014/main" id="{6D1F3120-9E2B-0011-F911-1EC4EA5CC8B0}"/>
              </a:ext>
            </a:extLst>
          </p:cNvPr>
          <p:cNvSpPr txBox="1"/>
          <p:nvPr/>
        </p:nvSpPr>
        <p:spPr>
          <a:xfrm>
            <a:off x="8937171" y="1556657"/>
            <a:ext cx="2220686" cy="2031325"/>
          </a:xfrm>
          <a:prstGeom prst="rect">
            <a:avLst/>
          </a:prstGeom>
          <a:noFill/>
        </p:spPr>
        <p:txBody>
          <a:bodyPr wrap="square" rtlCol="0">
            <a:spAutoFit/>
          </a:bodyPr>
          <a:lstStyle/>
          <a:p>
            <a:r>
              <a:rPr lang="en-GB" dirty="0"/>
              <a:t>Shows that while West drives profit, the Midwest actually has the highest profit margin, although only by a tiny amount.</a:t>
            </a:r>
          </a:p>
        </p:txBody>
      </p:sp>
    </p:spTree>
    <p:extLst>
      <p:ext uri="{BB962C8B-B14F-4D97-AF65-F5344CB8AC3E}">
        <p14:creationId xmlns:p14="http://schemas.microsoft.com/office/powerpoint/2010/main" val="107731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a:extLst>
            <a:ext uri="{FF2B5EF4-FFF2-40B4-BE49-F238E27FC236}">
              <a16:creationId xmlns:a16="http://schemas.microsoft.com/office/drawing/2014/main" id="{723C0D5A-1E7E-B0B9-E99D-C694F473D774}"/>
            </a:ext>
          </a:extLst>
        </p:cNvPr>
        <p:cNvGrpSpPr/>
        <p:nvPr/>
      </p:nvGrpSpPr>
      <p:grpSpPr>
        <a:xfrm>
          <a:off x="0" y="0"/>
          <a:ext cx="0" cy="0"/>
          <a:chOff x="0" y="0"/>
          <a:chExt cx="0" cy="0"/>
        </a:xfrm>
      </p:grpSpPr>
      <p:sp>
        <p:nvSpPr>
          <p:cNvPr id="226" name="Google Shape;226;p9">
            <a:extLst>
              <a:ext uri="{FF2B5EF4-FFF2-40B4-BE49-F238E27FC236}">
                <a16:creationId xmlns:a16="http://schemas.microsoft.com/office/drawing/2014/main" id="{C8A61D34-1E86-DD7B-0F02-099169868041}"/>
              </a:ext>
            </a:extLst>
          </p:cNvPr>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a:extLst>
              <a:ext uri="{FF2B5EF4-FFF2-40B4-BE49-F238E27FC236}">
                <a16:creationId xmlns:a16="http://schemas.microsoft.com/office/drawing/2014/main" id="{459DE77E-70C1-F39F-51B8-DEE33B1267B8}"/>
              </a:ext>
            </a:extLst>
          </p:cNvPr>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9</a:t>
            </a:r>
            <a:endParaRPr sz="2400" b="0" i="0" u="none" strike="noStrike" cap="none">
              <a:solidFill>
                <a:schemeClr val="dk1"/>
              </a:solidFill>
              <a:latin typeface="Calibri"/>
              <a:ea typeface="Calibri"/>
              <a:cs typeface="Calibri"/>
              <a:sym typeface="Calibri"/>
            </a:endParaRPr>
          </a:p>
        </p:txBody>
      </p:sp>
      <p:sp>
        <p:nvSpPr>
          <p:cNvPr id="228" name="Google Shape;228;p9">
            <a:extLst>
              <a:ext uri="{FF2B5EF4-FFF2-40B4-BE49-F238E27FC236}">
                <a16:creationId xmlns:a16="http://schemas.microsoft.com/office/drawing/2014/main" id="{DD54A403-3D98-C781-7F12-A1495D32AB58}"/>
              </a:ext>
            </a:extLst>
          </p:cNvPr>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Visual Analysis</a:t>
            </a:r>
            <a:endParaRPr sz="2900" b="0" i="0" u="none" strike="noStrike" cap="none">
              <a:solidFill>
                <a:schemeClr val="dk1"/>
              </a:solidFill>
              <a:latin typeface="Calibri"/>
              <a:ea typeface="Calibri"/>
              <a:cs typeface="Calibri"/>
              <a:sym typeface="Calibri"/>
            </a:endParaRPr>
          </a:p>
        </p:txBody>
      </p:sp>
      <p:sp>
        <p:nvSpPr>
          <p:cNvPr id="229" name="Google Shape;229;p9">
            <a:extLst>
              <a:ext uri="{FF2B5EF4-FFF2-40B4-BE49-F238E27FC236}">
                <a16:creationId xmlns:a16="http://schemas.microsoft.com/office/drawing/2014/main" id="{428E0545-FBAF-ADB6-E078-5DBC450C541A}"/>
              </a:ext>
            </a:extLst>
          </p:cNvPr>
          <p:cNvSpPr/>
          <p:nvPr/>
        </p:nvSpPr>
        <p:spPr>
          <a:xfrm>
            <a:off x="548640" y="150876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00"/>
              <a:buFont typeface="Calibri"/>
              <a:buNone/>
            </a:pPr>
            <a:r>
              <a:rPr lang="en-US" sz="1200" b="1" i="0" u="none" strike="noStrike" cap="none" dirty="0">
                <a:solidFill>
                  <a:srgbClr val="C77F33"/>
                </a:solidFill>
                <a:latin typeface="Calibri"/>
                <a:ea typeface="Calibri"/>
                <a:cs typeface="Calibri"/>
                <a:sym typeface="Calibri"/>
              </a:rPr>
              <a:t>Insight into each visual</a:t>
            </a:r>
            <a:endParaRPr sz="1200" b="0" i="0" u="none" strike="noStrike" cap="none" dirty="0">
              <a:solidFill>
                <a:schemeClr val="dk1"/>
              </a:solidFill>
              <a:latin typeface="Calibri"/>
              <a:ea typeface="Calibri"/>
              <a:cs typeface="Calibri"/>
              <a:sym typeface="Calibri"/>
            </a:endParaRPr>
          </a:p>
        </p:txBody>
      </p:sp>
      <p:sp>
        <p:nvSpPr>
          <p:cNvPr id="230" name="Google Shape;230;p9">
            <a:extLst>
              <a:ext uri="{FF2B5EF4-FFF2-40B4-BE49-F238E27FC236}">
                <a16:creationId xmlns:a16="http://schemas.microsoft.com/office/drawing/2014/main" id="{F84B1605-EF23-F299-3703-F110D3414C43}"/>
              </a:ext>
            </a:extLst>
          </p:cNvPr>
          <p:cNvSpPr/>
          <p:nvPr/>
        </p:nvSpPr>
        <p:spPr>
          <a:xfrm>
            <a:off x="548640" y="201168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9">
            <a:extLst>
              <a:ext uri="{FF2B5EF4-FFF2-40B4-BE49-F238E27FC236}">
                <a16:creationId xmlns:a16="http://schemas.microsoft.com/office/drawing/2014/main" id="{E7EFED91-BC06-CBE0-890A-4FEE69CFC734}"/>
              </a:ext>
            </a:extLst>
          </p:cNvPr>
          <p:cNvSpPr/>
          <p:nvPr/>
        </p:nvSpPr>
        <p:spPr>
          <a:xfrm>
            <a:off x="777240" y="2212848"/>
            <a:ext cx="365760" cy="365760"/>
          </a:xfrm>
          <a:prstGeom prst="ellipse">
            <a:avLst/>
          </a:prstGeom>
          <a:solidFill>
            <a:srgbClr val="97B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9">
            <a:extLst>
              <a:ext uri="{FF2B5EF4-FFF2-40B4-BE49-F238E27FC236}">
                <a16:creationId xmlns:a16="http://schemas.microsoft.com/office/drawing/2014/main" id="{0583D914-77A5-F5D8-6440-34B1B277D81D}"/>
              </a:ext>
            </a:extLst>
          </p:cNvPr>
          <p:cNvSpPr/>
          <p:nvPr/>
        </p:nvSpPr>
        <p:spPr>
          <a:xfrm>
            <a:off x="777240" y="219456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3D2E"/>
              </a:buClr>
              <a:buSzPts val="1500"/>
              <a:buFont typeface="Cambria"/>
              <a:buNone/>
            </a:pPr>
            <a:r>
              <a:rPr lang="en-US" sz="1500" b="1" i="0" u="none" strike="noStrike" cap="none">
                <a:solidFill>
                  <a:srgbClr val="1F3D2E"/>
                </a:solidFill>
                <a:latin typeface="Cambria"/>
                <a:ea typeface="Cambria"/>
                <a:cs typeface="Cambria"/>
                <a:sym typeface="Cambria"/>
              </a:rPr>
              <a:t>1</a:t>
            </a:r>
            <a:endParaRPr sz="1500" b="0" i="0" u="none" strike="noStrike" cap="none">
              <a:solidFill>
                <a:schemeClr val="dk1"/>
              </a:solidFill>
              <a:latin typeface="Calibri"/>
              <a:ea typeface="Calibri"/>
              <a:cs typeface="Calibri"/>
              <a:sym typeface="Calibri"/>
            </a:endParaRPr>
          </a:p>
        </p:txBody>
      </p:sp>
      <p:sp>
        <p:nvSpPr>
          <p:cNvPr id="233" name="Google Shape;233;p9">
            <a:extLst>
              <a:ext uri="{FF2B5EF4-FFF2-40B4-BE49-F238E27FC236}">
                <a16:creationId xmlns:a16="http://schemas.microsoft.com/office/drawing/2014/main" id="{8F675AF9-E2AD-08FD-CC00-7EB2EFBF1257}"/>
              </a:ext>
            </a:extLst>
          </p:cNvPr>
          <p:cNvSpPr/>
          <p:nvPr/>
        </p:nvSpPr>
        <p:spPr>
          <a:xfrm>
            <a:off x="1261872" y="2212848"/>
            <a:ext cx="26517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dirty="0">
                <a:solidFill>
                  <a:srgbClr val="1F3D2E"/>
                </a:solidFill>
                <a:latin typeface="Calibri"/>
                <a:ea typeface="Calibri"/>
                <a:cs typeface="Calibri"/>
                <a:sym typeface="Calibri"/>
              </a:rPr>
              <a:t>Revenue, Profit and Profit Margin by Category</a:t>
            </a:r>
            <a:endParaRPr sz="1350" b="0" i="0" u="none" strike="noStrike" cap="none" dirty="0">
              <a:solidFill>
                <a:schemeClr val="dk1"/>
              </a:solidFill>
              <a:latin typeface="Calibri"/>
              <a:ea typeface="Calibri"/>
              <a:cs typeface="Calibri"/>
              <a:sym typeface="Calibri"/>
            </a:endParaRPr>
          </a:p>
        </p:txBody>
      </p:sp>
      <p:sp>
        <p:nvSpPr>
          <p:cNvPr id="234" name="Google Shape;234;p9">
            <a:extLst>
              <a:ext uri="{FF2B5EF4-FFF2-40B4-BE49-F238E27FC236}">
                <a16:creationId xmlns:a16="http://schemas.microsoft.com/office/drawing/2014/main" id="{8E14B8EF-A034-403A-A98C-7B19BFF0E121}"/>
              </a:ext>
            </a:extLst>
          </p:cNvPr>
          <p:cNvSpPr/>
          <p:nvPr/>
        </p:nvSpPr>
        <p:spPr>
          <a:xfrm>
            <a:off x="777240" y="2880360"/>
            <a:ext cx="310896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I found that while tents are the best-selling category with $940k in revenue, and it is in fact Cooking (lowest revenue at $220k) which has the highest profit margin of 47.65%, compared to tents with 43.31%.</a:t>
            </a:r>
            <a:endParaRPr sz="1250" b="0" i="0" u="none" strike="noStrike" cap="none" dirty="0">
              <a:solidFill>
                <a:schemeClr val="dk1"/>
              </a:solidFill>
              <a:latin typeface="Calibri"/>
              <a:ea typeface="Calibri"/>
              <a:cs typeface="Calibri"/>
              <a:sym typeface="Calibri"/>
            </a:endParaRPr>
          </a:p>
        </p:txBody>
      </p:sp>
      <p:sp>
        <p:nvSpPr>
          <p:cNvPr id="235" name="Google Shape;235;p9">
            <a:extLst>
              <a:ext uri="{FF2B5EF4-FFF2-40B4-BE49-F238E27FC236}">
                <a16:creationId xmlns:a16="http://schemas.microsoft.com/office/drawing/2014/main" id="{8A76A37E-9172-FC1E-439C-374296580868}"/>
              </a:ext>
            </a:extLst>
          </p:cNvPr>
          <p:cNvSpPr/>
          <p:nvPr/>
        </p:nvSpPr>
        <p:spPr>
          <a:xfrm>
            <a:off x="4270248" y="201168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9">
            <a:extLst>
              <a:ext uri="{FF2B5EF4-FFF2-40B4-BE49-F238E27FC236}">
                <a16:creationId xmlns:a16="http://schemas.microsoft.com/office/drawing/2014/main" id="{618CB791-E834-C31B-1AA5-EC2ED43D5CD8}"/>
              </a:ext>
            </a:extLst>
          </p:cNvPr>
          <p:cNvSpPr/>
          <p:nvPr/>
        </p:nvSpPr>
        <p:spPr>
          <a:xfrm>
            <a:off x="4498848" y="2212848"/>
            <a:ext cx="365760" cy="365760"/>
          </a:xfrm>
          <a:prstGeom prst="ellipse">
            <a:avLst/>
          </a:prstGeom>
          <a:solidFill>
            <a:srgbClr val="97B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9">
            <a:extLst>
              <a:ext uri="{FF2B5EF4-FFF2-40B4-BE49-F238E27FC236}">
                <a16:creationId xmlns:a16="http://schemas.microsoft.com/office/drawing/2014/main" id="{91CCED26-DBF9-7393-17C4-58A3627392D3}"/>
              </a:ext>
            </a:extLst>
          </p:cNvPr>
          <p:cNvSpPr/>
          <p:nvPr/>
        </p:nvSpPr>
        <p:spPr>
          <a:xfrm>
            <a:off x="4498848" y="219456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3D2E"/>
              </a:buClr>
              <a:buSzPts val="1500"/>
              <a:buFont typeface="Cambria"/>
              <a:buNone/>
            </a:pPr>
            <a:r>
              <a:rPr lang="en-US" sz="1500" b="1" i="0" u="none" strike="noStrike" cap="none">
                <a:solidFill>
                  <a:srgbClr val="1F3D2E"/>
                </a:solidFill>
                <a:latin typeface="Cambria"/>
                <a:ea typeface="Cambria"/>
                <a:cs typeface="Cambria"/>
                <a:sym typeface="Cambria"/>
              </a:rPr>
              <a:t>2</a:t>
            </a:r>
            <a:endParaRPr sz="1500" b="0" i="0" u="none" strike="noStrike" cap="none">
              <a:solidFill>
                <a:schemeClr val="dk1"/>
              </a:solidFill>
              <a:latin typeface="Calibri"/>
              <a:ea typeface="Calibri"/>
              <a:cs typeface="Calibri"/>
              <a:sym typeface="Calibri"/>
            </a:endParaRPr>
          </a:p>
        </p:txBody>
      </p:sp>
      <p:sp>
        <p:nvSpPr>
          <p:cNvPr id="238" name="Google Shape;238;p9">
            <a:extLst>
              <a:ext uri="{FF2B5EF4-FFF2-40B4-BE49-F238E27FC236}">
                <a16:creationId xmlns:a16="http://schemas.microsoft.com/office/drawing/2014/main" id="{62E758EE-A8A2-0CF7-6BF1-9CDD70D0B37B}"/>
              </a:ext>
            </a:extLst>
          </p:cNvPr>
          <p:cNvSpPr/>
          <p:nvPr/>
        </p:nvSpPr>
        <p:spPr>
          <a:xfrm>
            <a:off x="4983480" y="2212848"/>
            <a:ext cx="26517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a:solidFill>
                  <a:srgbClr val="1F3D2E"/>
                </a:solidFill>
                <a:latin typeface="Calibri"/>
                <a:ea typeface="Calibri"/>
                <a:cs typeface="Calibri"/>
                <a:sym typeface="Calibri"/>
              </a:rPr>
              <a:t>Monthly Trend (line)</a:t>
            </a:r>
            <a:endParaRPr sz="1350" b="0" i="0" u="none" strike="noStrike" cap="none">
              <a:solidFill>
                <a:schemeClr val="dk1"/>
              </a:solidFill>
              <a:latin typeface="Calibri"/>
              <a:ea typeface="Calibri"/>
              <a:cs typeface="Calibri"/>
              <a:sym typeface="Calibri"/>
            </a:endParaRPr>
          </a:p>
        </p:txBody>
      </p:sp>
      <p:sp>
        <p:nvSpPr>
          <p:cNvPr id="239" name="Google Shape;239;p9">
            <a:extLst>
              <a:ext uri="{FF2B5EF4-FFF2-40B4-BE49-F238E27FC236}">
                <a16:creationId xmlns:a16="http://schemas.microsoft.com/office/drawing/2014/main" id="{8EEA6B2D-FDCE-9005-7851-DBB751614C76}"/>
              </a:ext>
            </a:extLst>
          </p:cNvPr>
          <p:cNvSpPr/>
          <p:nvPr/>
        </p:nvSpPr>
        <p:spPr>
          <a:xfrm>
            <a:off x="4498848" y="2880360"/>
            <a:ext cx="310896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GB" sz="1250" b="0" i="1" u="none" strike="noStrike" cap="none" dirty="0">
                <a:solidFill>
                  <a:srgbClr val="6E7B71"/>
                </a:solidFill>
                <a:latin typeface="Calibri"/>
                <a:ea typeface="Calibri"/>
                <a:cs typeface="Calibri"/>
                <a:sym typeface="Calibri"/>
              </a:rPr>
              <a:t>Looking at the total monthly trend, we can see a seasonal trend, with peaks coming in Q2-Q3 (aka April-August). </a:t>
            </a:r>
          </a:p>
          <a:p>
            <a:pPr marL="0" marR="0" lvl="0" indent="0" algn="l" rtl="0">
              <a:spcBef>
                <a:spcPts val="0"/>
              </a:spcBef>
              <a:spcAft>
                <a:spcPts val="0"/>
              </a:spcAft>
              <a:buClr>
                <a:srgbClr val="6E7B71"/>
              </a:buClr>
              <a:buSzPts val="1250"/>
              <a:buFont typeface="Calibri"/>
              <a:buNone/>
            </a:pPr>
            <a:endParaRPr lang="en-US" sz="1250" b="0" i="0" u="none" strike="noStrike" cap="none" dirty="0">
              <a:solidFill>
                <a:schemeClr val="dk1"/>
              </a:solidFill>
              <a:latin typeface="Calibri"/>
              <a:ea typeface="Calibri"/>
              <a:cs typeface="Calibri"/>
              <a:sym typeface="Calibri"/>
            </a:endParaRPr>
          </a:p>
        </p:txBody>
      </p:sp>
      <p:sp>
        <p:nvSpPr>
          <p:cNvPr id="240" name="Google Shape;240;p9">
            <a:extLst>
              <a:ext uri="{FF2B5EF4-FFF2-40B4-BE49-F238E27FC236}">
                <a16:creationId xmlns:a16="http://schemas.microsoft.com/office/drawing/2014/main" id="{FCEEA33B-2141-93FE-D30C-4E18DFFB5E7B}"/>
              </a:ext>
            </a:extLst>
          </p:cNvPr>
          <p:cNvSpPr/>
          <p:nvPr/>
        </p:nvSpPr>
        <p:spPr>
          <a:xfrm>
            <a:off x="7991856" y="201168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9">
            <a:extLst>
              <a:ext uri="{FF2B5EF4-FFF2-40B4-BE49-F238E27FC236}">
                <a16:creationId xmlns:a16="http://schemas.microsoft.com/office/drawing/2014/main" id="{F50ADC6A-B6A0-5B14-CEA8-79743071D6B3}"/>
              </a:ext>
            </a:extLst>
          </p:cNvPr>
          <p:cNvSpPr/>
          <p:nvPr/>
        </p:nvSpPr>
        <p:spPr>
          <a:xfrm>
            <a:off x="8220456" y="2212848"/>
            <a:ext cx="365760" cy="365760"/>
          </a:xfrm>
          <a:prstGeom prst="ellipse">
            <a:avLst/>
          </a:prstGeom>
          <a:solidFill>
            <a:srgbClr val="97B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a:extLst>
              <a:ext uri="{FF2B5EF4-FFF2-40B4-BE49-F238E27FC236}">
                <a16:creationId xmlns:a16="http://schemas.microsoft.com/office/drawing/2014/main" id="{C14BFB3A-4BD3-BA0F-B4F2-A4386C0FA192}"/>
              </a:ext>
            </a:extLst>
          </p:cNvPr>
          <p:cNvSpPr/>
          <p:nvPr/>
        </p:nvSpPr>
        <p:spPr>
          <a:xfrm>
            <a:off x="8220456" y="219456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3D2E"/>
              </a:buClr>
              <a:buSzPts val="1500"/>
              <a:buFont typeface="Cambria"/>
              <a:buNone/>
            </a:pPr>
            <a:r>
              <a:rPr lang="en-US" sz="1500" b="1" i="0" u="none" strike="noStrike" cap="none">
                <a:solidFill>
                  <a:srgbClr val="1F3D2E"/>
                </a:solidFill>
                <a:latin typeface="Cambria"/>
                <a:ea typeface="Cambria"/>
                <a:cs typeface="Cambria"/>
                <a:sym typeface="Cambria"/>
              </a:rPr>
              <a:t>3</a:t>
            </a:r>
            <a:endParaRPr sz="1500" b="0" i="0" u="none" strike="noStrike" cap="none">
              <a:solidFill>
                <a:schemeClr val="dk1"/>
              </a:solidFill>
              <a:latin typeface="Calibri"/>
              <a:ea typeface="Calibri"/>
              <a:cs typeface="Calibri"/>
              <a:sym typeface="Calibri"/>
            </a:endParaRPr>
          </a:p>
        </p:txBody>
      </p:sp>
      <p:sp>
        <p:nvSpPr>
          <p:cNvPr id="243" name="Google Shape;243;p9">
            <a:extLst>
              <a:ext uri="{FF2B5EF4-FFF2-40B4-BE49-F238E27FC236}">
                <a16:creationId xmlns:a16="http://schemas.microsoft.com/office/drawing/2014/main" id="{16BF33C6-91A4-1B40-7C97-13E92399A4AE}"/>
              </a:ext>
            </a:extLst>
          </p:cNvPr>
          <p:cNvSpPr/>
          <p:nvPr/>
        </p:nvSpPr>
        <p:spPr>
          <a:xfrm>
            <a:off x="8705088" y="2212848"/>
            <a:ext cx="26517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a:solidFill>
                  <a:srgbClr val="1F3D2E"/>
                </a:solidFill>
                <a:latin typeface="Calibri"/>
                <a:ea typeface="Calibri"/>
                <a:cs typeface="Calibri"/>
                <a:sym typeface="Calibri"/>
              </a:rPr>
              <a:t>Region × Year (matrix)</a:t>
            </a:r>
            <a:endParaRPr sz="1350" b="0" i="0" u="none" strike="noStrike" cap="none">
              <a:solidFill>
                <a:schemeClr val="dk1"/>
              </a:solidFill>
              <a:latin typeface="Calibri"/>
              <a:ea typeface="Calibri"/>
              <a:cs typeface="Calibri"/>
              <a:sym typeface="Calibri"/>
            </a:endParaRPr>
          </a:p>
        </p:txBody>
      </p:sp>
      <p:sp>
        <p:nvSpPr>
          <p:cNvPr id="244" name="Google Shape;244;p9">
            <a:extLst>
              <a:ext uri="{FF2B5EF4-FFF2-40B4-BE49-F238E27FC236}">
                <a16:creationId xmlns:a16="http://schemas.microsoft.com/office/drawing/2014/main" id="{41E4809D-5578-899F-E1C3-F50692F6AB92}"/>
              </a:ext>
            </a:extLst>
          </p:cNvPr>
          <p:cNvSpPr/>
          <p:nvPr/>
        </p:nvSpPr>
        <p:spPr>
          <a:xfrm>
            <a:off x="8220456" y="2880360"/>
            <a:ext cx="310896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The west has by far the best total revenue out of all the regions, with double as much as any of the other regions. This is true for every year so far.</a:t>
            </a:r>
            <a:endParaRPr sz="1250" b="0" i="0" u="none" strike="noStrike" cap="none" dirty="0">
              <a:solidFill>
                <a:schemeClr val="dk1"/>
              </a:solidFill>
              <a:latin typeface="Calibri"/>
              <a:ea typeface="Calibri"/>
              <a:cs typeface="Calibri"/>
              <a:sym typeface="Calibri"/>
            </a:endParaRPr>
          </a:p>
        </p:txBody>
      </p:sp>
      <p:sp>
        <p:nvSpPr>
          <p:cNvPr id="245" name="Google Shape;245;p9">
            <a:extLst>
              <a:ext uri="{FF2B5EF4-FFF2-40B4-BE49-F238E27FC236}">
                <a16:creationId xmlns:a16="http://schemas.microsoft.com/office/drawing/2014/main" id="{47601F85-3DAF-3301-F4C5-1B887F8C792D}"/>
              </a:ext>
            </a:extLst>
          </p:cNvPr>
          <p:cNvSpPr/>
          <p:nvPr/>
        </p:nvSpPr>
        <p:spPr>
          <a:xfrm>
            <a:off x="548640" y="411480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 name="Google Shape;246;p9">
            <a:extLst>
              <a:ext uri="{FF2B5EF4-FFF2-40B4-BE49-F238E27FC236}">
                <a16:creationId xmlns:a16="http://schemas.microsoft.com/office/drawing/2014/main" id="{C0359DAE-53DA-BC9D-35A1-8519FE2271DE}"/>
              </a:ext>
            </a:extLst>
          </p:cNvPr>
          <p:cNvSpPr/>
          <p:nvPr/>
        </p:nvSpPr>
        <p:spPr>
          <a:xfrm>
            <a:off x="777240" y="4315968"/>
            <a:ext cx="365760" cy="365760"/>
          </a:xfrm>
          <a:prstGeom prst="ellipse">
            <a:avLst/>
          </a:prstGeom>
          <a:solidFill>
            <a:srgbClr val="97B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9">
            <a:extLst>
              <a:ext uri="{FF2B5EF4-FFF2-40B4-BE49-F238E27FC236}">
                <a16:creationId xmlns:a16="http://schemas.microsoft.com/office/drawing/2014/main" id="{A06E9201-D984-41E0-712F-00437BA84F9A}"/>
              </a:ext>
            </a:extLst>
          </p:cNvPr>
          <p:cNvSpPr/>
          <p:nvPr/>
        </p:nvSpPr>
        <p:spPr>
          <a:xfrm>
            <a:off x="777240" y="429768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3D2E"/>
              </a:buClr>
              <a:buSzPts val="1500"/>
              <a:buFont typeface="Cambria"/>
              <a:buNone/>
            </a:pPr>
            <a:r>
              <a:rPr lang="en-US" sz="1500" b="1" i="0" u="none" strike="noStrike" cap="none">
                <a:solidFill>
                  <a:srgbClr val="1F3D2E"/>
                </a:solidFill>
                <a:latin typeface="Cambria"/>
                <a:ea typeface="Cambria"/>
                <a:cs typeface="Cambria"/>
                <a:sym typeface="Cambria"/>
              </a:rPr>
              <a:t>4</a:t>
            </a:r>
            <a:endParaRPr sz="1500" b="0" i="0" u="none" strike="noStrike" cap="none">
              <a:solidFill>
                <a:schemeClr val="dk1"/>
              </a:solidFill>
              <a:latin typeface="Calibri"/>
              <a:ea typeface="Calibri"/>
              <a:cs typeface="Calibri"/>
              <a:sym typeface="Calibri"/>
            </a:endParaRPr>
          </a:p>
        </p:txBody>
      </p:sp>
      <p:sp>
        <p:nvSpPr>
          <p:cNvPr id="248" name="Google Shape;248;p9">
            <a:extLst>
              <a:ext uri="{FF2B5EF4-FFF2-40B4-BE49-F238E27FC236}">
                <a16:creationId xmlns:a16="http://schemas.microsoft.com/office/drawing/2014/main" id="{399A7460-C085-3E3C-B897-876D78225C2E}"/>
              </a:ext>
            </a:extLst>
          </p:cNvPr>
          <p:cNvSpPr/>
          <p:nvPr/>
        </p:nvSpPr>
        <p:spPr>
          <a:xfrm>
            <a:off x="1261872" y="4315968"/>
            <a:ext cx="26517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a:solidFill>
                  <a:srgbClr val="1F3D2E"/>
                </a:solidFill>
                <a:latin typeface="Calibri"/>
                <a:ea typeface="Calibri"/>
                <a:cs typeface="Calibri"/>
                <a:sym typeface="Calibri"/>
              </a:rPr>
              <a:t>Revenue by State (map)</a:t>
            </a:r>
            <a:endParaRPr sz="1350" b="0" i="0" u="none" strike="noStrike" cap="none">
              <a:solidFill>
                <a:schemeClr val="dk1"/>
              </a:solidFill>
              <a:latin typeface="Calibri"/>
              <a:ea typeface="Calibri"/>
              <a:cs typeface="Calibri"/>
              <a:sym typeface="Calibri"/>
            </a:endParaRPr>
          </a:p>
        </p:txBody>
      </p:sp>
      <p:sp>
        <p:nvSpPr>
          <p:cNvPr id="249" name="Google Shape;249;p9">
            <a:extLst>
              <a:ext uri="{FF2B5EF4-FFF2-40B4-BE49-F238E27FC236}">
                <a16:creationId xmlns:a16="http://schemas.microsoft.com/office/drawing/2014/main" id="{ACAA77BD-8677-62DE-A2E4-0CD908736BFC}"/>
              </a:ext>
            </a:extLst>
          </p:cNvPr>
          <p:cNvSpPr/>
          <p:nvPr/>
        </p:nvSpPr>
        <p:spPr>
          <a:xfrm>
            <a:off x="777240" y="4983480"/>
            <a:ext cx="310896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endParaRPr sz="125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0F03F282-0DC0-ED7B-3FAC-72D7F573F951}"/>
              </a:ext>
            </a:extLst>
          </p:cNvPr>
          <p:cNvSpPr/>
          <p:nvPr/>
        </p:nvSpPr>
        <p:spPr>
          <a:xfrm>
            <a:off x="4270248" y="4114800"/>
            <a:ext cx="3520440" cy="1874520"/>
          </a:xfrm>
          <a:prstGeom prst="roundRect">
            <a:avLst>
              <a:gd name="adj" fmla="val 4390"/>
            </a:avLst>
          </a:prstGeom>
          <a:solidFill>
            <a:srgbClr val="FFFFFF"/>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9">
            <a:extLst>
              <a:ext uri="{FF2B5EF4-FFF2-40B4-BE49-F238E27FC236}">
                <a16:creationId xmlns:a16="http://schemas.microsoft.com/office/drawing/2014/main" id="{995D363C-593D-A553-F7E7-C4E80CC1994D}"/>
              </a:ext>
            </a:extLst>
          </p:cNvPr>
          <p:cNvSpPr/>
          <p:nvPr/>
        </p:nvSpPr>
        <p:spPr>
          <a:xfrm>
            <a:off x="4498848" y="4315968"/>
            <a:ext cx="365760" cy="365760"/>
          </a:xfrm>
          <a:prstGeom prst="ellipse">
            <a:avLst/>
          </a:prstGeom>
          <a:solidFill>
            <a:srgbClr val="97B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9">
            <a:extLst>
              <a:ext uri="{FF2B5EF4-FFF2-40B4-BE49-F238E27FC236}">
                <a16:creationId xmlns:a16="http://schemas.microsoft.com/office/drawing/2014/main" id="{B0A3C609-8903-60C9-6FEF-659084131016}"/>
              </a:ext>
            </a:extLst>
          </p:cNvPr>
          <p:cNvSpPr/>
          <p:nvPr/>
        </p:nvSpPr>
        <p:spPr>
          <a:xfrm>
            <a:off x="4498848" y="429768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3D2E"/>
              </a:buClr>
              <a:buSzPts val="1500"/>
              <a:buFont typeface="Cambria"/>
              <a:buNone/>
            </a:pPr>
            <a:r>
              <a:rPr lang="en-US" sz="1500" b="1" i="0" u="none" strike="noStrike" cap="none">
                <a:solidFill>
                  <a:srgbClr val="1F3D2E"/>
                </a:solidFill>
                <a:latin typeface="Cambria"/>
                <a:ea typeface="Cambria"/>
                <a:cs typeface="Cambria"/>
                <a:sym typeface="Cambria"/>
              </a:rPr>
              <a:t>5</a:t>
            </a:r>
            <a:endParaRPr sz="1500" b="0" i="0" u="none" strike="noStrike" cap="none">
              <a:solidFill>
                <a:schemeClr val="dk1"/>
              </a:solidFill>
              <a:latin typeface="Calibri"/>
              <a:ea typeface="Calibri"/>
              <a:cs typeface="Calibri"/>
              <a:sym typeface="Calibri"/>
            </a:endParaRPr>
          </a:p>
        </p:txBody>
      </p:sp>
      <p:sp>
        <p:nvSpPr>
          <p:cNvPr id="253" name="Google Shape;253;p9">
            <a:extLst>
              <a:ext uri="{FF2B5EF4-FFF2-40B4-BE49-F238E27FC236}">
                <a16:creationId xmlns:a16="http://schemas.microsoft.com/office/drawing/2014/main" id="{DBA05D69-D571-A08E-2104-0AF0559BD146}"/>
              </a:ext>
            </a:extLst>
          </p:cNvPr>
          <p:cNvSpPr/>
          <p:nvPr/>
        </p:nvSpPr>
        <p:spPr>
          <a:xfrm>
            <a:off x="4983480" y="4315968"/>
            <a:ext cx="26517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a:solidFill>
                  <a:srgbClr val="1F3D2E"/>
                </a:solidFill>
                <a:latin typeface="Calibri"/>
                <a:ea typeface="Calibri"/>
                <a:cs typeface="Calibri"/>
                <a:sym typeface="Calibri"/>
              </a:rPr>
              <a:t>Revenue vs Target (KPI)</a:t>
            </a:r>
            <a:endParaRPr sz="1350" b="0" i="0" u="none" strike="noStrike" cap="none">
              <a:solidFill>
                <a:schemeClr val="dk1"/>
              </a:solidFill>
              <a:latin typeface="Calibri"/>
              <a:ea typeface="Calibri"/>
              <a:cs typeface="Calibri"/>
              <a:sym typeface="Calibri"/>
            </a:endParaRPr>
          </a:p>
        </p:txBody>
      </p:sp>
      <p:sp>
        <p:nvSpPr>
          <p:cNvPr id="254" name="Google Shape;254;p9">
            <a:extLst>
              <a:ext uri="{FF2B5EF4-FFF2-40B4-BE49-F238E27FC236}">
                <a16:creationId xmlns:a16="http://schemas.microsoft.com/office/drawing/2014/main" id="{BD9328D9-8BE6-9B1E-BC76-FD5128592A80}"/>
              </a:ext>
            </a:extLst>
          </p:cNvPr>
          <p:cNvSpPr/>
          <p:nvPr/>
        </p:nvSpPr>
        <p:spPr>
          <a:xfrm>
            <a:off x="4498848" y="4983480"/>
            <a:ext cx="310896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As of August 31st, the total revenue for 2024 is $644k, against the target of $1.55m. Annualising our 2024 revenue suggests we should reach $967k at the end of the year. Further analysis on the next slide.</a:t>
            </a:r>
            <a:endParaRPr sz="1250" b="0" i="0" u="none" strike="noStrike" cap="none" dirty="0">
              <a:solidFill>
                <a:schemeClr val="dk1"/>
              </a:solidFill>
              <a:latin typeface="Calibri"/>
              <a:ea typeface="Calibri"/>
              <a:cs typeface="Calibri"/>
              <a:sym typeface="Calibri"/>
            </a:endParaRPr>
          </a:p>
        </p:txBody>
      </p:sp>
      <p:sp>
        <p:nvSpPr>
          <p:cNvPr id="3" name="Google Shape;254;p9">
            <a:extLst>
              <a:ext uri="{FF2B5EF4-FFF2-40B4-BE49-F238E27FC236}">
                <a16:creationId xmlns:a16="http://schemas.microsoft.com/office/drawing/2014/main" id="{66B1A3C4-1D8A-D11D-CFAE-93DFC0092151}"/>
              </a:ext>
            </a:extLst>
          </p:cNvPr>
          <p:cNvSpPr/>
          <p:nvPr/>
        </p:nvSpPr>
        <p:spPr>
          <a:xfrm>
            <a:off x="754380" y="4818888"/>
            <a:ext cx="310896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250"/>
              <a:buFont typeface="Calibri"/>
              <a:buNone/>
            </a:pPr>
            <a:r>
              <a:rPr lang="en-US" sz="1250" i="1" dirty="0">
                <a:solidFill>
                  <a:srgbClr val="6E7B71"/>
                </a:solidFill>
                <a:latin typeface="Calibri"/>
                <a:ea typeface="Calibri"/>
                <a:cs typeface="Calibri"/>
                <a:sym typeface="Calibri"/>
              </a:rPr>
              <a:t>When zooming in on the map, hovering over each bubble showed the state’s total revenue, I found that California and Oregon were the states with the highest revenue, Pennsylvania and Vermont had the lowest.</a:t>
            </a:r>
            <a:endParaRPr sz="125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6998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4"/>
        <p:cNvGrpSpPr/>
        <p:nvPr/>
      </p:nvGrpSpPr>
      <p:grpSpPr>
        <a:xfrm>
          <a:off x="0" y="0"/>
          <a:ext cx="0" cy="0"/>
          <a:chOff x="0" y="0"/>
          <a:chExt cx="0" cy="0"/>
        </a:xfrm>
      </p:grpSpPr>
      <p:sp>
        <p:nvSpPr>
          <p:cNvPr id="265" name="Google Shape;265;p10"/>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0"/>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10</a:t>
            </a:r>
            <a:endParaRPr sz="2400" b="0" i="0" u="none" strike="noStrike" cap="none">
              <a:solidFill>
                <a:schemeClr val="dk1"/>
              </a:solidFill>
              <a:latin typeface="Calibri"/>
              <a:ea typeface="Calibri"/>
              <a:cs typeface="Calibri"/>
              <a:sym typeface="Calibri"/>
            </a:endParaRPr>
          </a:p>
        </p:txBody>
      </p:sp>
      <p:sp>
        <p:nvSpPr>
          <p:cNvPr id="267" name="Google Shape;267;p10"/>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Insights &amp; Findings</a:t>
            </a:r>
            <a:endParaRPr sz="2900" b="0" i="0" u="none" strike="noStrike" cap="none">
              <a:solidFill>
                <a:schemeClr val="dk1"/>
              </a:solidFill>
              <a:latin typeface="Calibri"/>
              <a:ea typeface="Calibri"/>
              <a:cs typeface="Calibri"/>
              <a:sym typeface="Calibri"/>
            </a:endParaRPr>
          </a:p>
        </p:txBody>
      </p:sp>
      <p:sp>
        <p:nvSpPr>
          <p:cNvPr id="268" name="Google Shape;268;p10"/>
          <p:cNvSpPr/>
          <p:nvPr/>
        </p:nvSpPr>
        <p:spPr>
          <a:xfrm>
            <a:off x="548640" y="150876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00"/>
              <a:buFont typeface="Calibri"/>
              <a:buNone/>
            </a:pPr>
            <a:r>
              <a:rPr lang="en-US" sz="1200" b="1" i="0" u="none" strike="noStrike" cap="none">
                <a:solidFill>
                  <a:srgbClr val="C77F33"/>
                </a:solidFill>
                <a:latin typeface="Calibri"/>
                <a:ea typeface="Calibri"/>
                <a:cs typeface="Calibri"/>
                <a:sym typeface="Calibri"/>
              </a:rPr>
              <a:t>YOUR TASK   </a:t>
            </a:r>
            <a:r>
              <a:rPr lang="en-US" sz="1300" b="0" i="1" u="none" strike="noStrike" cap="none">
                <a:solidFill>
                  <a:srgbClr val="6E7B71"/>
                </a:solidFill>
                <a:latin typeface="Calibri"/>
                <a:ea typeface="Calibri"/>
                <a:cs typeface="Calibri"/>
                <a:sym typeface="Calibri"/>
              </a:rPr>
              <a:t>Answer each business question with your numbers.</a:t>
            </a:r>
            <a:endParaRPr sz="1200" b="0" i="0" u="none" strike="noStrike" cap="none">
              <a:solidFill>
                <a:schemeClr val="dk1"/>
              </a:solidFill>
              <a:latin typeface="Calibri"/>
              <a:ea typeface="Calibri"/>
              <a:cs typeface="Calibri"/>
              <a:sym typeface="Calibri"/>
            </a:endParaRPr>
          </a:p>
        </p:txBody>
      </p:sp>
      <p:grpSp>
        <p:nvGrpSpPr>
          <p:cNvPr id="8" name="Group 7">
            <a:extLst>
              <a:ext uri="{FF2B5EF4-FFF2-40B4-BE49-F238E27FC236}">
                <a16:creationId xmlns:a16="http://schemas.microsoft.com/office/drawing/2014/main" id="{E0114FDA-0B31-D7C6-B371-D5393C801F6B}"/>
              </a:ext>
            </a:extLst>
          </p:cNvPr>
          <p:cNvGrpSpPr/>
          <p:nvPr/>
        </p:nvGrpSpPr>
        <p:grpSpPr>
          <a:xfrm>
            <a:off x="451106" y="2194560"/>
            <a:ext cx="5532120" cy="868680"/>
            <a:chOff x="548640" y="2011680"/>
            <a:chExt cx="5532120" cy="868680"/>
          </a:xfrm>
        </p:grpSpPr>
        <p:sp>
          <p:nvSpPr>
            <p:cNvPr id="269" name="Google Shape;269;p10"/>
            <p:cNvSpPr/>
            <p:nvPr/>
          </p:nvSpPr>
          <p:spPr>
            <a:xfrm>
              <a:off x="548640" y="2011680"/>
              <a:ext cx="457200" cy="457200"/>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0"/>
            <p:cNvSpPr/>
            <p:nvPr/>
          </p:nvSpPr>
          <p:spPr>
            <a:xfrm>
              <a:off x="548640" y="201168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1</a:t>
              </a:r>
              <a:endParaRPr sz="1500" b="0" i="0" u="none" strike="noStrike" cap="none" dirty="0">
                <a:solidFill>
                  <a:schemeClr val="dk1"/>
                </a:solidFill>
                <a:latin typeface="Calibri"/>
                <a:ea typeface="Calibri"/>
                <a:cs typeface="Calibri"/>
                <a:sym typeface="Calibri"/>
              </a:endParaRPr>
            </a:p>
          </p:txBody>
        </p:sp>
        <p:sp>
          <p:nvSpPr>
            <p:cNvPr id="271" name="Google Shape;271;p10"/>
            <p:cNvSpPr/>
            <p:nvPr/>
          </p:nvSpPr>
          <p:spPr>
            <a:xfrm>
              <a:off x="1143000" y="2011680"/>
              <a:ext cx="4937760" cy="868680"/>
            </a:xfrm>
            <a:prstGeom prst="rect">
              <a:avLst/>
            </a:prstGeom>
            <a:noFill/>
            <a:ln>
              <a:noFill/>
            </a:ln>
          </p:spPr>
          <p:txBody>
            <a:bodyPr spcFirstLastPara="1" wrap="square" lIns="0" tIns="0" rIns="0" bIns="0" anchor="ctr" anchorCtr="0">
              <a:noAutofit/>
            </a:bodyPr>
            <a:lstStyle/>
            <a:p>
              <a:pPr lvl="0">
                <a:buClr>
                  <a:srgbClr val="1F3D2E"/>
                </a:buClr>
                <a:buSzPts val="1350"/>
              </a:pPr>
              <a:r>
                <a:rPr lang="en-US" sz="1350" b="1" i="0" u="none" strike="noStrike" cap="none" dirty="0">
                  <a:solidFill>
                    <a:srgbClr val="1F3D2E"/>
                  </a:solidFill>
                  <a:latin typeface="Calibri"/>
                  <a:ea typeface="Calibri"/>
                  <a:cs typeface="Calibri"/>
                  <a:sym typeface="Calibri"/>
                </a:rPr>
                <a:t>Revenue, cost, profit &amp; margin   </a:t>
              </a:r>
              <a:r>
                <a:rPr lang="en-US" sz="1250" b="0" i="1" u="none" strike="noStrike" cap="none" dirty="0">
                  <a:solidFill>
                    <a:srgbClr val="6E7B71"/>
                  </a:solidFill>
                  <a:latin typeface="Calibri"/>
                  <a:ea typeface="Calibri"/>
                  <a:cs typeface="Calibri"/>
                  <a:sym typeface="Calibri"/>
                </a:rPr>
                <a:t>→ For </a:t>
              </a:r>
              <a:r>
                <a:rPr lang="en-US" sz="1250" b="1" i="1" u="none" strike="noStrike" cap="none" dirty="0">
                  <a:solidFill>
                    <a:srgbClr val="6E7B71"/>
                  </a:solidFill>
                  <a:latin typeface="Calibri"/>
                  <a:ea typeface="Calibri"/>
                  <a:cs typeface="Calibri"/>
                  <a:sym typeface="Calibri"/>
                </a:rPr>
                <a:t>the three year period</a:t>
              </a:r>
              <a:r>
                <a:rPr lang="en-US" sz="1250" b="0" i="1" u="none" strike="noStrike" cap="none" dirty="0">
                  <a:solidFill>
                    <a:srgbClr val="6E7B71"/>
                  </a:solidFill>
                  <a:latin typeface="Calibri"/>
                  <a:ea typeface="Calibri"/>
                  <a:cs typeface="Calibri"/>
                  <a:sym typeface="Calibri"/>
                </a:rPr>
                <a:t>, total </a:t>
              </a:r>
              <a:r>
                <a:rPr lang="en-US" sz="1250" b="1" i="1" u="none" strike="noStrike" cap="none" dirty="0">
                  <a:solidFill>
                    <a:srgbClr val="6E7B71"/>
                  </a:solidFill>
                  <a:latin typeface="Calibri"/>
                  <a:ea typeface="Calibri"/>
                  <a:cs typeface="Calibri"/>
                  <a:sym typeface="Calibri"/>
                </a:rPr>
                <a:t>revenue is $2.9m, total costs are </a:t>
              </a:r>
              <a:r>
                <a:rPr lang="en-US" sz="1250" b="1" i="1" dirty="0">
                  <a:solidFill>
                    <a:srgbClr val="6E7B71"/>
                  </a:solidFill>
                  <a:latin typeface="Calibri"/>
                  <a:ea typeface="Calibri"/>
                  <a:cs typeface="Calibri"/>
                  <a:sym typeface="Calibri"/>
                </a:rPr>
                <a:t>$1.63m, total profit is $1.28m </a:t>
              </a:r>
              <a:r>
                <a:rPr lang="en-US" sz="1250" b="1" i="1" u="none" strike="noStrike" cap="none" dirty="0">
                  <a:solidFill>
                    <a:srgbClr val="6E7B71"/>
                  </a:solidFill>
                  <a:latin typeface="Calibri"/>
                  <a:ea typeface="Calibri"/>
                  <a:cs typeface="Calibri"/>
                  <a:sym typeface="Calibri"/>
                </a:rPr>
                <a:t>and the profit margin is 44%</a:t>
              </a:r>
              <a:r>
                <a:rPr lang="en-US" sz="1250" b="0" i="1" u="none" strike="noStrike" cap="none" dirty="0">
                  <a:solidFill>
                    <a:srgbClr val="6E7B71"/>
                  </a:solidFill>
                  <a:latin typeface="Calibri"/>
                  <a:ea typeface="Calibri"/>
                  <a:cs typeface="Calibri"/>
                  <a:sym typeface="Calibri"/>
                </a:rPr>
                <a:t>. </a:t>
              </a:r>
            </a:p>
            <a:p>
              <a:pPr lvl="0">
                <a:buClr>
                  <a:srgbClr val="1F3D2E"/>
                </a:buClr>
                <a:buSzPts val="1350"/>
              </a:pPr>
              <a:endParaRPr lang="en-US" sz="1250" i="1" dirty="0">
                <a:solidFill>
                  <a:srgbClr val="6E7B71"/>
                </a:solidFill>
                <a:latin typeface="Calibri"/>
                <a:ea typeface="Calibri"/>
                <a:cs typeface="Calibri"/>
                <a:sym typeface="Calibri"/>
              </a:endParaRPr>
            </a:p>
            <a:p>
              <a:pPr lvl="0">
                <a:buClr>
                  <a:srgbClr val="1F3D2E"/>
                </a:buClr>
                <a:buSzPts val="1350"/>
              </a:pPr>
              <a:r>
                <a:rPr lang="en-US" sz="1250" b="0" i="1" u="none" strike="noStrike" cap="none" dirty="0">
                  <a:solidFill>
                    <a:srgbClr val="6E7B71"/>
                  </a:solidFill>
                  <a:latin typeface="Calibri"/>
                  <a:ea typeface="Calibri"/>
                  <a:cs typeface="Calibri"/>
                  <a:sym typeface="Calibri"/>
                </a:rPr>
                <a:t>For </a:t>
              </a:r>
              <a:r>
                <a:rPr lang="en-US" sz="1250" b="1" i="1" u="none" strike="noStrike" cap="none" dirty="0">
                  <a:solidFill>
                    <a:srgbClr val="6E7B71"/>
                  </a:solidFill>
                  <a:latin typeface="Calibri"/>
                  <a:ea typeface="Calibri"/>
                  <a:cs typeface="Calibri"/>
                  <a:sym typeface="Calibri"/>
                </a:rPr>
                <a:t>2024</a:t>
              </a:r>
              <a:r>
                <a:rPr lang="en-US" sz="1250" b="0" i="1" u="none" strike="noStrike" cap="none" dirty="0">
                  <a:solidFill>
                    <a:srgbClr val="6E7B71"/>
                  </a:solidFill>
                  <a:latin typeface="Calibri"/>
                  <a:ea typeface="Calibri"/>
                  <a:cs typeface="Calibri"/>
                  <a:sym typeface="Calibri"/>
                </a:rPr>
                <a:t> specifically</a:t>
              </a:r>
              <a:r>
                <a:rPr lang="en-US" sz="1250" b="1" i="1" u="none" strike="noStrike" cap="none" dirty="0">
                  <a:solidFill>
                    <a:srgbClr val="6E7B71"/>
                  </a:solidFill>
                  <a:latin typeface="Calibri"/>
                  <a:ea typeface="Calibri"/>
                  <a:cs typeface="Calibri"/>
                  <a:sym typeface="Calibri"/>
                </a:rPr>
                <a:t>, total revenue is $644.440, total costs are $361,800, total profit is $282,550</a:t>
              </a:r>
              <a:r>
                <a:rPr lang="en-US" sz="1250" b="1" i="1" dirty="0">
                  <a:solidFill>
                    <a:srgbClr val="6E7B71"/>
                  </a:solidFill>
                  <a:latin typeface="Calibri"/>
                  <a:ea typeface="Calibri"/>
                  <a:cs typeface="Calibri"/>
                  <a:sym typeface="Calibri"/>
                </a:rPr>
                <a:t>.</a:t>
              </a:r>
              <a:r>
                <a:rPr lang="en-US" sz="1250" b="1" i="1" u="none" strike="noStrike" cap="none" dirty="0">
                  <a:solidFill>
                    <a:srgbClr val="6E7B71"/>
                  </a:solidFill>
                  <a:latin typeface="Calibri"/>
                  <a:ea typeface="Calibri"/>
                  <a:cs typeface="Calibri"/>
                  <a:sym typeface="Calibri"/>
                </a:rPr>
                <a:t> </a:t>
              </a:r>
              <a:endParaRPr sz="1350" b="1" i="0" u="none" strike="noStrike" cap="none" dirty="0">
                <a:solidFill>
                  <a:schemeClr val="dk1"/>
                </a:solidFill>
                <a:latin typeface="Calibri"/>
                <a:ea typeface="Calibri"/>
                <a:cs typeface="Calibri"/>
                <a:sym typeface="Calibri"/>
              </a:endParaRPr>
            </a:p>
          </p:txBody>
        </p:sp>
      </p:grpSp>
      <p:grpSp>
        <p:nvGrpSpPr>
          <p:cNvPr id="7" name="Group 6">
            <a:extLst>
              <a:ext uri="{FF2B5EF4-FFF2-40B4-BE49-F238E27FC236}">
                <a16:creationId xmlns:a16="http://schemas.microsoft.com/office/drawing/2014/main" id="{452C9A33-11DE-E50A-B001-1C7ED98CBBCE}"/>
              </a:ext>
            </a:extLst>
          </p:cNvPr>
          <p:cNvGrpSpPr/>
          <p:nvPr/>
        </p:nvGrpSpPr>
        <p:grpSpPr>
          <a:xfrm>
            <a:off x="6199632" y="2008686"/>
            <a:ext cx="5532120" cy="1217567"/>
            <a:chOff x="6199632" y="1982833"/>
            <a:chExt cx="5532120" cy="1217567"/>
          </a:xfrm>
        </p:grpSpPr>
        <p:sp>
          <p:nvSpPr>
            <p:cNvPr id="272" name="Google Shape;272;p10"/>
            <p:cNvSpPr/>
            <p:nvPr/>
          </p:nvSpPr>
          <p:spPr>
            <a:xfrm>
              <a:off x="6208776" y="1982833"/>
              <a:ext cx="457200" cy="457200"/>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0"/>
            <p:cNvSpPr/>
            <p:nvPr/>
          </p:nvSpPr>
          <p:spPr>
            <a:xfrm>
              <a:off x="6199632" y="1982833"/>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2</a:t>
              </a:r>
              <a:endParaRPr sz="1500" b="0" i="0" u="none" strike="noStrike" cap="none" dirty="0">
                <a:solidFill>
                  <a:schemeClr val="dk1"/>
                </a:solidFill>
                <a:latin typeface="Calibri"/>
                <a:ea typeface="Calibri"/>
                <a:cs typeface="Calibri"/>
                <a:sym typeface="Calibri"/>
              </a:endParaRPr>
            </a:p>
          </p:txBody>
        </p:sp>
        <p:sp>
          <p:nvSpPr>
            <p:cNvPr id="274" name="Google Shape;274;p10"/>
            <p:cNvSpPr/>
            <p:nvPr/>
          </p:nvSpPr>
          <p:spPr>
            <a:xfrm>
              <a:off x="6793992" y="2011680"/>
              <a:ext cx="4937760" cy="1188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dirty="0">
                  <a:solidFill>
                    <a:srgbClr val="1F3D2E"/>
                  </a:solidFill>
                  <a:latin typeface="Calibri"/>
                  <a:ea typeface="Calibri"/>
                  <a:cs typeface="Calibri"/>
                  <a:sym typeface="Calibri"/>
                </a:rPr>
                <a:t>Year-over-year growth   </a:t>
              </a:r>
              <a:r>
                <a:rPr lang="en-US" sz="1250" b="0" i="1" u="none" strike="noStrike" cap="none" dirty="0">
                  <a:solidFill>
                    <a:srgbClr val="6E7B71"/>
                  </a:solidFill>
                  <a:latin typeface="Calibri"/>
                  <a:ea typeface="Calibri"/>
                  <a:cs typeface="Calibri"/>
                  <a:sym typeface="Calibri"/>
                </a:rPr>
                <a:t>→ Slide 9 gave us the figure </a:t>
              </a:r>
              <a:r>
                <a:rPr lang="en-US" sz="1250" b="1" i="1" u="none" strike="noStrike" cap="none" dirty="0">
                  <a:solidFill>
                    <a:srgbClr val="6E7B71"/>
                  </a:solidFill>
                  <a:latin typeface="Calibri"/>
                  <a:ea typeface="Calibri"/>
                  <a:cs typeface="Calibri"/>
                  <a:sym typeface="Calibri"/>
                </a:rPr>
                <a:t>for year-on-year growth coming into August 2024, which was -34.75%</a:t>
              </a:r>
              <a:r>
                <a:rPr lang="en-US" sz="1250" b="0" i="1" u="none" strike="noStrike" cap="none" dirty="0">
                  <a:solidFill>
                    <a:srgbClr val="6E7B71"/>
                  </a:solidFill>
                  <a:latin typeface="Calibri"/>
                  <a:ea typeface="Calibri"/>
                  <a:cs typeface="Calibri"/>
                  <a:sym typeface="Calibri"/>
                </a:rPr>
                <a:t>, which means that compared to this time last year in August 2023, we have a </a:t>
              </a:r>
              <a:r>
                <a:rPr lang="en-US" sz="1250" b="1" i="1" u="none" strike="noStrike" cap="none" dirty="0">
                  <a:solidFill>
                    <a:srgbClr val="6E7B71"/>
                  </a:solidFill>
                  <a:latin typeface="Calibri"/>
                  <a:ea typeface="Calibri"/>
                  <a:cs typeface="Calibri"/>
                  <a:sym typeface="Calibri"/>
                </a:rPr>
                <a:t>much lower total revenue</a:t>
              </a:r>
              <a:r>
                <a:rPr lang="en-US" sz="1250" b="0" i="1" u="none" strike="noStrike" cap="none" dirty="0">
                  <a:solidFill>
                    <a:srgbClr val="6E7B71"/>
                  </a:solidFill>
                  <a:latin typeface="Calibri"/>
                  <a:ea typeface="Calibri"/>
                  <a:cs typeface="Calibri"/>
                  <a:sym typeface="Calibri"/>
                </a:rPr>
                <a:t>. </a:t>
              </a:r>
              <a:r>
                <a:rPr lang="en-US" sz="1250" b="1" i="1" u="none" strike="noStrike" cap="none" dirty="0">
                  <a:solidFill>
                    <a:srgbClr val="6E7B71"/>
                  </a:solidFill>
                  <a:latin typeface="Calibri"/>
                  <a:ea typeface="Calibri"/>
                  <a:cs typeface="Calibri"/>
                  <a:sym typeface="Calibri"/>
                </a:rPr>
                <a:t>Year on year growth was positive 2022 -&gt; 2023</a:t>
              </a:r>
              <a:r>
                <a:rPr lang="en-US" sz="1250" b="0" i="1" u="none" strike="noStrike" cap="none" dirty="0">
                  <a:solidFill>
                    <a:srgbClr val="6E7B71"/>
                  </a:solidFill>
                  <a:latin typeface="Calibri"/>
                  <a:ea typeface="Calibri"/>
                  <a:cs typeface="Calibri"/>
                  <a:sym typeface="Calibri"/>
                </a:rPr>
                <a:t>, with a figure of </a:t>
              </a:r>
              <a:r>
                <a:rPr lang="en-US" sz="1250" b="1" i="1" u="none" strike="noStrike" cap="none" dirty="0">
                  <a:solidFill>
                    <a:srgbClr val="6E7B71"/>
                  </a:solidFill>
                  <a:latin typeface="Calibri"/>
                  <a:ea typeface="Calibri"/>
                  <a:cs typeface="Calibri"/>
                  <a:sym typeface="Calibri"/>
                </a:rPr>
                <a:t>33.47%.  The business gre</a:t>
              </a:r>
              <a:r>
                <a:rPr lang="en-US" sz="1250" b="1" i="1" dirty="0">
                  <a:solidFill>
                    <a:srgbClr val="6E7B71"/>
                  </a:solidFill>
                  <a:latin typeface="Calibri"/>
                  <a:ea typeface="Calibri"/>
                  <a:cs typeface="Calibri"/>
                  <a:sym typeface="Calibri"/>
                </a:rPr>
                <a:t>w in 2023, but now in 2024 it is no longer growing</a:t>
              </a:r>
              <a:r>
                <a:rPr lang="en-US" sz="1250" i="1" dirty="0">
                  <a:solidFill>
                    <a:srgbClr val="6E7B71"/>
                  </a:solidFill>
                  <a:latin typeface="Calibri"/>
                  <a:ea typeface="Calibri"/>
                  <a:cs typeface="Calibri"/>
                  <a:sym typeface="Calibri"/>
                </a:rPr>
                <a:t>.</a:t>
              </a:r>
              <a:endParaRPr sz="1350" b="0" i="0" u="none" strike="noStrike" cap="none" dirty="0">
                <a:solidFill>
                  <a:schemeClr val="dk1"/>
                </a:solidFill>
                <a:latin typeface="Calibri"/>
                <a:ea typeface="Calibri"/>
                <a:cs typeface="Calibri"/>
                <a:sym typeface="Calibri"/>
              </a:endParaRPr>
            </a:p>
          </p:txBody>
        </p:sp>
      </p:grpSp>
      <p:sp>
        <p:nvSpPr>
          <p:cNvPr id="275" name="Google Shape;275;p10"/>
          <p:cNvSpPr/>
          <p:nvPr/>
        </p:nvSpPr>
        <p:spPr>
          <a:xfrm>
            <a:off x="574766" y="3566160"/>
            <a:ext cx="457200" cy="457200"/>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 name="Google Shape;276;p10"/>
          <p:cNvSpPr/>
          <p:nvPr/>
        </p:nvSpPr>
        <p:spPr>
          <a:xfrm>
            <a:off x="561485" y="3599906"/>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3</a:t>
            </a:r>
            <a:endParaRPr sz="1500" b="0" i="0" u="none" strike="noStrike" cap="none" dirty="0">
              <a:solidFill>
                <a:schemeClr val="dk1"/>
              </a:solidFill>
              <a:latin typeface="Calibri"/>
              <a:ea typeface="Calibri"/>
              <a:cs typeface="Calibri"/>
              <a:sym typeface="Calibri"/>
            </a:endParaRPr>
          </a:p>
        </p:txBody>
      </p:sp>
      <p:sp>
        <p:nvSpPr>
          <p:cNvPr id="277" name="Google Shape;277;p10"/>
          <p:cNvSpPr/>
          <p:nvPr/>
        </p:nvSpPr>
        <p:spPr>
          <a:xfrm>
            <a:off x="1159764" y="3360419"/>
            <a:ext cx="4937760" cy="1396637"/>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1F3D2E"/>
              </a:buClr>
              <a:buSzPts val="1350"/>
              <a:buFont typeface="Calibri"/>
              <a:buNone/>
              <a:tabLst/>
              <a:defRPr/>
            </a:pPr>
            <a:r>
              <a:rPr kumimoji="0" lang="en-GB" sz="1350" b="1" i="0" u="none" strike="noStrike" kern="1200" cap="none" spc="0" normalizeH="0" baseline="0" noProof="0" dirty="0">
                <a:ln>
                  <a:noFill/>
                </a:ln>
                <a:solidFill>
                  <a:srgbClr val="1F3D2E"/>
                </a:solidFill>
                <a:effectLst/>
                <a:uLnTx/>
                <a:uFillTx/>
                <a:latin typeface="Calibri"/>
                <a:ea typeface="Calibri"/>
                <a:cs typeface="Calibri"/>
                <a:sym typeface="Calibri"/>
              </a:rPr>
              <a:t>Top categories &amp; regions by profit   </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 Our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top category is tents </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with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407k in profit</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However, </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although it leads in this metric, in terms of profit margin, Cooking is the leading category with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a profit margin </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of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47.65%</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 In terms of regions, West is the best in terms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of profit with $562k, </a:t>
            </a:r>
            <a:r>
              <a:rPr kumimoji="0" lang="en-GB" sz="1250" b="0" i="1" u="none" strike="noStrike" kern="1200" cap="none" spc="0" normalizeH="0" baseline="0" noProof="0" dirty="0">
                <a:ln>
                  <a:noFill/>
                </a:ln>
                <a:solidFill>
                  <a:srgbClr val="6E7B71"/>
                </a:solidFill>
                <a:effectLst/>
                <a:uLnTx/>
                <a:uFillTx/>
                <a:latin typeface="Calibri"/>
                <a:ea typeface="Calibri"/>
                <a:cs typeface="Calibri"/>
                <a:sym typeface="Calibri"/>
              </a:rPr>
              <a:t>but looking at </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profit margin, it is the 2</a:t>
            </a:r>
            <a:r>
              <a:rPr kumimoji="0" lang="en-GB" sz="1250" b="1" i="1" u="none" strike="noStrike" kern="1200" cap="none" spc="0" normalizeH="0" baseline="30000" noProof="0" dirty="0">
                <a:ln>
                  <a:noFill/>
                </a:ln>
                <a:solidFill>
                  <a:srgbClr val="6E7B71"/>
                </a:solidFill>
                <a:effectLst/>
                <a:uLnTx/>
                <a:uFillTx/>
                <a:latin typeface="Calibri"/>
                <a:ea typeface="Calibri"/>
                <a:cs typeface="Calibri"/>
                <a:sym typeface="Calibri"/>
              </a:rPr>
              <a:t>nd</a:t>
            </a:r>
            <a:r>
              <a:rPr kumimoji="0" lang="en-GB" sz="1250" b="1" i="1" u="none" strike="noStrike" kern="1200" cap="none" spc="0" normalizeH="0" baseline="0" noProof="0" dirty="0">
                <a:ln>
                  <a:noFill/>
                </a:ln>
                <a:solidFill>
                  <a:srgbClr val="6E7B71"/>
                </a:solidFill>
                <a:effectLst/>
                <a:uLnTx/>
                <a:uFillTx/>
                <a:latin typeface="Calibri"/>
                <a:ea typeface="Calibri"/>
                <a:cs typeface="Calibri"/>
                <a:sym typeface="Calibri"/>
              </a:rPr>
              <a:t> highest with 44.07%, with the Midwest region having the highest profit margin (44.25%).</a:t>
            </a:r>
            <a:endParaRPr kumimoji="0" lang="en-GB" sz="1350" b="1" i="0" u="none" strike="noStrike" kern="1200" cap="none" spc="0" normalizeH="0" baseline="0" noProof="0" dirty="0">
              <a:ln>
                <a:noFill/>
              </a:ln>
              <a:solidFill>
                <a:prstClr val="black"/>
              </a:solidFill>
              <a:effectLst/>
              <a:uLnTx/>
              <a:uFillTx/>
              <a:latin typeface="Calibri"/>
              <a:ea typeface="Calibri"/>
              <a:cs typeface="Calibri"/>
              <a:sym typeface="Calibri"/>
            </a:endParaRPr>
          </a:p>
        </p:txBody>
      </p:sp>
      <p:grpSp>
        <p:nvGrpSpPr>
          <p:cNvPr id="5" name="Group 4">
            <a:extLst>
              <a:ext uri="{FF2B5EF4-FFF2-40B4-BE49-F238E27FC236}">
                <a16:creationId xmlns:a16="http://schemas.microsoft.com/office/drawing/2014/main" id="{E2CD6259-A78D-BCF3-1393-472BD87B2DC8}"/>
              </a:ext>
            </a:extLst>
          </p:cNvPr>
          <p:cNvGrpSpPr/>
          <p:nvPr/>
        </p:nvGrpSpPr>
        <p:grpSpPr>
          <a:xfrm>
            <a:off x="6199632" y="3546566"/>
            <a:ext cx="5532120" cy="1047748"/>
            <a:chOff x="6199632" y="3063240"/>
            <a:chExt cx="5532120" cy="1047748"/>
          </a:xfrm>
        </p:grpSpPr>
        <p:sp>
          <p:nvSpPr>
            <p:cNvPr id="278" name="Google Shape;278;p10"/>
            <p:cNvSpPr/>
            <p:nvPr/>
          </p:nvSpPr>
          <p:spPr>
            <a:xfrm>
              <a:off x="6199632" y="3063240"/>
              <a:ext cx="457200" cy="457200"/>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0"/>
            <p:cNvSpPr/>
            <p:nvPr/>
          </p:nvSpPr>
          <p:spPr>
            <a:xfrm>
              <a:off x="6199632" y="306324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4</a:t>
              </a:r>
              <a:endParaRPr sz="1500" b="0" i="0" u="none" strike="noStrike" cap="none" dirty="0">
                <a:solidFill>
                  <a:schemeClr val="dk1"/>
                </a:solidFill>
                <a:latin typeface="Calibri"/>
                <a:ea typeface="Calibri"/>
                <a:cs typeface="Calibri"/>
                <a:sym typeface="Calibri"/>
              </a:endParaRPr>
            </a:p>
          </p:txBody>
        </p:sp>
        <p:sp>
          <p:nvSpPr>
            <p:cNvPr id="280" name="Google Shape;280;p10"/>
            <p:cNvSpPr/>
            <p:nvPr/>
          </p:nvSpPr>
          <p:spPr>
            <a:xfrm>
              <a:off x="6793992" y="3242308"/>
              <a:ext cx="4937760" cy="868680"/>
            </a:xfrm>
            <a:prstGeom prst="rect">
              <a:avLst/>
            </a:prstGeom>
            <a:noFill/>
            <a:ln>
              <a:noFill/>
            </a:ln>
          </p:spPr>
          <p:txBody>
            <a:bodyPr spcFirstLastPara="1" wrap="square" lIns="0" tIns="0" rIns="0" bIns="0" anchor="ctr" anchorCtr="0">
              <a:noAutofit/>
            </a:bodyPr>
            <a:lstStyle/>
            <a:p>
              <a:pPr>
                <a:buClr>
                  <a:srgbClr val="1F3D2E"/>
                </a:buClr>
                <a:buSzPts val="1350"/>
              </a:pPr>
              <a:r>
                <a:rPr lang="en-GB" sz="1400" b="1" dirty="0">
                  <a:solidFill>
                    <a:srgbClr val="1F3D2E"/>
                  </a:solidFill>
                  <a:latin typeface="Calibri"/>
                  <a:ea typeface="Calibri"/>
                  <a:cs typeface="Calibri"/>
                  <a:sym typeface="Calibri"/>
                </a:rPr>
                <a:t>On track vs the $1,550,000 target?   </a:t>
              </a:r>
              <a:r>
                <a:rPr lang="en-GB" sz="1400" i="1" dirty="0">
                  <a:solidFill>
                    <a:srgbClr val="6E7B71"/>
                  </a:solidFill>
                  <a:latin typeface="Calibri"/>
                  <a:ea typeface="Calibri"/>
                  <a:cs typeface="Calibri"/>
                  <a:sym typeface="Calibri"/>
                </a:rPr>
                <a:t>→ </a:t>
              </a:r>
              <a:r>
                <a:rPr lang="en-GB" sz="1400" b="1" i="1" dirty="0">
                  <a:solidFill>
                    <a:srgbClr val="6E7B71"/>
                  </a:solidFill>
                  <a:latin typeface="Calibri"/>
                  <a:ea typeface="Calibri"/>
                  <a:cs typeface="Calibri"/>
                  <a:sym typeface="Calibri"/>
                </a:rPr>
                <a:t>We are currently not on track to meet the target</a:t>
              </a:r>
              <a:r>
                <a:rPr lang="en-GB" sz="1400" i="1" dirty="0">
                  <a:solidFill>
                    <a:srgbClr val="6E7B71"/>
                  </a:solidFill>
                  <a:latin typeface="Calibri"/>
                  <a:ea typeface="Calibri"/>
                  <a:cs typeface="Calibri"/>
                  <a:sym typeface="Calibri"/>
                </a:rPr>
                <a:t>. As of August 2024, we have a total revenue of $644,400. Annualising this gives us (644/8) * 12 = $967k run rate, which makes us roughly 38% off the current target. Considering seasonality, we are not likely to be able to make up the remaining $906k in the last four months of the year.</a:t>
              </a:r>
              <a:endParaRPr lang="en-GB" sz="1400" dirty="0">
                <a:solidFill>
                  <a:schemeClr val="dk1"/>
                </a:solidFill>
                <a:latin typeface="Calibri"/>
                <a:ea typeface="Calibri"/>
                <a:cs typeface="Calibri"/>
                <a:sym typeface="Calibri"/>
              </a:endParaRPr>
            </a:p>
            <a:p>
              <a:pPr marL="0" marR="0" lvl="0" indent="0" algn="l" rtl="0">
                <a:spcBef>
                  <a:spcPts val="0"/>
                </a:spcBef>
                <a:spcAft>
                  <a:spcPts val="0"/>
                </a:spcAft>
                <a:buClr>
                  <a:srgbClr val="1F3D2E"/>
                </a:buClr>
                <a:buSzPts val="1350"/>
                <a:buFont typeface="Calibri"/>
                <a:buNone/>
              </a:pPr>
              <a:endParaRPr lang="en-GB" sz="1350" b="0" i="0" u="none" strike="noStrike" cap="none" dirty="0">
                <a:solidFill>
                  <a:schemeClr val="dk1"/>
                </a:solidFill>
                <a:latin typeface="Calibri"/>
                <a:ea typeface="Calibri"/>
                <a:cs typeface="Calibri"/>
                <a:sym typeface="Calibri"/>
              </a:endParaRPr>
            </a:p>
          </p:txBody>
        </p:sp>
      </p:grpSp>
      <p:grpSp>
        <p:nvGrpSpPr>
          <p:cNvPr id="3" name="Group 2">
            <a:extLst>
              <a:ext uri="{FF2B5EF4-FFF2-40B4-BE49-F238E27FC236}">
                <a16:creationId xmlns:a16="http://schemas.microsoft.com/office/drawing/2014/main" id="{2B410B62-C23C-E6DF-91E3-F164E165BFB0}"/>
              </a:ext>
            </a:extLst>
          </p:cNvPr>
          <p:cNvGrpSpPr/>
          <p:nvPr/>
        </p:nvGrpSpPr>
        <p:grpSpPr>
          <a:xfrm>
            <a:off x="702564" y="4846320"/>
            <a:ext cx="5548884" cy="868680"/>
            <a:chOff x="547116" y="4114800"/>
            <a:chExt cx="5548884" cy="868680"/>
          </a:xfrm>
        </p:grpSpPr>
        <p:sp>
          <p:nvSpPr>
            <p:cNvPr id="281" name="Google Shape;281;p10"/>
            <p:cNvSpPr/>
            <p:nvPr/>
          </p:nvSpPr>
          <p:spPr>
            <a:xfrm>
              <a:off x="547116" y="4114800"/>
              <a:ext cx="457200" cy="457200"/>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roup 1">
              <a:extLst>
                <a:ext uri="{FF2B5EF4-FFF2-40B4-BE49-F238E27FC236}">
                  <a16:creationId xmlns:a16="http://schemas.microsoft.com/office/drawing/2014/main" id="{69EDEA2A-82DD-7FED-27DE-DF6E7596E26E}"/>
                </a:ext>
              </a:extLst>
            </p:cNvPr>
            <p:cNvGrpSpPr/>
            <p:nvPr/>
          </p:nvGrpSpPr>
          <p:grpSpPr>
            <a:xfrm>
              <a:off x="563880" y="4114800"/>
              <a:ext cx="5532120" cy="868680"/>
              <a:chOff x="548640" y="4114800"/>
              <a:chExt cx="5532120" cy="868680"/>
            </a:xfrm>
          </p:grpSpPr>
          <p:sp>
            <p:nvSpPr>
              <p:cNvPr id="282" name="Google Shape;282;p10"/>
              <p:cNvSpPr/>
              <p:nvPr/>
            </p:nvSpPr>
            <p:spPr>
              <a:xfrm>
                <a:off x="548640" y="41148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5</a:t>
                </a:r>
                <a:endParaRPr sz="1500" b="0" i="0" u="none" strike="noStrike" cap="none" dirty="0">
                  <a:solidFill>
                    <a:schemeClr val="dk1"/>
                  </a:solidFill>
                  <a:latin typeface="Calibri"/>
                  <a:ea typeface="Calibri"/>
                  <a:cs typeface="Calibri"/>
                  <a:sym typeface="Calibri"/>
                </a:endParaRPr>
              </a:p>
            </p:txBody>
          </p:sp>
          <p:sp>
            <p:nvSpPr>
              <p:cNvPr id="283" name="Google Shape;283;p10"/>
              <p:cNvSpPr/>
              <p:nvPr/>
            </p:nvSpPr>
            <p:spPr>
              <a:xfrm>
                <a:off x="1143000" y="4114800"/>
                <a:ext cx="49377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dirty="0">
                    <a:solidFill>
                      <a:srgbClr val="1F3D2E"/>
                    </a:solidFill>
                    <a:latin typeface="Calibri"/>
                    <a:ea typeface="Calibri"/>
                    <a:cs typeface="Calibri"/>
                    <a:sym typeface="Calibri"/>
                  </a:rPr>
                  <a:t>Where the customers are   </a:t>
                </a:r>
                <a:r>
                  <a:rPr lang="en-US" sz="1250" b="0" i="1" u="none" strike="noStrike" cap="none" dirty="0">
                    <a:solidFill>
                      <a:srgbClr val="6E7B71"/>
                    </a:solidFill>
                    <a:latin typeface="Calibri"/>
                    <a:ea typeface="Calibri"/>
                    <a:cs typeface="Calibri"/>
                    <a:sym typeface="Calibri"/>
                  </a:rPr>
                  <a:t>→</a:t>
                </a:r>
                <a:r>
                  <a:rPr lang="en-US" sz="1250" i="1" dirty="0">
                    <a:solidFill>
                      <a:srgbClr val="6E7B71"/>
                    </a:solidFill>
                    <a:latin typeface="Calibri"/>
                    <a:ea typeface="Calibri"/>
                    <a:cs typeface="Calibri"/>
                    <a:sym typeface="Calibri"/>
                  </a:rPr>
                  <a:t>Looking at the count of customer IDs in each region and state, </a:t>
                </a:r>
                <a:r>
                  <a:rPr lang="en-US" sz="1250" b="1" i="1" dirty="0">
                    <a:solidFill>
                      <a:srgbClr val="6E7B71"/>
                    </a:solidFill>
                    <a:latin typeface="Calibri"/>
                    <a:ea typeface="Calibri"/>
                    <a:cs typeface="Calibri"/>
                    <a:sym typeface="Calibri"/>
                  </a:rPr>
                  <a:t>most of our customers (97) are in the west region, and in the states California, Colorado and Oregon (14 each). </a:t>
                </a:r>
                <a:endParaRPr sz="1350" i="0" u="none" strike="noStrike" cap="none" dirty="0">
                  <a:solidFill>
                    <a:schemeClr val="dk1"/>
                  </a:solidFill>
                  <a:latin typeface="Calibri"/>
                  <a:ea typeface="Calibri"/>
                  <a:cs typeface="Calibri"/>
                  <a:sym typeface="Calibri"/>
                </a:endParaRPr>
              </a:p>
            </p:txBody>
          </p:sp>
        </p:grpSp>
      </p:grpSp>
      <p:grpSp>
        <p:nvGrpSpPr>
          <p:cNvPr id="4" name="Group 3">
            <a:extLst>
              <a:ext uri="{FF2B5EF4-FFF2-40B4-BE49-F238E27FC236}">
                <a16:creationId xmlns:a16="http://schemas.microsoft.com/office/drawing/2014/main" id="{1E65298F-016B-D602-2F4E-312E47B2AF49}"/>
              </a:ext>
            </a:extLst>
          </p:cNvPr>
          <p:cNvGrpSpPr/>
          <p:nvPr/>
        </p:nvGrpSpPr>
        <p:grpSpPr>
          <a:xfrm>
            <a:off x="6388608" y="4846320"/>
            <a:ext cx="5574356" cy="868680"/>
            <a:chOff x="6199632" y="4023633"/>
            <a:chExt cx="5574356" cy="868680"/>
          </a:xfrm>
        </p:grpSpPr>
        <p:sp>
          <p:nvSpPr>
            <p:cNvPr id="284" name="Google Shape;284;p10"/>
            <p:cNvSpPr/>
            <p:nvPr/>
          </p:nvSpPr>
          <p:spPr>
            <a:xfrm>
              <a:off x="6199632" y="4114800"/>
              <a:ext cx="457200" cy="457200"/>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0"/>
            <p:cNvSpPr/>
            <p:nvPr/>
          </p:nvSpPr>
          <p:spPr>
            <a:xfrm>
              <a:off x="6199632" y="41148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6</a:t>
              </a:r>
              <a:endParaRPr sz="1500" b="0" i="0" u="none" strike="noStrike" cap="none" dirty="0">
                <a:solidFill>
                  <a:schemeClr val="dk1"/>
                </a:solidFill>
                <a:latin typeface="Calibri"/>
                <a:ea typeface="Calibri"/>
                <a:cs typeface="Calibri"/>
                <a:sym typeface="Calibri"/>
              </a:endParaRPr>
            </a:p>
          </p:txBody>
        </p:sp>
        <p:sp>
          <p:nvSpPr>
            <p:cNvPr id="289" name="Google Shape;289;p10"/>
            <p:cNvSpPr/>
            <p:nvPr/>
          </p:nvSpPr>
          <p:spPr>
            <a:xfrm>
              <a:off x="6836228" y="4023633"/>
              <a:ext cx="49377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1350"/>
                <a:buFont typeface="Calibri"/>
                <a:buNone/>
              </a:pPr>
              <a:r>
                <a:rPr lang="en-US" sz="1350" b="1" i="0" u="none" strike="noStrike" cap="none" dirty="0">
                  <a:solidFill>
                    <a:srgbClr val="1F3D2E"/>
                  </a:solidFill>
                  <a:latin typeface="Calibri"/>
                  <a:ea typeface="Calibri"/>
                  <a:cs typeface="Calibri"/>
                  <a:sym typeface="Calibri"/>
                </a:rPr>
                <a:t>Seasonal peak   </a:t>
              </a:r>
              <a:r>
                <a:rPr lang="en-US" sz="1250" b="0" i="1" u="none" strike="noStrike" cap="none" dirty="0">
                  <a:solidFill>
                    <a:srgbClr val="6E7B71"/>
                  </a:solidFill>
                  <a:latin typeface="Calibri"/>
                  <a:ea typeface="Calibri"/>
                  <a:cs typeface="Calibri"/>
                  <a:sym typeface="Calibri"/>
                </a:rPr>
                <a:t>→</a:t>
              </a:r>
              <a:r>
                <a:rPr lang="en-US" sz="1250" i="1" dirty="0">
                  <a:solidFill>
                    <a:srgbClr val="6E7B71"/>
                  </a:solidFill>
                  <a:latin typeface="Calibri"/>
                  <a:ea typeface="Calibri"/>
                  <a:cs typeface="Calibri"/>
                  <a:sym typeface="Calibri"/>
                </a:rPr>
                <a:t> </a:t>
              </a:r>
              <a:r>
                <a:rPr lang="en-US" sz="1250" b="1" i="1" dirty="0">
                  <a:solidFill>
                    <a:srgbClr val="6E7B71"/>
                  </a:solidFill>
                  <a:latin typeface="Calibri"/>
                  <a:ea typeface="Calibri"/>
                  <a:cs typeface="Calibri"/>
                  <a:sym typeface="Calibri"/>
                </a:rPr>
                <a:t>Seasonal peaks occur in late spring and summer (April-August) as seen by looking at the line graph visual in the dashboard. May 2022 and 2023 showed as the months with highest revenue, but in 2024 the peak happened slightly later in June 2024 instead. </a:t>
              </a:r>
              <a:endParaRPr sz="1350" b="0" i="0" u="none" strike="noStrike" cap="none" dirty="0">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4">
          <a:extLst>
            <a:ext uri="{FF2B5EF4-FFF2-40B4-BE49-F238E27FC236}">
              <a16:creationId xmlns:a16="http://schemas.microsoft.com/office/drawing/2014/main" id="{CBE2B3BF-C0A8-2839-7DF1-DA66F630693C}"/>
            </a:ext>
          </a:extLst>
        </p:cNvPr>
        <p:cNvGrpSpPr/>
        <p:nvPr/>
      </p:nvGrpSpPr>
      <p:grpSpPr>
        <a:xfrm>
          <a:off x="0" y="0"/>
          <a:ext cx="0" cy="0"/>
          <a:chOff x="0" y="0"/>
          <a:chExt cx="0" cy="0"/>
        </a:xfrm>
      </p:grpSpPr>
      <p:sp>
        <p:nvSpPr>
          <p:cNvPr id="265" name="Google Shape;265;p10">
            <a:extLst>
              <a:ext uri="{FF2B5EF4-FFF2-40B4-BE49-F238E27FC236}">
                <a16:creationId xmlns:a16="http://schemas.microsoft.com/office/drawing/2014/main" id="{10851339-0A34-08B2-37D6-1A881ACCCDC8}"/>
              </a:ext>
            </a:extLst>
          </p:cNvPr>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0">
            <a:extLst>
              <a:ext uri="{FF2B5EF4-FFF2-40B4-BE49-F238E27FC236}">
                <a16:creationId xmlns:a16="http://schemas.microsoft.com/office/drawing/2014/main" id="{18041202-DBBD-CC49-9D41-CCADEE1F4B95}"/>
              </a:ext>
            </a:extLst>
          </p:cNvPr>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dirty="0">
                <a:solidFill>
                  <a:srgbClr val="FFFFFF"/>
                </a:solidFill>
                <a:latin typeface="Cambria"/>
                <a:ea typeface="Cambria"/>
                <a:cs typeface="Cambria"/>
                <a:sym typeface="Cambria"/>
              </a:rPr>
              <a:t>11</a:t>
            </a:r>
            <a:endParaRPr sz="2400" b="0" i="0" u="none" strike="noStrike" cap="none" dirty="0">
              <a:solidFill>
                <a:schemeClr val="dk1"/>
              </a:solidFill>
              <a:latin typeface="Calibri"/>
              <a:ea typeface="Calibri"/>
              <a:cs typeface="Calibri"/>
              <a:sym typeface="Calibri"/>
            </a:endParaRPr>
          </a:p>
        </p:txBody>
      </p:sp>
      <p:sp>
        <p:nvSpPr>
          <p:cNvPr id="267" name="Google Shape;267;p10">
            <a:extLst>
              <a:ext uri="{FF2B5EF4-FFF2-40B4-BE49-F238E27FC236}">
                <a16:creationId xmlns:a16="http://schemas.microsoft.com/office/drawing/2014/main" id="{D4C5D12C-1E84-6C89-9579-A42C2A5BC2BB}"/>
              </a:ext>
            </a:extLst>
          </p:cNvPr>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dirty="0">
                <a:solidFill>
                  <a:srgbClr val="1F3D2E"/>
                </a:solidFill>
                <a:latin typeface="Cambria"/>
                <a:ea typeface="Cambria"/>
                <a:cs typeface="Calibri"/>
                <a:sym typeface="Cambria"/>
              </a:rPr>
              <a:t>Discount Impact Analysis</a:t>
            </a:r>
            <a:endParaRPr sz="2900" b="0" i="0" u="none" strike="noStrike" cap="none" dirty="0">
              <a:solidFill>
                <a:schemeClr val="dk1"/>
              </a:solidFill>
              <a:latin typeface="Calibri"/>
              <a:ea typeface="Calibri"/>
              <a:cs typeface="Calibri"/>
              <a:sym typeface="Calibri"/>
            </a:endParaRPr>
          </a:p>
        </p:txBody>
      </p:sp>
      <p:sp>
        <p:nvSpPr>
          <p:cNvPr id="276" name="Google Shape;276;p10">
            <a:extLst>
              <a:ext uri="{FF2B5EF4-FFF2-40B4-BE49-F238E27FC236}">
                <a16:creationId xmlns:a16="http://schemas.microsoft.com/office/drawing/2014/main" id="{1D484BB6-7BFD-56DD-8109-AC0FF9B0066D}"/>
              </a:ext>
            </a:extLst>
          </p:cNvPr>
          <p:cNvSpPr/>
          <p:nvPr/>
        </p:nvSpPr>
        <p:spPr>
          <a:xfrm>
            <a:off x="561485" y="3599906"/>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mbria"/>
              <a:buNone/>
            </a:pPr>
            <a:r>
              <a:rPr lang="en-US" sz="1500" b="1" i="0" u="none" strike="noStrike" cap="none" dirty="0">
                <a:solidFill>
                  <a:srgbClr val="FFFFFF"/>
                </a:solidFill>
                <a:latin typeface="Cambria"/>
                <a:ea typeface="Cambria"/>
                <a:cs typeface="Cambria"/>
                <a:sym typeface="Cambria"/>
              </a:rPr>
              <a:t>3</a:t>
            </a:r>
            <a:endParaRPr sz="1500" b="0" i="0" u="none" strike="noStrike" cap="none" dirty="0">
              <a:solidFill>
                <a:schemeClr val="dk1"/>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486BF5FC-4B6C-D9BB-3A82-9F180946F321}"/>
              </a:ext>
            </a:extLst>
          </p:cNvPr>
          <p:cNvPicPr>
            <a:picLocks noChangeAspect="1"/>
          </p:cNvPicPr>
          <p:nvPr/>
        </p:nvPicPr>
        <p:blipFill>
          <a:blip r:embed="rId3"/>
          <a:stretch>
            <a:fillRect/>
          </a:stretch>
        </p:blipFill>
        <p:spPr>
          <a:xfrm>
            <a:off x="561486" y="1402106"/>
            <a:ext cx="3358879" cy="1276993"/>
          </a:xfrm>
          <a:prstGeom prst="rect">
            <a:avLst/>
          </a:prstGeom>
        </p:spPr>
      </p:pic>
      <p:pic>
        <p:nvPicPr>
          <p:cNvPr id="11" name="Picture 10">
            <a:extLst>
              <a:ext uri="{FF2B5EF4-FFF2-40B4-BE49-F238E27FC236}">
                <a16:creationId xmlns:a16="http://schemas.microsoft.com/office/drawing/2014/main" id="{AB601FEA-1FEC-60C2-5662-964752596F9B}"/>
              </a:ext>
            </a:extLst>
          </p:cNvPr>
          <p:cNvPicPr>
            <a:picLocks noChangeAspect="1"/>
          </p:cNvPicPr>
          <p:nvPr/>
        </p:nvPicPr>
        <p:blipFill>
          <a:blip r:embed="rId4"/>
          <a:stretch>
            <a:fillRect/>
          </a:stretch>
        </p:blipFill>
        <p:spPr>
          <a:xfrm>
            <a:off x="4305735" y="1343629"/>
            <a:ext cx="2933265" cy="1335470"/>
          </a:xfrm>
          <a:prstGeom prst="rect">
            <a:avLst/>
          </a:prstGeom>
        </p:spPr>
      </p:pic>
      <p:pic>
        <p:nvPicPr>
          <p:cNvPr id="13" name="Picture 12">
            <a:extLst>
              <a:ext uri="{FF2B5EF4-FFF2-40B4-BE49-F238E27FC236}">
                <a16:creationId xmlns:a16="http://schemas.microsoft.com/office/drawing/2014/main" id="{86C5681C-6DDF-A72B-CACA-D5E6657A79BE}"/>
              </a:ext>
            </a:extLst>
          </p:cNvPr>
          <p:cNvPicPr>
            <a:picLocks noChangeAspect="1"/>
          </p:cNvPicPr>
          <p:nvPr/>
        </p:nvPicPr>
        <p:blipFill>
          <a:blip r:embed="rId5"/>
          <a:stretch>
            <a:fillRect/>
          </a:stretch>
        </p:blipFill>
        <p:spPr>
          <a:xfrm>
            <a:off x="790085" y="2892485"/>
            <a:ext cx="5991715" cy="3311812"/>
          </a:xfrm>
          <a:prstGeom prst="rect">
            <a:avLst/>
          </a:prstGeom>
        </p:spPr>
      </p:pic>
      <p:sp>
        <p:nvSpPr>
          <p:cNvPr id="14" name="TextBox 13">
            <a:extLst>
              <a:ext uri="{FF2B5EF4-FFF2-40B4-BE49-F238E27FC236}">
                <a16:creationId xmlns:a16="http://schemas.microsoft.com/office/drawing/2014/main" id="{AF20D4CD-AB5C-7D14-7F4B-7512087A152C}"/>
              </a:ext>
            </a:extLst>
          </p:cNvPr>
          <p:cNvSpPr txBox="1"/>
          <p:nvPr/>
        </p:nvSpPr>
        <p:spPr>
          <a:xfrm>
            <a:off x="7766957" y="3286006"/>
            <a:ext cx="3863558" cy="3508653"/>
          </a:xfrm>
          <a:prstGeom prst="rect">
            <a:avLst/>
          </a:prstGeom>
          <a:noFill/>
        </p:spPr>
        <p:txBody>
          <a:bodyPr wrap="square" rtlCol="0">
            <a:spAutoFit/>
          </a:bodyPr>
          <a:lstStyle/>
          <a:p>
            <a:pPr marL="285750" indent="-285750">
              <a:buFont typeface="Arial" panose="020B0604020202020204" pitchFamily="34" charset="0"/>
              <a:buChar char="•"/>
            </a:pPr>
            <a:r>
              <a:rPr lang="en-GB" sz="1200" dirty="0"/>
              <a:t>We can see here that revenue and profit decrease as the discount band increases. Notice that that despite defining a band for 31%+, it is empty and hence doesn’t show on the visual.</a:t>
            </a:r>
          </a:p>
          <a:p>
            <a:pPr marL="285750" indent="-285750">
              <a:buFont typeface="Arial" panose="020B0604020202020204" pitchFamily="34" charset="0"/>
              <a:buChar char="•"/>
            </a:pPr>
            <a:r>
              <a:rPr lang="en-GB" sz="1200" dirty="0"/>
              <a:t>However, this on its own doesn’t tell us too much as to how discount bands affect revenue and profit.</a:t>
            </a:r>
          </a:p>
          <a:p>
            <a:pPr marL="285750" indent="-285750">
              <a:buFont typeface="Arial" panose="020B0604020202020204" pitchFamily="34" charset="0"/>
              <a:buChar char="•"/>
            </a:pPr>
            <a:r>
              <a:rPr lang="en-GB" sz="1200" dirty="0"/>
              <a:t>The profit margin gives us a better analysis. The line in the graph shows that a higher discount band is associated with lower profit margins. Compare the profit margin at 0% discount (47.38%), with profit margin at 1-10% (43%), to profit margin at 11-20% (36%), to profit margin at 21-30% (30%).</a:t>
            </a:r>
          </a:p>
          <a:p>
            <a:pPr marL="285750" indent="-285750">
              <a:buFont typeface="Arial" panose="020B0604020202020204" pitchFamily="34" charset="0"/>
              <a:buChar char="•"/>
            </a:pPr>
            <a:r>
              <a:rPr lang="en-GB" sz="1200" dirty="0"/>
              <a:t>The figures above show that the 0% discount band contributes to 68.7% of profit and 63.8% of revenue, showing it is profit engine.</a:t>
            </a:r>
          </a:p>
          <a:p>
            <a:pPr marL="285750" indent="-285750">
              <a:buFont typeface="Arial" panose="020B0604020202020204" pitchFamily="34" charset="0"/>
              <a:buChar char="•"/>
            </a:pPr>
            <a:r>
              <a:rPr lang="en-GB" sz="1200" dirty="0"/>
              <a:t>My advice on how this should affect pricing is on the next slide.</a:t>
            </a:r>
          </a:p>
          <a:p>
            <a:pPr marL="285750" indent="-285750">
              <a:buFont typeface="Arial" panose="020B0604020202020204" pitchFamily="34" charset="0"/>
              <a:buChar char="•"/>
            </a:pPr>
            <a:endParaRPr lang="en-GB" dirty="0"/>
          </a:p>
        </p:txBody>
      </p:sp>
      <p:pic>
        <p:nvPicPr>
          <p:cNvPr id="3" name="Picture 2">
            <a:extLst>
              <a:ext uri="{FF2B5EF4-FFF2-40B4-BE49-F238E27FC236}">
                <a16:creationId xmlns:a16="http://schemas.microsoft.com/office/drawing/2014/main" id="{D9B36610-AC2D-21DD-B2CB-63F8EEB02F08}"/>
              </a:ext>
            </a:extLst>
          </p:cNvPr>
          <p:cNvPicPr>
            <a:picLocks noChangeAspect="1"/>
          </p:cNvPicPr>
          <p:nvPr/>
        </p:nvPicPr>
        <p:blipFill>
          <a:blip r:embed="rId6"/>
          <a:stretch>
            <a:fillRect/>
          </a:stretch>
        </p:blipFill>
        <p:spPr>
          <a:xfrm>
            <a:off x="8138813" y="2005038"/>
            <a:ext cx="3119845" cy="1252535"/>
          </a:xfrm>
          <a:prstGeom prst="rect">
            <a:avLst/>
          </a:prstGeom>
        </p:spPr>
      </p:pic>
      <p:pic>
        <p:nvPicPr>
          <p:cNvPr id="5" name="Picture 4">
            <a:extLst>
              <a:ext uri="{FF2B5EF4-FFF2-40B4-BE49-F238E27FC236}">
                <a16:creationId xmlns:a16="http://schemas.microsoft.com/office/drawing/2014/main" id="{3886A28B-16C3-A121-9BED-99972AB7EF42}"/>
              </a:ext>
            </a:extLst>
          </p:cNvPr>
          <p:cNvPicPr>
            <a:picLocks noChangeAspect="1"/>
          </p:cNvPicPr>
          <p:nvPr/>
        </p:nvPicPr>
        <p:blipFill>
          <a:blip r:embed="rId7"/>
          <a:stretch>
            <a:fillRect/>
          </a:stretch>
        </p:blipFill>
        <p:spPr>
          <a:xfrm>
            <a:off x="8027635" y="417788"/>
            <a:ext cx="3231023" cy="1067581"/>
          </a:xfrm>
          <a:prstGeom prst="rect">
            <a:avLst/>
          </a:prstGeom>
        </p:spPr>
      </p:pic>
      <p:pic>
        <p:nvPicPr>
          <p:cNvPr id="7" name="Picture 6">
            <a:extLst>
              <a:ext uri="{FF2B5EF4-FFF2-40B4-BE49-F238E27FC236}">
                <a16:creationId xmlns:a16="http://schemas.microsoft.com/office/drawing/2014/main" id="{A8980432-4B51-72C9-CCC5-5D0AD34082BC}"/>
              </a:ext>
            </a:extLst>
          </p:cNvPr>
          <p:cNvPicPr>
            <a:picLocks noChangeAspect="1"/>
          </p:cNvPicPr>
          <p:nvPr/>
        </p:nvPicPr>
        <p:blipFill>
          <a:blip r:embed="rId8"/>
          <a:stretch>
            <a:fillRect/>
          </a:stretch>
        </p:blipFill>
        <p:spPr>
          <a:xfrm>
            <a:off x="7990992" y="1373860"/>
            <a:ext cx="3267666" cy="1067582"/>
          </a:xfrm>
          <a:prstGeom prst="rect">
            <a:avLst/>
          </a:prstGeom>
        </p:spPr>
      </p:pic>
    </p:spTree>
    <p:extLst>
      <p:ext uri="{BB962C8B-B14F-4D97-AF65-F5344CB8AC3E}">
        <p14:creationId xmlns:p14="http://schemas.microsoft.com/office/powerpoint/2010/main" val="2712771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4"/>
        <p:cNvGrpSpPr/>
        <p:nvPr/>
      </p:nvGrpSpPr>
      <p:grpSpPr>
        <a:xfrm>
          <a:off x="0" y="0"/>
          <a:ext cx="0" cy="0"/>
          <a:chOff x="0" y="0"/>
          <a:chExt cx="0" cy="0"/>
        </a:xfrm>
      </p:grpSpPr>
      <p:sp>
        <p:nvSpPr>
          <p:cNvPr id="295" name="Google Shape;295;p11"/>
          <p:cNvSpPr/>
          <p:nvPr/>
        </p:nvSpPr>
        <p:spPr>
          <a:xfrm>
            <a:off x="548640" y="475488"/>
            <a:ext cx="658368" cy="658368"/>
          </a:xfrm>
          <a:prstGeom prst="ellipse">
            <a:avLst/>
          </a:prstGeom>
          <a:solidFill>
            <a:srgbClr val="2C5F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1"/>
          <p:cNvSpPr/>
          <p:nvPr/>
        </p:nvSpPr>
        <p:spPr>
          <a:xfrm>
            <a:off x="548640" y="475488"/>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dirty="0">
                <a:solidFill>
                  <a:srgbClr val="FFFFFF"/>
                </a:solidFill>
                <a:latin typeface="Cambria"/>
                <a:ea typeface="Cambria"/>
                <a:cs typeface="Cambria"/>
                <a:sym typeface="Cambria"/>
              </a:rPr>
              <a:t>12</a:t>
            </a:r>
            <a:endParaRPr sz="2400" b="0" i="0" u="none" strike="noStrike" cap="none" dirty="0">
              <a:solidFill>
                <a:schemeClr val="dk1"/>
              </a:solidFill>
              <a:latin typeface="Calibri"/>
              <a:ea typeface="Calibri"/>
              <a:cs typeface="Calibri"/>
              <a:sym typeface="Calibri"/>
            </a:endParaRPr>
          </a:p>
        </p:txBody>
      </p:sp>
      <p:sp>
        <p:nvSpPr>
          <p:cNvPr id="297" name="Google Shape;297;p11"/>
          <p:cNvSpPr/>
          <p:nvPr/>
        </p:nvSpPr>
        <p:spPr>
          <a:xfrm>
            <a:off x="1371600" y="438912"/>
            <a:ext cx="102412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3D2E"/>
              </a:buClr>
              <a:buSzPts val="2900"/>
              <a:buFont typeface="Cambria"/>
              <a:buNone/>
            </a:pPr>
            <a:r>
              <a:rPr lang="en-US" sz="2900" b="1" i="0" u="none" strike="noStrike" cap="none">
                <a:solidFill>
                  <a:srgbClr val="1F3D2E"/>
                </a:solidFill>
                <a:latin typeface="Cambria"/>
                <a:ea typeface="Cambria"/>
                <a:cs typeface="Cambria"/>
                <a:sym typeface="Cambria"/>
              </a:rPr>
              <a:t>Recommendations</a:t>
            </a:r>
            <a:endParaRPr sz="2900" b="0" i="0" u="none" strike="noStrike" cap="none">
              <a:solidFill>
                <a:schemeClr val="dk1"/>
              </a:solidFill>
              <a:latin typeface="Calibri"/>
              <a:ea typeface="Calibri"/>
              <a:cs typeface="Calibri"/>
              <a:sym typeface="Calibri"/>
            </a:endParaRPr>
          </a:p>
        </p:txBody>
      </p:sp>
      <p:sp>
        <p:nvSpPr>
          <p:cNvPr id="298" name="Google Shape;298;p11"/>
          <p:cNvSpPr/>
          <p:nvPr/>
        </p:nvSpPr>
        <p:spPr>
          <a:xfrm>
            <a:off x="548640" y="150876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00"/>
              <a:buFont typeface="Calibri"/>
              <a:buNone/>
            </a:pPr>
            <a:r>
              <a:rPr lang="en-US" sz="1200" b="1" i="0" u="none" strike="noStrike" cap="none">
                <a:solidFill>
                  <a:srgbClr val="C77F33"/>
                </a:solidFill>
                <a:latin typeface="Calibri"/>
                <a:ea typeface="Calibri"/>
                <a:cs typeface="Calibri"/>
                <a:sym typeface="Calibri"/>
              </a:rPr>
              <a:t>YOUR TASK   </a:t>
            </a:r>
            <a:r>
              <a:rPr lang="en-US" sz="1300" b="0" i="1" u="none" strike="noStrike" cap="none">
                <a:solidFill>
                  <a:srgbClr val="6E7B71"/>
                </a:solidFill>
                <a:latin typeface="Calibri"/>
                <a:ea typeface="Calibri"/>
                <a:cs typeface="Calibri"/>
                <a:sym typeface="Calibri"/>
              </a:rPr>
              <a:t>Turn the insights into 3–4 actions leadership could take.</a:t>
            </a:r>
            <a:endParaRPr sz="1200" b="0" i="0" u="none" strike="noStrike" cap="none">
              <a:solidFill>
                <a:schemeClr val="dk1"/>
              </a:solidFill>
              <a:latin typeface="Calibri"/>
              <a:ea typeface="Calibri"/>
              <a:cs typeface="Calibri"/>
              <a:sym typeface="Calibri"/>
            </a:endParaRPr>
          </a:p>
        </p:txBody>
      </p:sp>
      <p:sp>
        <p:nvSpPr>
          <p:cNvPr id="299" name="Google Shape;299;p11"/>
          <p:cNvSpPr/>
          <p:nvPr/>
        </p:nvSpPr>
        <p:spPr>
          <a:xfrm>
            <a:off x="548640" y="2011679"/>
            <a:ext cx="5440680" cy="3746863"/>
          </a:xfrm>
          <a:prstGeom prst="roundRect">
            <a:avLst>
              <a:gd name="adj" fmla="val 4390"/>
            </a:avLst>
          </a:prstGeom>
          <a:solidFill>
            <a:srgbClr val="F5F8F1"/>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1"/>
          <p:cNvSpPr/>
          <p:nvPr/>
        </p:nvSpPr>
        <p:spPr>
          <a:xfrm>
            <a:off x="720634" y="2057400"/>
            <a:ext cx="457200" cy="457200"/>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a:off x="733697" y="2044337"/>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dirty="0">
                <a:solidFill>
                  <a:srgbClr val="FFFFFF"/>
                </a:solidFill>
                <a:latin typeface="Cambria"/>
                <a:ea typeface="Cambria"/>
                <a:cs typeface="Cambria"/>
                <a:sym typeface="Cambria"/>
              </a:rPr>
              <a:t>1</a:t>
            </a:r>
            <a:endParaRPr sz="1600" b="0" i="0" u="none" strike="noStrike" cap="none" dirty="0">
              <a:solidFill>
                <a:schemeClr val="dk1"/>
              </a:solidFill>
              <a:latin typeface="Calibri"/>
              <a:ea typeface="Calibri"/>
              <a:cs typeface="Calibri"/>
              <a:sym typeface="Calibri"/>
            </a:endParaRPr>
          </a:p>
        </p:txBody>
      </p:sp>
      <p:sp>
        <p:nvSpPr>
          <p:cNvPr id="302" name="Google Shape;302;p11"/>
          <p:cNvSpPr/>
          <p:nvPr/>
        </p:nvSpPr>
        <p:spPr>
          <a:xfrm>
            <a:off x="1408176" y="2071116"/>
            <a:ext cx="42976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600"/>
              <a:buFont typeface="Cambria"/>
              <a:buNone/>
            </a:pPr>
            <a:r>
              <a:rPr lang="en-US" sz="1600" b="1" i="0" u="none" strike="noStrike" cap="none" dirty="0">
                <a:solidFill>
                  <a:srgbClr val="2C5F2D"/>
                </a:solidFill>
                <a:latin typeface="Cambria"/>
                <a:ea typeface="Cambria"/>
                <a:cs typeface="Cambria"/>
                <a:sym typeface="Cambria"/>
              </a:rPr>
              <a:t>Where to invest</a:t>
            </a:r>
            <a:endParaRPr sz="1600" b="0" i="0" u="none" strike="noStrike" cap="none" dirty="0">
              <a:solidFill>
                <a:schemeClr val="dk1"/>
              </a:solidFill>
              <a:latin typeface="Calibri"/>
              <a:ea typeface="Calibri"/>
              <a:cs typeface="Calibri"/>
              <a:sym typeface="Calibri"/>
            </a:endParaRPr>
          </a:p>
        </p:txBody>
      </p:sp>
      <p:sp>
        <p:nvSpPr>
          <p:cNvPr id="303" name="Google Shape;303;p11"/>
          <p:cNvSpPr/>
          <p:nvPr/>
        </p:nvSpPr>
        <p:spPr>
          <a:xfrm>
            <a:off x="694943" y="2638044"/>
            <a:ext cx="5324857" cy="3000756"/>
          </a:xfrm>
          <a:prstGeom prst="rect">
            <a:avLst/>
          </a:prstGeom>
          <a:noFill/>
          <a:ln>
            <a:noFill/>
          </a:ln>
        </p:spPr>
        <p:txBody>
          <a:bodyPr spcFirstLastPara="1" wrap="square" lIns="0" tIns="0" rIns="0" bIns="0" anchor="t" anchorCtr="0">
            <a:noAutofit/>
          </a:bodyPr>
          <a:lstStyle/>
          <a:p>
            <a:pPr lvl="0">
              <a:buClr>
                <a:srgbClr val="6E7B71"/>
              </a:buClr>
              <a:buSzPts val="1300"/>
            </a:pPr>
            <a:r>
              <a:rPr lang="en-GB" sz="1300" dirty="0">
                <a:solidFill>
                  <a:schemeClr val="accent2">
                    <a:lumMod val="75000"/>
                  </a:schemeClr>
                </a:solidFill>
                <a:latin typeface="Calibri"/>
                <a:ea typeface="Calibri"/>
                <a:cs typeface="Calibri"/>
                <a:sym typeface="Calibri"/>
              </a:rPr>
              <a:t>Our strongest region is clearly the West. We could go one of two ways, either further invest in this region and category to take advantage of this, or we actually try and invest improve sales in the other regions. I would advise the former, as the main reason for West being the best-selling region is because that’s where most of our customers are. However, it must be noted that in terms of profit margin, the Midwest is actually slightly ahead (44.25% compared to 44.07%), so maybe we could also invest more in the Midwest.</a:t>
            </a:r>
          </a:p>
          <a:p>
            <a:pPr lvl="0">
              <a:buClr>
                <a:srgbClr val="6E7B71"/>
              </a:buClr>
              <a:buSzPts val="1300"/>
            </a:pPr>
            <a:endParaRPr lang="en-GB" sz="1300" dirty="0">
              <a:solidFill>
                <a:schemeClr val="accent2">
                  <a:lumMod val="75000"/>
                </a:schemeClr>
              </a:solidFill>
              <a:latin typeface="Calibri"/>
              <a:ea typeface="Calibri"/>
              <a:cs typeface="Calibri"/>
              <a:sym typeface="Calibri"/>
            </a:endParaRPr>
          </a:p>
          <a:p>
            <a:pPr lvl="0">
              <a:buClr>
                <a:srgbClr val="6E7B71"/>
              </a:buClr>
              <a:buSzPts val="1300"/>
            </a:pPr>
            <a:r>
              <a:rPr lang="en-GB" sz="1300" dirty="0">
                <a:solidFill>
                  <a:schemeClr val="accent2">
                    <a:lumMod val="75000"/>
                  </a:schemeClr>
                </a:solidFill>
                <a:latin typeface="Calibri"/>
                <a:ea typeface="Calibri"/>
                <a:cs typeface="Calibri"/>
                <a:sym typeface="Calibri"/>
              </a:rPr>
              <a:t>In terms of categories, although tents is the volume driver in terms of revenue and profit, Cooking actually has the highest profit margin (despite having the lowest revenue and profit), so in this case it might be worth investing more in the Cooking category.</a:t>
            </a:r>
          </a:p>
        </p:txBody>
      </p:sp>
      <p:grpSp>
        <p:nvGrpSpPr>
          <p:cNvPr id="2" name="Group 1">
            <a:extLst>
              <a:ext uri="{FF2B5EF4-FFF2-40B4-BE49-F238E27FC236}">
                <a16:creationId xmlns:a16="http://schemas.microsoft.com/office/drawing/2014/main" id="{5EAD21DE-020B-858E-07C7-0D2916E97B97}"/>
              </a:ext>
            </a:extLst>
          </p:cNvPr>
          <p:cNvGrpSpPr/>
          <p:nvPr/>
        </p:nvGrpSpPr>
        <p:grpSpPr>
          <a:xfrm>
            <a:off x="6161313" y="1897379"/>
            <a:ext cx="5607123" cy="2502843"/>
            <a:chOff x="6152498" y="2007107"/>
            <a:chExt cx="5440680" cy="2359001"/>
          </a:xfrm>
        </p:grpSpPr>
        <p:sp>
          <p:nvSpPr>
            <p:cNvPr id="305" name="Google Shape;305;p11"/>
            <p:cNvSpPr/>
            <p:nvPr/>
          </p:nvSpPr>
          <p:spPr>
            <a:xfrm>
              <a:off x="6152498" y="2007107"/>
              <a:ext cx="5440680" cy="2359001"/>
            </a:xfrm>
            <a:prstGeom prst="roundRect">
              <a:avLst>
                <a:gd name="adj" fmla="val 4390"/>
              </a:avLst>
            </a:prstGeom>
            <a:solidFill>
              <a:srgbClr val="F5F8F1"/>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11"/>
            <p:cNvSpPr/>
            <p:nvPr/>
          </p:nvSpPr>
          <p:spPr>
            <a:xfrm>
              <a:off x="6345936" y="2057291"/>
              <a:ext cx="457200" cy="457200"/>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6345936" y="208711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dirty="0">
                  <a:solidFill>
                    <a:srgbClr val="FFFFFF"/>
                  </a:solidFill>
                  <a:latin typeface="Cambria"/>
                  <a:ea typeface="Cambria"/>
                  <a:cs typeface="Cambria"/>
                  <a:sym typeface="Cambria"/>
                </a:rPr>
                <a:t>2</a:t>
              </a:r>
              <a:endParaRPr sz="1600" b="0" i="0" u="none" strike="noStrike" cap="none" dirty="0">
                <a:solidFill>
                  <a:schemeClr val="dk1"/>
                </a:solidFill>
                <a:latin typeface="Calibri"/>
                <a:ea typeface="Calibri"/>
                <a:cs typeface="Calibri"/>
                <a:sym typeface="Calibri"/>
              </a:endParaRPr>
            </a:p>
          </p:txBody>
        </p:sp>
        <p:sp>
          <p:nvSpPr>
            <p:cNvPr id="308" name="Google Shape;308;p11"/>
            <p:cNvSpPr/>
            <p:nvPr/>
          </p:nvSpPr>
          <p:spPr>
            <a:xfrm>
              <a:off x="6911558" y="2071116"/>
              <a:ext cx="42976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600"/>
                <a:buFont typeface="Cambria"/>
                <a:buNone/>
              </a:pPr>
              <a:r>
                <a:rPr lang="en-US" sz="1600" b="1" i="0" u="none" strike="noStrike" cap="none" dirty="0">
                  <a:solidFill>
                    <a:srgbClr val="2C5F2D"/>
                  </a:solidFill>
                  <a:latin typeface="Cambria"/>
                  <a:ea typeface="Cambria"/>
                  <a:cs typeface="Cambria"/>
                  <a:sym typeface="Cambria"/>
                </a:rPr>
                <a:t>Advice on discounting</a:t>
              </a:r>
              <a:endParaRPr sz="1600" b="0" i="0" u="none" strike="noStrike" cap="none" dirty="0">
                <a:solidFill>
                  <a:schemeClr val="dk1"/>
                </a:solidFill>
                <a:latin typeface="Calibri"/>
                <a:ea typeface="Calibri"/>
                <a:cs typeface="Calibri"/>
                <a:sym typeface="Calibri"/>
              </a:endParaRPr>
            </a:p>
          </p:txBody>
        </p:sp>
      </p:grpSp>
      <p:grpSp>
        <p:nvGrpSpPr>
          <p:cNvPr id="3" name="Group 2">
            <a:extLst>
              <a:ext uri="{FF2B5EF4-FFF2-40B4-BE49-F238E27FC236}">
                <a16:creationId xmlns:a16="http://schemas.microsoft.com/office/drawing/2014/main" id="{020ABF25-B5DB-DF30-475A-E6D8E599D653}"/>
              </a:ext>
            </a:extLst>
          </p:cNvPr>
          <p:cNvGrpSpPr/>
          <p:nvPr/>
        </p:nvGrpSpPr>
        <p:grpSpPr>
          <a:xfrm>
            <a:off x="6080760" y="4572000"/>
            <a:ext cx="5440680" cy="1874520"/>
            <a:chOff x="528828" y="4411980"/>
            <a:chExt cx="5440680" cy="1874520"/>
          </a:xfrm>
        </p:grpSpPr>
        <p:sp>
          <p:nvSpPr>
            <p:cNvPr id="311" name="Google Shape;311;p11"/>
            <p:cNvSpPr/>
            <p:nvPr/>
          </p:nvSpPr>
          <p:spPr>
            <a:xfrm>
              <a:off x="528828" y="4411980"/>
              <a:ext cx="5440680" cy="1874520"/>
            </a:xfrm>
            <a:prstGeom prst="roundRect">
              <a:avLst>
                <a:gd name="adj" fmla="val 4390"/>
              </a:avLst>
            </a:prstGeom>
            <a:solidFill>
              <a:srgbClr val="F5F8F1"/>
            </a:solidFill>
            <a:ln>
              <a:noFill/>
            </a:ln>
            <a:effectLst>
              <a:outerShdw blurRad="101600" dist="381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792480" y="4476858"/>
              <a:ext cx="457200" cy="457200"/>
            </a:xfrm>
            <a:prstGeom prst="ellipse">
              <a:avLst/>
            </a:prstGeom>
            <a:solidFill>
              <a:srgbClr val="C77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a:off x="805543" y="4512564"/>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dirty="0">
                  <a:solidFill>
                    <a:srgbClr val="FFFFFF"/>
                  </a:solidFill>
                  <a:latin typeface="Cambria"/>
                  <a:ea typeface="Cambria"/>
                  <a:cs typeface="Cambria"/>
                  <a:sym typeface="Cambria"/>
                </a:rPr>
                <a:t>3</a:t>
              </a:r>
              <a:endParaRPr sz="1600" b="0" i="0" u="none" strike="noStrike" cap="none" dirty="0">
                <a:solidFill>
                  <a:schemeClr val="dk1"/>
                </a:solidFill>
                <a:latin typeface="Calibri"/>
                <a:ea typeface="Calibri"/>
                <a:cs typeface="Calibri"/>
                <a:sym typeface="Calibri"/>
              </a:endParaRPr>
            </a:p>
          </p:txBody>
        </p:sp>
        <p:sp>
          <p:nvSpPr>
            <p:cNvPr id="314" name="Google Shape;314;p11"/>
            <p:cNvSpPr/>
            <p:nvPr/>
          </p:nvSpPr>
          <p:spPr>
            <a:xfrm>
              <a:off x="1328492" y="4465972"/>
              <a:ext cx="42976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2D"/>
                </a:buClr>
                <a:buSzPts val="1600"/>
                <a:buFont typeface="Cambria"/>
                <a:buNone/>
              </a:pPr>
              <a:r>
                <a:rPr lang="en-US" sz="1600" b="1" i="0" u="none" strike="noStrike" cap="none" dirty="0">
                  <a:solidFill>
                    <a:srgbClr val="2C5F2D"/>
                  </a:solidFill>
                  <a:latin typeface="Cambria"/>
                  <a:ea typeface="Cambria"/>
                  <a:cs typeface="Cambria"/>
                  <a:sym typeface="Cambria"/>
                </a:rPr>
                <a:t>Plan for the season</a:t>
              </a:r>
              <a:endParaRPr sz="1600" b="0" i="0" u="none" strike="noStrike" cap="none" dirty="0">
                <a:solidFill>
                  <a:schemeClr val="dk1"/>
                </a:solidFill>
                <a:latin typeface="Calibri"/>
                <a:ea typeface="Calibri"/>
                <a:cs typeface="Calibri"/>
                <a:sym typeface="Calibri"/>
              </a:endParaRPr>
            </a:p>
          </p:txBody>
        </p:sp>
        <p:sp>
          <p:nvSpPr>
            <p:cNvPr id="316" name="Google Shape;316;p11"/>
            <p:cNvSpPr/>
            <p:nvPr/>
          </p:nvSpPr>
          <p:spPr>
            <a:xfrm>
              <a:off x="780288" y="4954088"/>
              <a:ext cx="4937760" cy="106005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200"/>
                <a:buFont typeface="Calibri"/>
                <a:buNone/>
              </a:pPr>
              <a:r>
                <a:rPr lang="en-US" sz="1200" b="0" u="none" strike="noStrike" cap="none" dirty="0">
                  <a:solidFill>
                    <a:srgbClr val="C77F33"/>
                  </a:solidFill>
                  <a:latin typeface="Calibri"/>
                  <a:ea typeface="Calibri"/>
                  <a:cs typeface="Calibri"/>
                  <a:sym typeface="Calibri"/>
                </a:rPr>
                <a:t>We have identified that the period between April to August generates the most revenue. This means that during this month, we should make sure to increase stocks and staffing during these periods to cope with higher demand, while reducing stocks and staffing during the winter months where the trend line shows we have the lowest revenue.</a:t>
              </a:r>
              <a:endParaRPr sz="1200" b="0" u="none" strike="noStrike" cap="none" dirty="0">
                <a:solidFill>
                  <a:schemeClr val="dk1"/>
                </a:solidFill>
                <a:latin typeface="Calibri"/>
                <a:ea typeface="Calibri"/>
                <a:cs typeface="Calibri"/>
                <a:sym typeface="Calibri"/>
              </a:endParaRPr>
            </a:p>
          </p:txBody>
        </p:sp>
      </p:grpSp>
      <p:sp>
        <p:nvSpPr>
          <p:cNvPr id="319" name="Google Shape;319;p11"/>
          <p:cNvSpPr/>
          <p:nvPr/>
        </p:nvSpPr>
        <p:spPr>
          <a:xfrm>
            <a:off x="6473952" y="4343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dirty="0">
                <a:solidFill>
                  <a:srgbClr val="FFFFFF"/>
                </a:solidFill>
                <a:latin typeface="Cambria"/>
                <a:ea typeface="Cambria"/>
                <a:cs typeface="Cambria"/>
                <a:sym typeface="Cambria"/>
              </a:rPr>
              <a:t>4</a:t>
            </a:r>
            <a:endParaRPr sz="1600" b="0" i="0" u="none" strike="noStrike" cap="none" dirty="0">
              <a:solidFill>
                <a:schemeClr val="dk1"/>
              </a:solidFill>
              <a:latin typeface="Calibri"/>
              <a:ea typeface="Calibri"/>
              <a:cs typeface="Calibri"/>
              <a:sym typeface="Calibri"/>
            </a:endParaRPr>
          </a:p>
        </p:txBody>
      </p:sp>
      <p:sp>
        <p:nvSpPr>
          <p:cNvPr id="321" name="Google Shape;321;p11"/>
          <p:cNvSpPr/>
          <p:nvPr/>
        </p:nvSpPr>
        <p:spPr>
          <a:xfrm>
            <a:off x="6473952" y="4983480"/>
            <a:ext cx="49377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300"/>
              <a:buFont typeface="Calibri"/>
              <a:buNone/>
            </a:pPr>
            <a:endParaRPr sz="1300" b="0" i="0" u="none" strike="noStrike" cap="none" dirty="0">
              <a:solidFill>
                <a:schemeClr val="dk1"/>
              </a:solidFill>
              <a:latin typeface="Calibri"/>
              <a:ea typeface="Calibri"/>
              <a:cs typeface="Calibri"/>
              <a:sym typeface="Calibri"/>
            </a:endParaRPr>
          </a:p>
        </p:txBody>
      </p:sp>
      <p:sp>
        <p:nvSpPr>
          <p:cNvPr id="5" name="Google Shape;303;p11">
            <a:extLst>
              <a:ext uri="{FF2B5EF4-FFF2-40B4-BE49-F238E27FC236}">
                <a16:creationId xmlns:a16="http://schemas.microsoft.com/office/drawing/2014/main" id="{4D205E72-E97F-C77E-C133-018996348EA8}"/>
              </a:ext>
            </a:extLst>
          </p:cNvPr>
          <p:cNvSpPr/>
          <p:nvPr/>
        </p:nvSpPr>
        <p:spPr>
          <a:xfrm>
            <a:off x="6443580" y="2601468"/>
            <a:ext cx="5324857" cy="140360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300"/>
              <a:buFont typeface="Calibri"/>
              <a:buNone/>
            </a:pPr>
            <a:endParaRPr sz="1300" b="0" i="0" u="none" strike="noStrike" cap="none" dirty="0">
              <a:solidFill>
                <a:schemeClr val="accent2">
                  <a:lumMod val="75000"/>
                </a:schemeClr>
              </a:solidFill>
              <a:latin typeface="Calibri"/>
              <a:ea typeface="Calibri"/>
              <a:cs typeface="Calibri"/>
              <a:sym typeface="Calibri"/>
            </a:endParaRPr>
          </a:p>
        </p:txBody>
      </p:sp>
      <p:sp>
        <p:nvSpPr>
          <p:cNvPr id="7" name="Google Shape;303;p11">
            <a:extLst>
              <a:ext uri="{FF2B5EF4-FFF2-40B4-BE49-F238E27FC236}">
                <a16:creationId xmlns:a16="http://schemas.microsoft.com/office/drawing/2014/main" id="{4AC65695-CC82-9079-B0F7-16914C2E1005}"/>
              </a:ext>
            </a:extLst>
          </p:cNvPr>
          <p:cNvSpPr/>
          <p:nvPr/>
        </p:nvSpPr>
        <p:spPr>
          <a:xfrm>
            <a:off x="6161312" y="2394036"/>
            <a:ext cx="5778900" cy="158985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E7B71"/>
              </a:buClr>
              <a:buSzPts val="1300"/>
              <a:buFont typeface="Calibri"/>
              <a:buNone/>
            </a:pPr>
            <a:r>
              <a:rPr lang="en-US" sz="1300" dirty="0">
                <a:solidFill>
                  <a:schemeClr val="accent2">
                    <a:lumMod val="75000"/>
                  </a:schemeClr>
                </a:solidFill>
                <a:latin typeface="Calibri"/>
                <a:ea typeface="Calibri"/>
                <a:cs typeface="Calibri"/>
                <a:sym typeface="Calibri"/>
              </a:rPr>
              <a:t>As seen in the last slide, a higher discount band is associated with lower profit margin. To recap </a:t>
            </a:r>
            <a:r>
              <a:rPr lang="en-GB" sz="1300" dirty="0">
                <a:solidFill>
                  <a:schemeClr val="accent2">
                    <a:lumMod val="75000"/>
                  </a:schemeClr>
                </a:solidFill>
                <a:latin typeface="Calibri"/>
                <a:ea typeface="Calibri"/>
                <a:cs typeface="Calibri"/>
                <a:sym typeface="Calibri"/>
              </a:rPr>
              <a:t>the profit margins: at 0% discount (47.38%); profit margin at 1-10% (43%); profit margin at 11-20% (36%); profit margin at 21-30% (30%). </a:t>
            </a:r>
          </a:p>
          <a:p>
            <a:pPr marL="0" marR="0" lvl="0" indent="0" algn="l" rtl="0">
              <a:spcBef>
                <a:spcPts val="0"/>
              </a:spcBef>
              <a:spcAft>
                <a:spcPts val="0"/>
              </a:spcAft>
              <a:buClr>
                <a:srgbClr val="6E7B71"/>
              </a:buClr>
              <a:buSzPts val="1300"/>
              <a:buFont typeface="Calibri"/>
              <a:buNone/>
            </a:pPr>
            <a:endParaRPr lang="en-GB" sz="1300" dirty="0">
              <a:solidFill>
                <a:schemeClr val="accent2">
                  <a:lumMod val="75000"/>
                </a:schemeClr>
              </a:solidFill>
              <a:latin typeface="Calibri"/>
              <a:ea typeface="Calibri"/>
              <a:cs typeface="Calibri"/>
              <a:sym typeface="Calibri"/>
            </a:endParaRPr>
          </a:p>
          <a:p>
            <a:pPr marL="0" marR="0" lvl="0" indent="0" algn="l" rtl="0">
              <a:spcBef>
                <a:spcPts val="0"/>
              </a:spcBef>
              <a:spcAft>
                <a:spcPts val="0"/>
              </a:spcAft>
              <a:buClr>
                <a:srgbClr val="6E7B71"/>
              </a:buClr>
              <a:buSzPts val="1300"/>
              <a:buFont typeface="Calibri"/>
              <a:buNone/>
            </a:pPr>
            <a:r>
              <a:rPr lang="en-GB" sz="1300" dirty="0">
                <a:solidFill>
                  <a:schemeClr val="accent2">
                    <a:lumMod val="75000"/>
                  </a:schemeClr>
                </a:solidFill>
                <a:latin typeface="Calibri"/>
                <a:ea typeface="Calibri"/>
                <a:cs typeface="Calibri"/>
                <a:sym typeface="Calibri"/>
              </a:rPr>
              <a:t>One might think that a 1-10% discount would be the best balance between profit margin and discounts for customers. However, seeing as we already have a large revenue gap from now to our FY2024 target of $1.55m, we probably can’t afford to widen if further by offering discounts, especially as analysis showed that the 0% discount band is the biggest driver of revenue and profit, which is what the business needs.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2079</TotalTime>
  <Words>2318</Words>
  <Application>Microsoft Office PowerPoint</Application>
  <PresentationFormat>Widescreen</PresentationFormat>
  <Paragraphs>219</Paragraphs>
  <Slides>17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Newto Training</dc:creator>
  <cp:lastModifiedBy>Andreas Wong</cp:lastModifiedBy>
  <cp:revision>49</cp:revision>
  <dcterms:created xsi:type="dcterms:W3CDTF">2026-06-10T21:52:48Z</dcterms:created>
  <dcterms:modified xsi:type="dcterms:W3CDTF">2026-08-18T23:11:28Z</dcterms:modified>
</cp:coreProperties>
</file>