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57" r:id="rId4"/>
    <p:sldId id="258" r:id="rId5"/>
    <p:sldId id="259" r:id="rId6"/>
    <p:sldId id="260" r:id="rId7"/>
    <p:sldId id="261" r:id="rId8"/>
    <p:sldId id="262" r:id="rId9"/>
    <p:sldId id="263" r:id="rId10"/>
    <p:sldId id="264" r:id="rId11"/>
    <p:sldId id="265"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109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8D93F-4069-7D9B-81C5-7F09D3D0A0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8DAEA79-5D5A-EFF0-8509-DED5E75D83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A0B7A3A-E13A-94BE-8F7F-5E2AFACE6E39}"/>
              </a:ext>
            </a:extLst>
          </p:cNvPr>
          <p:cNvSpPr>
            <a:spLocks noGrp="1"/>
          </p:cNvSpPr>
          <p:nvPr>
            <p:ph type="dt" sz="half" idx="10"/>
          </p:nvPr>
        </p:nvSpPr>
        <p:spPr/>
        <p:txBody>
          <a:bodyPr/>
          <a:lstStyle/>
          <a:p>
            <a:fld id="{2A12B222-F599-4611-B325-84E27E39CF38}" type="datetimeFigureOut">
              <a:rPr lang="en-GB" smtClean="0"/>
              <a:t>03/07/2026</a:t>
            </a:fld>
            <a:endParaRPr lang="en-GB"/>
          </a:p>
        </p:txBody>
      </p:sp>
      <p:sp>
        <p:nvSpPr>
          <p:cNvPr id="5" name="Footer Placeholder 4">
            <a:extLst>
              <a:ext uri="{FF2B5EF4-FFF2-40B4-BE49-F238E27FC236}">
                <a16:creationId xmlns:a16="http://schemas.microsoft.com/office/drawing/2014/main" id="{35DA1DCE-2C7B-F3FA-3345-CFEADAEE98D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10A49AE-6F81-D549-2436-B8DF1D5EEB16}"/>
              </a:ext>
            </a:extLst>
          </p:cNvPr>
          <p:cNvSpPr>
            <a:spLocks noGrp="1"/>
          </p:cNvSpPr>
          <p:nvPr>
            <p:ph type="sldNum" sz="quarter" idx="12"/>
          </p:nvPr>
        </p:nvSpPr>
        <p:spPr/>
        <p:txBody>
          <a:bodyPr/>
          <a:lstStyle/>
          <a:p>
            <a:fld id="{A468A234-205D-4D70-B2CD-8AB1D70CD919}" type="slidenum">
              <a:rPr lang="en-GB" smtClean="0"/>
              <a:t>‹#›</a:t>
            </a:fld>
            <a:endParaRPr lang="en-GB"/>
          </a:p>
        </p:txBody>
      </p:sp>
    </p:spTree>
    <p:extLst>
      <p:ext uri="{BB962C8B-B14F-4D97-AF65-F5344CB8AC3E}">
        <p14:creationId xmlns:p14="http://schemas.microsoft.com/office/powerpoint/2010/main" val="382355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7F4B0-AB43-4B11-387C-509BCD0995A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37E5BE7-5F7C-B116-C7F3-3805480931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50E3CC5-66B2-DD18-A931-76158422DFAC}"/>
              </a:ext>
            </a:extLst>
          </p:cNvPr>
          <p:cNvSpPr>
            <a:spLocks noGrp="1"/>
          </p:cNvSpPr>
          <p:nvPr>
            <p:ph type="dt" sz="half" idx="10"/>
          </p:nvPr>
        </p:nvSpPr>
        <p:spPr/>
        <p:txBody>
          <a:bodyPr/>
          <a:lstStyle/>
          <a:p>
            <a:fld id="{2A12B222-F599-4611-B325-84E27E39CF38}" type="datetimeFigureOut">
              <a:rPr lang="en-GB" smtClean="0"/>
              <a:t>03/07/2026</a:t>
            </a:fld>
            <a:endParaRPr lang="en-GB"/>
          </a:p>
        </p:txBody>
      </p:sp>
      <p:sp>
        <p:nvSpPr>
          <p:cNvPr id="5" name="Footer Placeholder 4">
            <a:extLst>
              <a:ext uri="{FF2B5EF4-FFF2-40B4-BE49-F238E27FC236}">
                <a16:creationId xmlns:a16="http://schemas.microsoft.com/office/drawing/2014/main" id="{665B6481-603A-F7CA-3D2B-2800EB195DB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4A040F-56E1-80AF-91E3-CB21C6DBD8AE}"/>
              </a:ext>
            </a:extLst>
          </p:cNvPr>
          <p:cNvSpPr>
            <a:spLocks noGrp="1"/>
          </p:cNvSpPr>
          <p:nvPr>
            <p:ph type="sldNum" sz="quarter" idx="12"/>
          </p:nvPr>
        </p:nvSpPr>
        <p:spPr/>
        <p:txBody>
          <a:bodyPr/>
          <a:lstStyle/>
          <a:p>
            <a:fld id="{A468A234-205D-4D70-B2CD-8AB1D70CD919}" type="slidenum">
              <a:rPr lang="en-GB" smtClean="0"/>
              <a:t>‹#›</a:t>
            </a:fld>
            <a:endParaRPr lang="en-GB"/>
          </a:p>
        </p:txBody>
      </p:sp>
    </p:spTree>
    <p:extLst>
      <p:ext uri="{BB962C8B-B14F-4D97-AF65-F5344CB8AC3E}">
        <p14:creationId xmlns:p14="http://schemas.microsoft.com/office/powerpoint/2010/main" val="3265696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1C365-BB23-4BF5-3016-A83C9E0CA1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C891432-74B1-84EC-DC71-2B14132939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A256C0-0165-1BF3-91E4-1C6DF84516A2}"/>
              </a:ext>
            </a:extLst>
          </p:cNvPr>
          <p:cNvSpPr>
            <a:spLocks noGrp="1"/>
          </p:cNvSpPr>
          <p:nvPr>
            <p:ph type="dt" sz="half" idx="10"/>
          </p:nvPr>
        </p:nvSpPr>
        <p:spPr/>
        <p:txBody>
          <a:bodyPr/>
          <a:lstStyle/>
          <a:p>
            <a:fld id="{2A12B222-F599-4611-B325-84E27E39CF38}" type="datetimeFigureOut">
              <a:rPr lang="en-GB" smtClean="0"/>
              <a:t>03/07/2026</a:t>
            </a:fld>
            <a:endParaRPr lang="en-GB"/>
          </a:p>
        </p:txBody>
      </p:sp>
      <p:sp>
        <p:nvSpPr>
          <p:cNvPr id="5" name="Footer Placeholder 4">
            <a:extLst>
              <a:ext uri="{FF2B5EF4-FFF2-40B4-BE49-F238E27FC236}">
                <a16:creationId xmlns:a16="http://schemas.microsoft.com/office/drawing/2014/main" id="{495C1737-C63E-AD72-DD00-17D9757C6E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9C9D55B-76EA-D776-D62A-B57B36306249}"/>
              </a:ext>
            </a:extLst>
          </p:cNvPr>
          <p:cNvSpPr>
            <a:spLocks noGrp="1"/>
          </p:cNvSpPr>
          <p:nvPr>
            <p:ph type="sldNum" sz="quarter" idx="12"/>
          </p:nvPr>
        </p:nvSpPr>
        <p:spPr/>
        <p:txBody>
          <a:bodyPr/>
          <a:lstStyle/>
          <a:p>
            <a:fld id="{A468A234-205D-4D70-B2CD-8AB1D70CD919}" type="slidenum">
              <a:rPr lang="en-GB" smtClean="0"/>
              <a:t>‹#›</a:t>
            </a:fld>
            <a:endParaRPr lang="en-GB"/>
          </a:p>
        </p:txBody>
      </p:sp>
    </p:spTree>
    <p:extLst>
      <p:ext uri="{BB962C8B-B14F-4D97-AF65-F5344CB8AC3E}">
        <p14:creationId xmlns:p14="http://schemas.microsoft.com/office/powerpoint/2010/main" val="3002307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18569-5BCD-BEB6-BC55-525C455AE79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ACFEA68-2B64-9712-BC8E-94EA97220B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3D56FD5-68F2-D67B-7F12-AE78454542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A4A8EF4-3042-B820-AB3C-6EECF02E8FDE}"/>
              </a:ext>
            </a:extLst>
          </p:cNvPr>
          <p:cNvSpPr>
            <a:spLocks noGrp="1"/>
          </p:cNvSpPr>
          <p:nvPr>
            <p:ph type="dt" sz="half" idx="10"/>
          </p:nvPr>
        </p:nvSpPr>
        <p:spPr/>
        <p:txBody>
          <a:bodyPr/>
          <a:lstStyle/>
          <a:p>
            <a:fld id="{2A12B222-F599-4611-B325-84E27E39CF38}" type="datetimeFigureOut">
              <a:rPr lang="en-GB" smtClean="0"/>
              <a:t>03/07/2026</a:t>
            </a:fld>
            <a:endParaRPr lang="en-GB"/>
          </a:p>
        </p:txBody>
      </p:sp>
      <p:sp>
        <p:nvSpPr>
          <p:cNvPr id="6" name="Footer Placeholder 5">
            <a:extLst>
              <a:ext uri="{FF2B5EF4-FFF2-40B4-BE49-F238E27FC236}">
                <a16:creationId xmlns:a16="http://schemas.microsoft.com/office/drawing/2014/main" id="{6A953B6D-B511-3117-93BE-F9123D62E60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59E5E9E-A3AC-CC39-992A-B2D9A9346B89}"/>
              </a:ext>
            </a:extLst>
          </p:cNvPr>
          <p:cNvSpPr>
            <a:spLocks noGrp="1"/>
          </p:cNvSpPr>
          <p:nvPr>
            <p:ph type="sldNum" sz="quarter" idx="12"/>
          </p:nvPr>
        </p:nvSpPr>
        <p:spPr/>
        <p:txBody>
          <a:bodyPr/>
          <a:lstStyle/>
          <a:p>
            <a:fld id="{A468A234-205D-4D70-B2CD-8AB1D70CD919}" type="slidenum">
              <a:rPr lang="en-GB" smtClean="0"/>
              <a:t>‹#›</a:t>
            </a:fld>
            <a:endParaRPr lang="en-GB"/>
          </a:p>
        </p:txBody>
      </p:sp>
    </p:spTree>
    <p:extLst>
      <p:ext uri="{BB962C8B-B14F-4D97-AF65-F5344CB8AC3E}">
        <p14:creationId xmlns:p14="http://schemas.microsoft.com/office/powerpoint/2010/main" val="2563717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41AB7-AC2F-5707-EA1F-3ADF8864280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AE652BE-7BA4-783E-7295-15EA6CD8B8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894489-E88E-705E-7BA2-46D1BD10A0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E27B073-6D0B-EB06-213A-2CAB69EC65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7DB756-8903-96E0-0ED0-299D16B386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867D52A-097B-9826-E322-261E04A4B5E0}"/>
              </a:ext>
            </a:extLst>
          </p:cNvPr>
          <p:cNvSpPr>
            <a:spLocks noGrp="1"/>
          </p:cNvSpPr>
          <p:nvPr>
            <p:ph type="dt" sz="half" idx="10"/>
          </p:nvPr>
        </p:nvSpPr>
        <p:spPr/>
        <p:txBody>
          <a:bodyPr/>
          <a:lstStyle/>
          <a:p>
            <a:fld id="{2A12B222-F599-4611-B325-84E27E39CF38}" type="datetimeFigureOut">
              <a:rPr lang="en-GB" smtClean="0"/>
              <a:t>03/07/2026</a:t>
            </a:fld>
            <a:endParaRPr lang="en-GB"/>
          </a:p>
        </p:txBody>
      </p:sp>
      <p:sp>
        <p:nvSpPr>
          <p:cNvPr id="8" name="Footer Placeholder 7">
            <a:extLst>
              <a:ext uri="{FF2B5EF4-FFF2-40B4-BE49-F238E27FC236}">
                <a16:creationId xmlns:a16="http://schemas.microsoft.com/office/drawing/2014/main" id="{E9CA9732-04A3-7E87-B07E-47785DAAB38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D577326-1ABD-B1AB-B990-A844192A5BA2}"/>
              </a:ext>
            </a:extLst>
          </p:cNvPr>
          <p:cNvSpPr>
            <a:spLocks noGrp="1"/>
          </p:cNvSpPr>
          <p:nvPr>
            <p:ph type="sldNum" sz="quarter" idx="12"/>
          </p:nvPr>
        </p:nvSpPr>
        <p:spPr/>
        <p:txBody>
          <a:bodyPr/>
          <a:lstStyle/>
          <a:p>
            <a:fld id="{A468A234-205D-4D70-B2CD-8AB1D70CD919}" type="slidenum">
              <a:rPr lang="en-GB" smtClean="0"/>
              <a:t>‹#›</a:t>
            </a:fld>
            <a:endParaRPr lang="en-GB"/>
          </a:p>
        </p:txBody>
      </p:sp>
    </p:spTree>
    <p:extLst>
      <p:ext uri="{BB962C8B-B14F-4D97-AF65-F5344CB8AC3E}">
        <p14:creationId xmlns:p14="http://schemas.microsoft.com/office/powerpoint/2010/main" val="2372740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A3264-40A4-583A-664B-8E4CA28E8E6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597D27D-34E1-D590-1542-EECB04F2E349}"/>
              </a:ext>
            </a:extLst>
          </p:cNvPr>
          <p:cNvSpPr>
            <a:spLocks noGrp="1"/>
          </p:cNvSpPr>
          <p:nvPr>
            <p:ph type="dt" sz="half" idx="10"/>
          </p:nvPr>
        </p:nvSpPr>
        <p:spPr/>
        <p:txBody>
          <a:bodyPr/>
          <a:lstStyle/>
          <a:p>
            <a:fld id="{2A12B222-F599-4611-B325-84E27E39CF38}" type="datetimeFigureOut">
              <a:rPr lang="en-GB" smtClean="0"/>
              <a:t>03/07/2026</a:t>
            </a:fld>
            <a:endParaRPr lang="en-GB"/>
          </a:p>
        </p:txBody>
      </p:sp>
      <p:sp>
        <p:nvSpPr>
          <p:cNvPr id="4" name="Footer Placeholder 3">
            <a:extLst>
              <a:ext uri="{FF2B5EF4-FFF2-40B4-BE49-F238E27FC236}">
                <a16:creationId xmlns:a16="http://schemas.microsoft.com/office/drawing/2014/main" id="{992F5CD3-8624-FB93-90F4-BDE2150D674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5D205E7-04C6-3D97-0760-FBDBBA5ADD79}"/>
              </a:ext>
            </a:extLst>
          </p:cNvPr>
          <p:cNvSpPr>
            <a:spLocks noGrp="1"/>
          </p:cNvSpPr>
          <p:nvPr>
            <p:ph type="sldNum" sz="quarter" idx="12"/>
          </p:nvPr>
        </p:nvSpPr>
        <p:spPr/>
        <p:txBody>
          <a:bodyPr/>
          <a:lstStyle/>
          <a:p>
            <a:fld id="{A468A234-205D-4D70-B2CD-8AB1D70CD919}" type="slidenum">
              <a:rPr lang="en-GB" smtClean="0"/>
              <a:t>‹#›</a:t>
            </a:fld>
            <a:endParaRPr lang="en-GB"/>
          </a:p>
        </p:txBody>
      </p:sp>
    </p:spTree>
    <p:extLst>
      <p:ext uri="{BB962C8B-B14F-4D97-AF65-F5344CB8AC3E}">
        <p14:creationId xmlns:p14="http://schemas.microsoft.com/office/powerpoint/2010/main" val="3614592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5CF21D-DA41-9556-F533-B07C5DA9D280}"/>
              </a:ext>
            </a:extLst>
          </p:cNvPr>
          <p:cNvSpPr>
            <a:spLocks noGrp="1"/>
          </p:cNvSpPr>
          <p:nvPr>
            <p:ph type="dt" sz="half" idx="10"/>
          </p:nvPr>
        </p:nvSpPr>
        <p:spPr/>
        <p:txBody>
          <a:bodyPr/>
          <a:lstStyle/>
          <a:p>
            <a:fld id="{2A12B222-F599-4611-B325-84E27E39CF38}" type="datetimeFigureOut">
              <a:rPr lang="en-GB" smtClean="0"/>
              <a:t>03/07/2026</a:t>
            </a:fld>
            <a:endParaRPr lang="en-GB"/>
          </a:p>
        </p:txBody>
      </p:sp>
      <p:sp>
        <p:nvSpPr>
          <p:cNvPr id="3" name="Footer Placeholder 2">
            <a:extLst>
              <a:ext uri="{FF2B5EF4-FFF2-40B4-BE49-F238E27FC236}">
                <a16:creationId xmlns:a16="http://schemas.microsoft.com/office/drawing/2014/main" id="{9B0A5A20-4F91-75BD-B819-EF443F2F7B3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81D81DB-9961-3FCC-0C82-49E9D19975DF}"/>
              </a:ext>
            </a:extLst>
          </p:cNvPr>
          <p:cNvSpPr>
            <a:spLocks noGrp="1"/>
          </p:cNvSpPr>
          <p:nvPr>
            <p:ph type="sldNum" sz="quarter" idx="12"/>
          </p:nvPr>
        </p:nvSpPr>
        <p:spPr/>
        <p:txBody>
          <a:bodyPr/>
          <a:lstStyle/>
          <a:p>
            <a:fld id="{A468A234-205D-4D70-B2CD-8AB1D70CD919}" type="slidenum">
              <a:rPr lang="en-GB" smtClean="0"/>
              <a:t>‹#›</a:t>
            </a:fld>
            <a:endParaRPr lang="en-GB"/>
          </a:p>
        </p:txBody>
      </p:sp>
    </p:spTree>
    <p:extLst>
      <p:ext uri="{BB962C8B-B14F-4D97-AF65-F5344CB8AC3E}">
        <p14:creationId xmlns:p14="http://schemas.microsoft.com/office/powerpoint/2010/main" val="1453905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A5528-9E7C-644A-99BC-33E2D512F7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237746B-D8BA-6110-DF15-66FD6035E0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9E5ACE6-C6EC-D6DA-1042-D10DA4EB2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D91898-F24A-04C5-B621-2D47AE5B4D89}"/>
              </a:ext>
            </a:extLst>
          </p:cNvPr>
          <p:cNvSpPr>
            <a:spLocks noGrp="1"/>
          </p:cNvSpPr>
          <p:nvPr>
            <p:ph type="dt" sz="half" idx="10"/>
          </p:nvPr>
        </p:nvSpPr>
        <p:spPr/>
        <p:txBody>
          <a:bodyPr/>
          <a:lstStyle/>
          <a:p>
            <a:fld id="{2A12B222-F599-4611-B325-84E27E39CF38}" type="datetimeFigureOut">
              <a:rPr lang="en-GB" smtClean="0"/>
              <a:t>03/07/2026</a:t>
            </a:fld>
            <a:endParaRPr lang="en-GB"/>
          </a:p>
        </p:txBody>
      </p:sp>
      <p:sp>
        <p:nvSpPr>
          <p:cNvPr id="6" name="Footer Placeholder 5">
            <a:extLst>
              <a:ext uri="{FF2B5EF4-FFF2-40B4-BE49-F238E27FC236}">
                <a16:creationId xmlns:a16="http://schemas.microsoft.com/office/drawing/2014/main" id="{9FA46B18-C077-2E9A-4275-5CB8C585EBC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19AB991-4D3A-F005-3925-4B183431FCC2}"/>
              </a:ext>
            </a:extLst>
          </p:cNvPr>
          <p:cNvSpPr>
            <a:spLocks noGrp="1"/>
          </p:cNvSpPr>
          <p:nvPr>
            <p:ph type="sldNum" sz="quarter" idx="12"/>
          </p:nvPr>
        </p:nvSpPr>
        <p:spPr/>
        <p:txBody>
          <a:bodyPr/>
          <a:lstStyle/>
          <a:p>
            <a:fld id="{A468A234-205D-4D70-B2CD-8AB1D70CD919}" type="slidenum">
              <a:rPr lang="en-GB" smtClean="0"/>
              <a:t>‹#›</a:t>
            </a:fld>
            <a:endParaRPr lang="en-GB"/>
          </a:p>
        </p:txBody>
      </p:sp>
    </p:spTree>
    <p:extLst>
      <p:ext uri="{BB962C8B-B14F-4D97-AF65-F5344CB8AC3E}">
        <p14:creationId xmlns:p14="http://schemas.microsoft.com/office/powerpoint/2010/main" val="548939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A7791-B715-5968-22C9-87D737E76D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6D3628A-6A0C-FE9C-8381-85B6395544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94A13BB-2119-E463-9343-C419FEC5C8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EB429B-81C0-D361-11BE-DC9F37DBB246}"/>
              </a:ext>
            </a:extLst>
          </p:cNvPr>
          <p:cNvSpPr>
            <a:spLocks noGrp="1"/>
          </p:cNvSpPr>
          <p:nvPr>
            <p:ph type="dt" sz="half" idx="10"/>
          </p:nvPr>
        </p:nvSpPr>
        <p:spPr/>
        <p:txBody>
          <a:bodyPr/>
          <a:lstStyle/>
          <a:p>
            <a:fld id="{2A12B222-F599-4611-B325-84E27E39CF38}" type="datetimeFigureOut">
              <a:rPr lang="en-GB" smtClean="0"/>
              <a:t>03/07/2026</a:t>
            </a:fld>
            <a:endParaRPr lang="en-GB"/>
          </a:p>
        </p:txBody>
      </p:sp>
      <p:sp>
        <p:nvSpPr>
          <p:cNvPr id="6" name="Footer Placeholder 5">
            <a:extLst>
              <a:ext uri="{FF2B5EF4-FFF2-40B4-BE49-F238E27FC236}">
                <a16:creationId xmlns:a16="http://schemas.microsoft.com/office/drawing/2014/main" id="{11BCD198-0A60-4070-ECDC-BBDBC4E1BEC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34AB1F2-26D2-CA68-0130-2724FD161915}"/>
              </a:ext>
            </a:extLst>
          </p:cNvPr>
          <p:cNvSpPr>
            <a:spLocks noGrp="1"/>
          </p:cNvSpPr>
          <p:nvPr>
            <p:ph type="sldNum" sz="quarter" idx="12"/>
          </p:nvPr>
        </p:nvSpPr>
        <p:spPr/>
        <p:txBody>
          <a:bodyPr/>
          <a:lstStyle/>
          <a:p>
            <a:fld id="{A468A234-205D-4D70-B2CD-8AB1D70CD919}" type="slidenum">
              <a:rPr lang="en-GB" smtClean="0"/>
              <a:t>‹#›</a:t>
            </a:fld>
            <a:endParaRPr lang="en-GB"/>
          </a:p>
        </p:txBody>
      </p:sp>
    </p:spTree>
    <p:extLst>
      <p:ext uri="{BB962C8B-B14F-4D97-AF65-F5344CB8AC3E}">
        <p14:creationId xmlns:p14="http://schemas.microsoft.com/office/powerpoint/2010/main" val="1300235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9655A-CBA9-AA6C-28DD-93177B40462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27F7C9B-7D6A-4D58-ECB0-215EB119DF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9C70757-0907-2F18-99E9-F41A17A36249}"/>
              </a:ext>
            </a:extLst>
          </p:cNvPr>
          <p:cNvSpPr>
            <a:spLocks noGrp="1"/>
          </p:cNvSpPr>
          <p:nvPr>
            <p:ph type="dt" sz="half" idx="10"/>
          </p:nvPr>
        </p:nvSpPr>
        <p:spPr/>
        <p:txBody>
          <a:bodyPr/>
          <a:lstStyle/>
          <a:p>
            <a:fld id="{2A12B222-F599-4611-B325-84E27E39CF38}" type="datetimeFigureOut">
              <a:rPr lang="en-GB" smtClean="0"/>
              <a:t>03/07/2026</a:t>
            </a:fld>
            <a:endParaRPr lang="en-GB"/>
          </a:p>
        </p:txBody>
      </p:sp>
      <p:sp>
        <p:nvSpPr>
          <p:cNvPr id="5" name="Footer Placeholder 4">
            <a:extLst>
              <a:ext uri="{FF2B5EF4-FFF2-40B4-BE49-F238E27FC236}">
                <a16:creationId xmlns:a16="http://schemas.microsoft.com/office/drawing/2014/main" id="{553A5BC5-A0B6-A87B-AF77-0C616BF9F18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A8EF539-EF74-2D1F-EAF3-FD9F206B1C65}"/>
              </a:ext>
            </a:extLst>
          </p:cNvPr>
          <p:cNvSpPr>
            <a:spLocks noGrp="1"/>
          </p:cNvSpPr>
          <p:nvPr>
            <p:ph type="sldNum" sz="quarter" idx="12"/>
          </p:nvPr>
        </p:nvSpPr>
        <p:spPr/>
        <p:txBody>
          <a:bodyPr/>
          <a:lstStyle/>
          <a:p>
            <a:fld id="{A468A234-205D-4D70-B2CD-8AB1D70CD919}" type="slidenum">
              <a:rPr lang="en-GB" smtClean="0"/>
              <a:t>‹#›</a:t>
            </a:fld>
            <a:endParaRPr lang="en-GB"/>
          </a:p>
        </p:txBody>
      </p:sp>
    </p:spTree>
    <p:extLst>
      <p:ext uri="{BB962C8B-B14F-4D97-AF65-F5344CB8AC3E}">
        <p14:creationId xmlns:p14="http://schemas.microsoft.com/office/powerpoint/2010/main" val="2803768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AC1B42-FC2C-2C9C-DB2E-B9CE99FED7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FFC2A57-7E9C-C2AB-E9E5-CC49EB4353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42A491B-B48C-6ACC-3CBE-F8243E16F97E}"/>
              </a:ext>
            </a:extLst>
          </p:cNvPr>
          <p:cNvSpPr>
            <a:spLocks noGrp="1"/>
          </p:cNvSpPr>
          <p:nvPr>
            <p:ph type="dt" sz="half" idx="10"/>
          </p:nvPr>
        </p:nvSpPr>
        <p:spPr/>
        <p:txBody>
          <a:bodyPr/>
          <a:lstStyle/>
          <a:p>
            <a:fld id="{2A12B222-F599-4611-B325-84E27E39CF38}" type="datetimeFigureOut">
              <a:rPr lang="en-GB" smtClean="0"/>
              <a:t>03/07/2026</a:t>
            </a:fld>
            <a:endParaRPr lang="en-GB"/>
          </a:p>
        </p:txBody>
      </p:sp>
      <p:sp>
        <p:nvSpPr>
          <p:cNvPr id="5" name="Footer Placeholder 4">
            <a:extLst>
              <a:ext uri="{FF2B5EF4-FFF2-40B4-BE49-F238E27FC236}">
                <a16:creationId xmlns:a16="http://schemas.microsoft.com/office/drawing/2014/main" id="{3BCD4ED4-0143-B33F-63B8-5BF35876097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56870C2-8074-FD4A-CEF3-599DD267B7ED}"/>
              </a:ext>
            </a:extLst>
          </p:cNvPr>
          <p:cNvSpPr>
            <a:spLocks noGrp="1"/>
          </p:cNvSpPr>
          <p:nvPr>
            <p:ph type="sldNum" sz="quarter" idx="12"/>
          </p:nvPr>
        </p:nvSpPr>
        <p:spPr/>
        <p:txBody>
          <a:bodyPr/>
          <a:lstStyle/>
          <a:p>
            <a:fld id="{A468A234-205D-4D70-B2CD-8AB1D70CD919}" type="slidenum">
              <a:rPr lang="en-GB" smtClean="0"/>
              <a:t>‹#›</a:t>
            </a:fld>
            <a:endParaRPr lang="en-GB"/>
          </a:p>
        </p:txBody>
      </p:sp>
    </p:spTree>
    <p:extLst>
      <p:ext uri="{BB962C8B-B14F-4D97-AF65-F5344CB8AC3E}">
        <p14:creationId xmlns:p14="http://schemas.microsoft.com/office/powerpoint/2010/main" val="4121250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C4AEA4-6E8A-DA44-2B28-6EC6B8F615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2908832-8CFA-0707-CB91-85A05F6217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37A9848-A818-8813-6BB7-6859A56364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12B222-F599-4611-B325-84E27E39CF38}" type="datetimeFigureOut">
              <a:rPr lang="en-GB" smtClean="0"/>
              <a:t>03/07/2026</a:t>
            </a:fld>
            <a:endParaRPr lang="en-GB"/>
          </a:p>
        </p:txBody>
      </p:sp>
      <p:sp>
        <p:nvSpPr>
          <p:cNvPr id="5" name="Footer Placeholder 4">
            <a:extLst>
              <a:ext uri="{FF2B5EF4-FFF2-40B4-BE49-F238E27FC236}">
                <a16:creationId xmlns:a16="http://schemas.microsoft.com/office/drawing/2014/main" id="{715645B1-EA05-9B5E-6059-F8FD028D6D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C8380DC9-1D7B-7B21-F196-C4509BE45C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468A234-205D-4D70-B2CD-8AB1D70CD919}" type="slidenum">
              <a:rPr lang="en-GB" smtClean="0"/>
              <a:t>‹#›</a:t>
            </a:fld>
            <a:endParaRPr lang="en-GB"/>
          </a:p>
        </p:txBody>
      </p:sp>
    </p:spTree>
    <p:extLst>
      <p:ext uri="{BB962C8B-B14F-4D97-AF65-F5344CB8AC3E}">
        <p14:creationId xmlns:p14="http://schemas.microsoft.com/office/powerpoint/2010/main" val="28056146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public.tableau.com/app/profile/andreas.wong/viz/Tableauproject2-AndreasWong/Dashboard1Task10"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2FDF0-4B26-950C-AD4E-8C6A32561EA4}"/>
              </a:ext>
            </a:extLst>
          </p:cNvPr>
          <p:cNvSpPr>
            <a:spLocks noGrp="1"/>
          </p:cNvSpPr>
          <p:nvPr>
            <p:ph type="ctrTitle"/>
          </p:nvPr>
        </p:nvSpPr>
        <p:spPr/>
        <p:txBody>
          <a:bodyPr/>
          <a:lstStyle/>
          <a:p>
            <a:r>
              <a:rPr lang="en-GB" dirty="0"/>
              <a:t>Tableau Project 2</a:t>
            </a:r>
          </a:p>
        </p:txBody>
      </p:sp>
      <p:sp>
        <p:nvSpPr>
          <p:cNvPr id="3" name="Subtitle 2">
            <a:extLst>
              <a:ext uri="{FF2B5EF4-FFF2-40B4-BE49-F238E27FC236}">
                <a16:creationId xmlns:a16="http://schemas.microsoft.com/office/drawing/2014/main" id="{3B119666-FCCE-6907-D887-660A703FFBBD}"/>
              </a:ext>
            </a:extLst>
          </p:cNvPr>
          <p:cNvSpPr>
            <a:spLocks noGrp="1"/>
          </p:cNvSpPr>
          <p:nvPr>
            <p:ph type="subTitle" idx="1"/>
          </p:nvPr>
        </p:nvSpPr>
        <p:spPr/>
        <p:txBody>
          <a:bodyPr/>
          <a:lstStyle/>
          <a:p>
            <a:r>
              <a:rPr lang="en-GB" dirty="0"/>
              <a:t>Andreas Wong</a:t>
            </a:r>
          </a:p>
          <a:p>
            <a:r>
              <a:rPr lang="en-GB" dirty="0"/>
              <a:t>Tutor- Idir</a:t>
            </a:r>
          </a:p>
        </p:txBody>
      </p:sp>
    </p:spTree>
    <p:extLst>
      <p:ext uri="{BB962C8B-B14F-4D97-AF65-F5344CB8AC3E}">
        <p14:creationId xmlns:p14="http://schemas.microsoft.com/office/powerpoint/2010/main" val="3214519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14B51-D335-9616-4198-3547CA1DFD4D}"/>
              </a:ext>
            </a:extLst>
          </p:cNvPr>
          <p:cNvSpPr>
            <a:spLocks noGrp="1"/>
          </p:cNvSpPr>
          <p:nvPr>
            <p:ph type="title"/>
          </p:nvPr>
        </p:nvSpPr>
        <p:spPr/>
        <p:txBody>
          <a:bodyPr/>
          <a:lstStyle/>
          <a:p>
            <a:r>
              <a:rPr lang="en-GB" dirty="0"/>
              <a:t>Link to workbook</a:t>
            </a:r>
          </a:p>
        </p:txBody>
      </p:sp>
      <p:sp>
        <p:nvSpPr>
          <p:cNvPr id="3" name="Content Placeholder 2">
            <a:extLst>
              <a:ext uri="{FF2B5EF4-FFF2-40B4-BE49-F238E27FC236}">
                <a16:creationId xmlns:a16="http://schemas.microsoft.com/office/drawing/2014/main" id="{B756A43C-0389-B604-6985-ACC321EC416E}"/>
              </a:ext>
            </a:extLst>
          </p:cNvPr>
          <p:cNvSpPr>
            <a:spLocks noGrp="1"/>
          </p:cNvSpPr>
          <p:nvPr>
            <p:ph idx="1"/>
          </p:nvPr>
        </p:nvSpPr>
        <p:spPr/>
        <p:txBody>
          <a:bodyPr/>
          <a:lstStyle/>
          <a:p>
            <a:pPr marL="0" indent="0">
              <a:buNone/>
            </a:pPr>
            <a:r>
              <a:rPr lang="en-GB" sz="2400" dirty="0"/>
              <a:t>Here is the link to the workbook if the link in the repo doesn’t work:</a:t>
            </a:r>
          </a:p>
          <a:p>
            <a:pPr marL="0" indent="0">
              <a:buNone/>
            </a:pPr>
            <a:r>
              <a:rPr lang="en-GB" sz="2400" dirty="0">
                <a:hlinkClick r:id="rId2"/>
              </a:rPr>
              <a:t>https://public.tableau.com/app/profile/andreas.wong/viz/Tableauproject2-AndreasWong/Dashboard1Task10</a:t>
            </a:r>
            <a:endParaRPr lang="en-GB" sz="2400" dirty="0"/>
          </a:p>
          <a:p>
            <a:pPr marL="0" indent="0">
              <a:buNone/>
            </a:pPr>
            <a:endParaRPr lang="en-GB" sz="2400" dirty="0"/>
          </a:p>
          <a:p>
            <a:pPr marL="0" indent="0">
              <a:buNone/>
            </a:pPr>
            <a:endParaRPr lang="en-GB" dirty="0"/>
          </a:p>
          <a:p>
            <a:endParaRPr lang="en-GB" dirty="0"/>
          </a:p>
        </p:txBody>
      </p:sp>
    </p:spTree>
    <p:extLst>
      <p:ext uri="{BB962C8B-B14F-4D97-AF65-F5344CB8AC3E}">
        <p14:creationId xmlns:p14="http://schemas.microsoft.com/office/powerpoint/2010/main" val="1008283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37F3C-029A-577B-1532-B43F2E3EDC1C}"/>
              </a:ext>
            </a:extLst>
          </p:cNvPr>
          <p:cNvSpPr>
            <a:spLocks noGrp="1"/>
          </p:cNvSpPr>
          <p:nvPr>
            <p:ph type="title"/>
          </p:nvPr>
        </p:nvSpPr>
        <p:spPr/>
        <p:txBody>
          <a:bodyPr/>
          <a:lstStyle/>
          <a:p>
            <a:r>
              <a:rPr lang="en-GB" dirty="0"/>
              <a:t>Task 1</a:t>
            </a:r>
          </a:p>
        </p:txBody>
      </p:sp>
      <p:pic>
        <p:nvPicPr>
          <p:cNvPr id="5" name="Content Placeholder 4">
            <a:extLst>
              <a:ext uri="{FF2B5EF4-FFF2-40B4-BE49-F238E27FC236}">
                <a16:creationId xmlns:a16="http://schemas.microsoft.com/office/drawing/2014/main" id="{F97A36AF-88E1-8BC6-C5D4-7C176FE34D8E}"/>
              </a:ext>
            </a:extLst>
          </p:cNvPr>
          <p:cNvPicPr>
            <a:picLocks noGrp="1" noChangeAspect="1"/>
          </p:cNvPicPr>
          <p:nvPr>
            <p:ph idx="1"/>
          </p:nvPr>
        </p:nvPicPr>
        <p:blipFill>
          <a:blip r:embed="rId2"/>
          <a:stretch>
            <a:fillRect/>
          </a:stretch>
        </p:blipFill>
        <p:spPr>
          <a:xfrm>
            <a:off x="838200" y="1575253"/>
            <a:ext cx="9916886" cy="4653793"/>
          </a:xfrm>
          <a:prstGeom prst="rect">
            <a:avLst/>
          </a:prstGeom>
        </p:spPr>
      </p:pic>
    </p:spTree>
    <p:extLst>
      <p:ext uri="{BB962C8B-B14F-4D97-AF65-F5344CB8AC3E}">
        <p14:creationId xmlns:p14="http://schemas.microsoft.com/office/powerpoint/2010/main" val="578566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7BAA8-DDE5-997A-0DCC-4B8B41877874}"/>
              </a:ext>
            </a:extLst>
          </p:cNvPr>
          <p:cNvSpPr>
            <a:spLocks noGrp="1"/>
          </p:cNvSpPr>
          <p:nvPr>
            <p:ph type="title"/>
          </p:nvPr>
        </p:nvSpPr>
        <p:spPr/>
        <p:txBody>
          <a:bodyPr/>
          <a:lstStyle/>
          <a:p>
            <a:r>
              <a:rPr lang="en-GB" dirty="0"/>
              <a:t>Task 2</a:t>
            </a:r>
          </a:p>
        </p:txBody>
      </p:sp>
      <p:sp>
        <p:nvSpPr>
          <p:cNvPr id="3" name="Content Placeholder 2">
            <a:extLst>
              <a:ext uri="{FF2B5EF4-FFF2-40B4-BE49-F238E27FC236}">
                <a16:creationId xmlns:a16="http://schemas.microsoft.com/office/drawing/2014/main" id="{6CD679AD-61F6-AF24-FCBB-439826AD06F9}"/>
              </a:ext>
            </a:extLst>
          </p:cNvPr>
          <p:cNvSpPr>
            <a:spLocks noGrp="1"/>
          </p:cNvSpPr>
          <p:nvPr>
            <p:ph idx="1"/>
          </p:nvPr>
        </p:nvSpPr>
        <p:spPr/>
        <p:txBody>
          <a:bodyPr/>
          <a:lstStyle/>
          <a:p>
            <a:r>
              <a:rPr lang="en-GB" dirty="0"/>
              <a:t>The findings from Task 2 show that History generates the most sales out of all the genres, with Sci-Fi coming a close second.</a:t>
            </a:r>
          </a:p>
          <a:p>
            <a:r>
              <a:rPr lang="en-GB" dirty="0"/>
              <a:t>We could take two approaches, either focus marketing and purchasing on these two genres, or try and explore reasons as to why History and Sci-fi books generate the most sales and use this to try and boost sales of other genres.</a:t>
            </a:r>
          </a:p>
          <a:p>
            <a:r>
              <a:rPr lang="en-GB" dirty="0"/>
              <a:t>The first option is probably simpler and better for short term, but long term the second option might be worth considering.</a:t>
            </a:r>
          </a:p>
        </p:txBody>
      </p:sp>
    </p:spTree>
    <p:extLst>
      <p:ext uri="{BB962C8B-B14F-4D97-AF65-F5344CB8AC3E}">
        <p14:creationId xmlns:p14="http://schemas.microsoft.com/office/powerpoint/2010/main" val="1391935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64B08-2278-D954-00F5-6DA37F3E239F}"/>
              </a:ext>
            </a:extLst>
          </p:cNvPr>
          <p:cNvSpPr>
            <a:spLocks noGrp="1"/>
          </p:cNvSpPr>
          <p:nvPr>
            <p:ph type="title"/>
          </p:nvPr>
        </p:nvSpPr>
        <p:spPr/>
        <p:txBody>
          <a:bodyPr/>
          <a:lstStyle/>
          <a:p>
            <a:r>
              <a:rPr lang="en-GB" dirty="0"/>
              <a:t>Task 3</a:t>
            </a:r>
          </a:p>
        </p:txBody>
      </p:sp>
      <p:sp>
        <p:nvSpPr>
          <p:cNvPr id="3" name="Content Placeholder 2">
            <a:extLst>
              <a:ext uri="{FF2B5EF4-FFF2-40B4-BE49-F238E27FC236}">
                <a16:creationId xmlns:a16="http://schemas.microsoft.com/office/drawing/2014/main" id="{C3730081-0480-C192-25A3-8EA0C256CD2E}"/>
              </a:ext>
            </a:extLst>
          </p:cNvPr>
          <p:cNvSpPr>
            <a:spLocks noGrp="1"/>
          </p:cNvSpPr>
          <p:nvPr>
            <p:ph idx="1"/>
          </p:nvPr>
        </p:nvSpPr>
        <p:spPr/>
        <p:txBody>
          <a:bodyPr/>
          <a:lstStyle/>
          <a:p>
            <a:r>
              <a:rPr lang="en-GB" dirty="0"/>
              <a:t>We can see that the West region clearly has the highest sales.</a:t>
            </a:r>
          </a:p>
          <a:p>
            <a:r>
              <a:rPr lang="en-GB" dirty="0"/>
              <a:t>However, we must consider that maybe the West region has more stores, so this information would be needed in order to make a prescriptive judgement.</a:t>
            </a:r>
          </a:p>
          <a:p>
            <a:r>
              <a:rPr lang="en-GB" dirty="0"/>
              <a:t>If the West region doesn’t have more stores, we would try and look at other factors as to why the other regions don’t sell as well. (E.g. poor marketing/management?)</a:t>
            </a:r>
          </a:p>
          <a:p>
            <a:r>
              <a:rPr lang="en-GB" dirty="0"/>
              <a:t>If the West region does have more stores, building more stores in other regions should be considered.</a:t>
            </a:r>
          </a:p>
        </p:txBody>
      </p:sp>
    </p:spTree>
    <p:extLst>
      <p:ext uri="{BB962C8B-B14F-4D97-AF65-F5344CB8AC3E}">
        <p14:creationId xmlns:p14="http://schemas.microsoft.com/office/powerpoint/2010/main" val="680717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BEFE5-3E94-8E5B-44B6-F40D99F73AAD}"/>
              </a:ext>
            </a:extLst>
          </p:cNvPr>
          <p:cNvSpPr>
            <a:spLocks noGrp="1"/>
          </p:cNvSpPr>
          <p:nvPr>
            <p:ph type="title"/>
          </p:nvPr>
        </p:nvSpPr>
        <p:spPr/>
        <p:txBody>
          <a:bodyPr/>
          <a:lstStyle/>
          <a:p>
            <a:r>
              <a:rPr lang="en-GB" dirty="0"/>
              <a:t>Task 4</a:t>
            </a:r>
          </a:p>
        </p:txBody>
      </p:sp>
      <p:sp>
        <p:nvSpPr>
          <p:cNvPr id="3" name="Content Placeholder 2">
            <a:extLst>
              <a:ext uri="{FF2B5EF4-FFF2-40B4-BE49-F238E27FC236}">
                <a16:creationId xmlns:a16="http://schemas.microsoft.com/office/drawing/2014/main" id="{3B79B5C4-0108-7F5D-0AC0-3203F3B0A42C}"/>
              </a:ext>
            </a:extLst>
          </p:cNvPr>
          <p:cNvSpPr>
            <a:spLocks noGrp="1"/>
          </p:cNvSpPr>
          <p:nvPr>
            <p:ph idx="1"/>
          </p:nvPr>
        </p:nvSpPr>
        <p:spPr/>
        <p:txBody>
          <a:bodyPr/>
          <a:lstStyle/>
          <a:p>
            <a:r>
              <a:rPr lang="en-GB" dirty="0"/>
              <a:t>Looking at the graph, with the exception of a few outliers, for all regions and genres, I spotted a pattern of sales increasing in the first half of each month, then decreasing in the second half of the month.</a:t>
            </a:r>
          </a:p>
          <a:p>
            <a:r>
              <a:rPr lang="en-GB" dirty="0"/>
              <a:t>Maybe one reason is that if payday is at the end of each month, customers may have more disposable income at the beginning of the month, hence will spend more in the first half of the month.</a:t>
            </a:r>
          </a:p>
          <a:p>
            <a:r>
              <a:rPr lang="en-GB" dirty="0"/>
              <a:t>Measures should be taken to try and boost sales in the second half of the month, for example through more marketing or offering special deals/discounts.</a:t>
            </a:r>
          </a:p>
          <a:p>
            <a:endParaRPr lang="en-GB" dirty="0"/>
          </a:p>
        </p:txBody>
      </p:sp>
    </p:spTree>
    <p:extLst>
      <p:ext uri="{BB962C8B-B14F-4D97-AF65-F5344CB8AC3E}">
        <p14:creationId xmlns:p14="http://schemas.microsoft.com/office/powerpoint/2010/main" val="1885445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DE90-FA63-F874-96EA-FCE5DE4189C7}"/>
              </a:ext>
            </a:extLst>
          </p:cNvPr>
          <p:cNvSpPr>
            <a:spLocks noGrp="1"/>
          </p:cNvSpPr>
          <p:nvPr>
            <p:ph type="title"/>
          </p:nvPr>
        </p:nvSpPr>
        <p:spPr/>
        <p:txBody>
          <a:bodyPr/>
          <a:lstStyle/>
          <a:p>
            <a:r>
              <a:rPr lang="en-GB" dirty="0"/>
              <a:t>Task 5</a:t>
            </a:r>
          </a:p>
        </p:txBody>
      </p:sp>
      <p:sp>
        <p:nvSpPr>
          <p:cNvPr id="3" name="Content Placeholder 2">
            <a:extLst>
              <a:ext uri="{FF2B5EF4-FFF2-40B4-BE49-F238E27FC236}">
                <a16:creationId xmlns:a16="http://schemas.microsoft.com/office/drawing/2014/main" id="{A90E092D-86C7-89E2-1D8B-F6A8327E061F}"/>
              </a:ext>
            </a:extLst>
          </p:cNvPr>
          <p:cNvSpPr>
            <a:spLocks noGrp="1"/>
          </p:cNvSpPr>
          <p:nvPr>
            <p:ph idx="1"/>
          </p:nvPr>
        </p:nvSpPr>
        <p:spPr/>
        <p:txBody>
          <a:bodyPr/>
          <a:lstStyle/>
          <a:p>
            <a:r>
              <a:rPr lang="en-GB" dirty="0"/>
              <a:t>The top performing publisher is Publisher 13</a:t>
            </a:r>
          </a:p>
          <a:p>
            <a:r>
              <a:rPr lang="en-GB" dirty="0"/>
              <a:t>The bottom performing publisher is Publisher 58.</a:t>
            </a:r>
          </a:p>
          <a:p>
            <a:endParaRPr lang="en-GB" dirty="0"/>
          </a:p>
          <a:p>
            <a:r>
              <a:rPr lang="en-GB" dirty="0"/>
              <a:t>One thing to act on from this would be to focus on selling more from the top performing publishers.</a:t>
            </a:r>
          </a:p>
          <a:p>
            <a:endParaRPr lang="en-GB" dirty="0"/>
          </a:p>
          <a:p>
            <a:r>
              <a:rPr lang="en-GB" dirty="0"/>
              <a:t>Although again, the lowest performing publisher might simply not have as many books, so in fact, a better measure would be to judge each publisher by adjusting for the number of books.</a:t>
            </a:r>
          </a:p>
        </p:txBody>
      </p:sp>
    </p:spTree>
    <p:extLst>
      <p:ext uri="{BB962C8B-B14F-4D97-AF65-F5344CB8AC3E}">
        <p14:creationId xmlns:p14="http://schemas.microsoft.com/office/powerpoint/2010/main" val="3288190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B4626-5BC4-641A-F888-A4F1784E2B1C}"/>
              </a:ext>
            </a:extLst>
          </p:cNvPr>
          <p:cNvSpPr>
            <a:spLocks noGrp="1"/>
          </p:cNvSpPr>
          <p:nvPr>
            <p:ph type="title"/>
          </p:nvPr>
        </p:nvSpPr>
        <p:spPr/>
        <p:txBody>
          <a:bodyPr/>
          <a:lstStyle/>
          <a:p>
            <a:r>
              <a:rPr lang="en-GB" dirty="0"/>
              <a:t>Task 6</a:t>
            </a:r>
          </a:p>
        </p:txBody>
      </p:sp>
      <p:sp>
        <p:nvSpPr>
          <p:cNvPr id="3" name="Content Placeholder 2">
            <a:extLst>
              <a:ext uri="{FF2B5EF4-FFF2-40B4-BE49-F238E27FC236}">
                <a16:creationId xmlns:a16="http://schemas.microsoft.com/office/drawing/2014/main" id="{550C13D3-C55B-786C-3AE6-924DD7BDC052}"/>
              </a:ext>
            </a:extLst>
          </p:cNvPr>
          <p:cNvSpPr>
            <a:spLocks noGrp="1"/>
          </p:cNvSpPr>
          <p:nvPr>
            <p:ph idx="1"/>
          </p:nvPr>
        </p:nvSpPr>
        <p:spPr/>
        <p:txBody>
          <a:bodyPr>
            <a:normAutofit/>
          </a:bodyPr>
          <a:lstStyle/>
          <a:p>
            <a:r>
              <a:rPr lang="en-GB" sz="2400" dirty="0"/>
              <a:t> Looking at the average sales per order for the regions, they are actually fairly close together.</a:t>
            </a:r>
          </a:p>
          <a:p>
            <a:r>
              <a:rPr lang="en-GB" sz="2400" dirty="0"/>
              <a:t>Combined with the visual from Task 3, this shows that the West region is making much more revenue </a:t>
            </a:r>
            <a:r>
              <a:rPr lang="en-GB" sz="2400" i="1" dirty="0"/>
              <a:t>per order  </a:t>
            </a:r>
            <a:r>
              <a:rPr lang="en-GB" sz="2400" dirty="0"/>
              <a:t>despite not actually having much more sales per order, and also not having a higher average unit price than the East region. </a:t>
            </a:r>
          </a:p>
          <a:p>
            <a:r>
              <a:rPr lang="en-GB" sz="2400" dirty="0"/>
              <a:t>More research needs to be done into the West region to find out why exactly this is the case, and how this information can be used to increase revenue per order for the other regions.</a:t>
            </a:r>
          </a:p>
          <a:p>
            <a:r>
              <a:rPr lang="en-GB" sz="2400" dirty="0"/>
              <a:t>Looking at the order size visual, the vast majority of large orders are from the west, which could be another reason why.</a:t>
            </a:r>
          </a:p>
        </p:txBody>
      </p:sp>
    </p:spTree>
    <p:extLst>
      <p:ext uri="{BB962C8B-B14F-4D97-AF65-F5344CB8AC3E}">
        <p14:creationId xmlns:p14="http://schemas.microsoft.com/office/powerpoint/2010/main" val="4269578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542FD-4992-285A-782B-C04DA589030F}"/>
              </a:ext>
            </a:extLst>
          </p:cNvPr>
          <p:cNvSpPr>
            <a:spLocks noGrp="1"/>
          </p:cNvSpPr>
          <p:nvPr>
            <p:ph type="title"/>
          </p:nvPr>
        </p:nvSpPr>
        <p:spPr/>
        <p:txBody>
          <a:bodyPr/>
          <a:lstStyle/>
          <a:p>
            <a:r>
              <a:rPr lang="en-GB" dirty="0"/>
              <a:t>Task 7</a:t>
            </a:r>
          </a:p>
        </p:txBody>
      </p:sp>
      <p:sp>
        <p:nvSpPr>
          <p:cNvPr id="3" name="Content Placeholder 2">
            <a:extLst>
              <a:ext uri="{FF2B5EF4-FFF2-40B4-BE49-F238E27FC236}">
                <a16:creationId xmlns:a16="http://schemas.microsoft.com/office/drawing/2014/main" id="{1F6D92FF-DCDD-A0B3-2DDD-C394CCCDF6D4}"/>
              </a:ext>
            </a:extLst>
          </p:cNvPr>
          <p:cNvSpPr>
            <a:spLocks noGrp="1"/>
          </p:cNvSpPr>
          <p:nvPr>
            <p:ph idx="1"/>
          </p:nvPr>
        </p:nvSpPr>
        <p:spPr/>
        <p:txBody>
          <a:bodyPr/>
          <a:lstStyle/>
          <a:p>
            <a:r>
              <a:rPr lang="en-GB" dirty="0"/>
              <a:t>In line with most of our previous analysis, the West Region is performing the best across all genres.</a:t>
            </a:r>
          </a:p>
          <a:p>
            <a:r>
              <a:rPr lang="en-GB" dirty="0"/>
              <a:t>The East region seems to moderately sell well in History and Non-Fiction, so maybe this is an area they can focus purchasing and marketing on.</a:t>
            </a:r>
          </a:p>
          <a:p>
            <a:r>
              <a:rPr lang="en-GB" dirty="0"/>
              <a:t>The South region is the weakest by far, so the most focus should be on this region to try and find ways to improve sales.</a:t>
            </a:r>
          </a:p>
        </p:txBody>
      </p:sp>
    </p:spTree>
    <p:extLst>
      <p:ext uri="{BB962C8B-B14F-4D97-AF65-F5344CB8AC3E}">
        <p14:creationId xmlns:p14="http://schemas.microsoft.com/office/powerpoint/2010/main" val="2612226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7741-AB82-2F48-5084-ABA0B84AE6B7}"/>
              </a:ext>
            </a:extLst>
          </p:cNvPr>
          <p:cNvSpPr>
            <a:spLocks noGrp="1"/>
          </p:cNvSpPr>
          <p:nvPr>
            <p:ph type="title"/>
          </p:nvPr>
        </p:nvSpPr>
        <p:spPr/>
        <p:txBody>
          <a:bodyPr/>
          <a:lstStyle/>
          <a:p>
            <a:r>
              <a:rPr lang="en-GB" dirty="0"/>
              <a:t>Task 8</a:t>
            </a:r>
          </a:p>
        </p:txBody>
      </p:sp>
      <p:sp>
        <p:nvSpPr>
          <p:cNvPr id="3" name="Content Placeholder 2">
            <a:extLst>
              <a:ext uri="{FF2B5EF4-FFF2-40B4-BE49-F238E27FC236}">
                <a16:creationId xmlns:a16="http://schemas.microsoft.com/office/drawing/2014/main" id="{ED758CC9-FAF8-DFFD-5C54-BEADC61C0EA1}"/>
              </a:ext>
            </a:extLst>
          </p:cNvPr>
          <p:cNvSpPr>
            <a:spLocks noGrp="1"/>
          </p:cNvSpPr>
          <p:nvPr>
            <p:ph idx="1"/>
          </p:nvPr>
        </p:nvSpPr>
        <p:spPr/>
        <p:txBody>
          <a:bodyPr/>
          <a:lstStyle/>
          <a:p>
            <a:r>
              <a:rPr lang="en-GB" dirty="0"/>
              <a:t>There aren’t really any outliers in terms of high-quantity or high-sales, although among the highest sale/highest quantity orders, History, Sci-Fi and Non fiction are all among them.</a:t>
            </a:r>
          </a:p>
          <a:p>
            <a:r>
              <a:rPr lang="en-GB" dirty="0"/>
              <a:t>Task 2 showed that History and Sci-Fi were two of the highest selling genres, which is supported by what we found in this task.</a:t>
            </a:r>
          </a:p>
          <a:p>
            <a:r>
              <a:rPr lang="en-GB" dirty="0"/>
              <a:t>Looking at the highest sales in each quantity, there is an increase of around $40/50 for each increase in quantity (by one) which supports that there are no noteworthy outliers.</a:t>
            </a:r>
          </a:p>
          <a:p>
            <a:endParaRPr lang="en-GB" dirty="0"/>
          </a:p>
        </p:txBody>
      </p:sp>
    </p:spTree>
    <p:extLst>
      <p:ext uri="{BB962C8B-B14F-4D97-AF65-F5344CB8AC3E}">
        <p14:creationId xmlns:p14="http://schemas.microsoft.com/office/powerpoint/2010/main" val="2611512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2D5AF-69C1-0F14-D9A3-D0BB65DE7792}"/>
              </a:ext>
            </a:extLst>
          </p:cNvPr>
          <p:cNvSpPr>
            <a:spLocks noGrp="1"/>
          </p:cNvSpPr>
          <p:nvPr>
            <p:ph type="title"/>
          </p:nvPr>
        </p:nvSpPr>
        <p:spPr/>
        <p:txBody>
          <a:bodyPr/>
          <a:lstStyle/>
          <a:p>
            <a:r>
              <a:rPr lang="en-GB" dirty="0"/>
              <a:t>Task 9 </a:t>
            </a:r>
          </a:p>
        </p:txBody>
      </p:sp>
      <p:sp>
        <p:nvSpPr>
          <p:cNvPr id="3" name="Content Placeholder 2">
            <a:extLst>
              <a:ext uri="{FF2B5EF4-FFF2-40B4-BE49-F238E27FC236}">
                <a16:creationId xmlns:a16="http://schemas.microsoft.com/office/drawing/2014/main" id="{69637EA3-8C8C-2173-B360-87EE1479DD73}"/>
              </a:ext>
            </a:extLst>
          </p:cNvPr>
          <p:cNvSpPr>
            <a:spLocks noGrp="1"/>
          </p:cNvSpPr>
          <p:nvPr>
            <p:ph idx="1"/>
          </p:nvPr>
        </p:nvSpPr>
        <p:spPr/>
        <p:txBody>
          <a:bodyPr/>
          <a:lstStyle/>
          <a:p>
            <a:r>
              <a:rPr lang="en-GB" dirty="0"/>
              <a:t>The West has the highest cumulative sales, as expected from all the previous analysis that has been done.</a:t>
            </a:r>
          </a:p>
          <a:p>
            <a:r>
              <a:rPr lang="en-GB" dirty="0"/>
              <a:t>When setting targets for Q2, each region should have a separate target, based on forecasts for Q2. If the region exceeds the target sales by a reasonable margin, we could conclude that whatever changes we made because of the previous tasks were successful.</a:t>
            </a:r>
          </a:p>
          <a:p>
            <a:r>
              <a:rPr lang="en-GB" dirty="0"/>
              <a:t>In the opposite case, this would mean the measures we took were not enough to improve the sales of the Non-West regions, meaning we would have to iterate on this process for Q3.</a:t>
            </a:r>
          </a:p>
        </p:txBody>
      </p:sp>
    </p:spTree>
    <p:extLst>
      <p:ext uri="{BB962C8B-B14F-4D97-AF65-F5344CB8AC3E}">
        <p14:creationId xmlns:p14="http://schemas.microsoft.com/office/powerpoint/2010/main" val="1097482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454EA-A850-1772-B0A4-2964A406018F}"/>
              </a:ext>
            </a:extLst>
          </p:cNvPr>
          <p:cNvSpPr>
            <a:spLocks noGrp="1"/>
          </p:cNvSpPr>
          <p:nvPr>
            <p:ph type="title"/>
          </p:nvPr>
        </p:nvSpPr>
        <p:spPr/>
        <p:txBody>
          <a:bodyPr/>
          <a:lstStyle/>
          <a:p>
            <a:r>
              <a:rPr lang="en-GB" dirty="0"/>
              <a:t>Task 10</a:t>
            </a:r>
          </a:p>
        </p:txBody>
      </p:sp>
      <p:sp>
        <p:nvSpPr>
          <p:cNvPr id="3" name="Content Placeholder 2">
            <a:extLst>
              <a:ext uri="{FF2B5EF4-FFF2-40B4-BE49-F238E27FC236}">
                <a16:creationId xmlns:a16="http://schemas.microsoft.com/office/drawing/2014/main" id="{C2E473BE-C166-612B-015F-1491156503E2}"/>
              </a:ext>
            </a:extLst>
          </p:cNvPr>
          <p:cNvSpPr>
            <a:spLocks noGrp="1"/>
          </p:cNvSpPr>
          <p:nvPr>
            <p:ph idx="1"/>
          </p:nvPr>
        </p:nvSpPr>
        <p:spPr/>
        <p:txBody>
          <a:bodyPr/>
          <a:lstStyle/>
          <a:p>
            <a:r>
              <a:rPr lang="en-GB" dirty="0"/>
              <a:t>See the first link in email/</a:t>
            </a:r>
            <a:r>
              <a:rPr lang="en-GB"/>
              <a:t>2</a:t>
            </a:r>
            <a:r>
              <a:rPr lang="en-GB" baseline="30000"/>
              <a:t>nd</a:t>
            </a:r>
            <a:r>
              <a:rPr lang="en-GB"/>
              <a:t> slide</a:t>
            </a:r>
            <a:endParaRPr lang="en-GB" dirty="0"/>
          </a:p>
        </p:txBody>
      </p:sp>
    </p:spTree>
    <p:extLst>
      <p:ext uri="{BB962C8B-B14F-4D97-AF65-F5344CB8AC3E}">
        <p14:creationId xmlns:p14="http://schemas.microsoft.com/office/powerpoint/2010/main" val="9433330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542</TotalTime>
  <Words>848</Words>
  <Application>Microsoft Office PowerPoint</Application>
  <PresentationFormat>Widescreen</PresentationFormat>
  <Paragraphs>47</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Tableau Project 2</vt:lpstr>
      <vt:lpstr>Link to workbook</vt:lpstr>
      <vt:lpstr>Task 1</vt:lpstr>
      <vt:lpstr>Task 2</vt:lpstr>
      <vt:lpstr>Task 3</vt:lpstr>
      <vt:lpstr>Task 4</vt:lpstr>
      <vt:lpstr>Task 5</vt:lpstr>
      <vt:lpstr>Task 6</vt:lpstr>
      <vt:lpstr>Task 7</vt:lpstr>
      <vt:lpstr>Task 8</vt:lpstr>
      <vt:lpstr>Task 9 </vt:lpstr>
      <vt:lpstr>Task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Andreas Wong</dc:creator>
  <cp:lastModifiedBy>Andreas Wong</cp:lastModifiedBy>
  <cp:revision>7</cp:revision>
  <dcterms:created xsi:type="dcterms:W3CDTF">2026-06-17T10:44:50Z</dcterms:created>
  <dcterms:modified xsi:type="dcterms:W3CDTF">2026-07-03T22:16:27Z</dcterms:modified>
</cp:coreProperties>
</file>