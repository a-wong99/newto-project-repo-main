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D69411-9A9A-483F-92D4-2EE265D15CFD}" type="datetimeFigureOut">
              <a:rPr lang="en-GB" smtClean="0"/>
              <a:t>06/04/2026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DE8174-6DE6-445A-BBE1-F58AA413E4C0}" type="slidenum">
              <a:rPr lang="en-GB" smtClean="0"/>
              <a:t>‹#›</a:t>
            </a:fld>
            <a:endParaRPr lang="en-GB"/>
          </a:p>
        </p:txBody>
      </p:sp>
    </p:spTree>
    <p:extLst>
      <p:ext uri="{BB962C8B-B14F-4D97-AF65-F5344CB8AC3E}">
        <p14:creationId xmlns:p14="http://schemas.microsoft.com/office/powerpoint/2010/main" val="4204090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9156B-3121-57C1-4A19-90EC4CAEA5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F2C862D-BE4A-41EF-B5AD-354D259D15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6430F6B-2AD5-B223-0CF5-79990613D0AD}"/>
              </a:ext>
            </a:extLst>
          </p:cNvPr>
          <p:cNvSpPr>
            <a:spLocks noGrp="1"/>
          </p:cNvSpPr>
          <p:nvPr>
            <p:ph type="dt" sz="half" idx="10"/>
          </p:nvPr>
        </p:nvSpPr>
        <p:spPr/>
        <p:txBody>
          <a:bodyPr/>
          <a:lstStyle/>
          <a:p>
            <a:fld id="{4C617E8B-B18A-4D3E-B1E3-7420EE392B6C}" type="datetimeFigureOut">
              <a:rPr lang="en-GB" smtClean="0"/>
              <a:t>06/04/2026</a:t>
            </a:fld>
            <a:endParaRPr lang="en-GB"/>
          </a:p>
        </p:txBody>
      </p:sp>
      <p:sp>
        <p:nvSpPr>
          <p:cNvPr id="5" name="Footer Placeholder 4">
            <a:extLst>
              <a:ext uri="{FF2B5EF4-FFF2-40B4-BE49-F238E27FC236}">
                <a16:creationId xmlns:a16="http://schemas.microsoft.com/office/drawing/2014/main" id="{FEAD8EF4-C9D0-C873-E7FD-61A90752B7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B514E28-C145-D8D5-3C68-2A9BE6781D79}"/>
              </a:ext>
            </a:extLst>
          </p:cNvPr>
          <p:cNvSpPr>
            <a:spLocks noGrp="1"/>
          </p:cNvSpPr>
          <p:nvPr>
            <p:ph type="sldNum" sz="quarter" idx="12"/>
          </p:nvPr>
        </p:nvSpPr>
        <p:spPr/>
        <p:txBody>
          <a:bodyPr/>
          <a:lstStyle/>
          <a:p>
            <a:fld id="{0380B5D4-825A-49CE-A3E3-21C789B91D83}" type="slidenum">
              <a:rPr lang="en-GB" smtClean="0"/>
              <a:t>‹#›</a:t>
            </a:fld>
            <a:endParaRPr lang="en-GB"/>
          </a:p>
        </p:txBody>
      </p:sp>
    </p:spTree>
    <p:extLst>
      <p:ext uri="{BB962C8B-B14F-4D97-AF65-F5344CB8AC3E}">
        <p14:creationId xmlns:p14="http://schemas.microsoft.com/office/powerpoint/2010/main" val="1685281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43CA8-522F-0416-877C-9C00E1C46D7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4948BD8-906F-3DD4-772B-578E7A07F5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ADF3B3D-31D1-49BE-84F5-C9DF7B189B15}"/>
              </a:ext>
            </a:extLst>
          </p:cNvPr>
          <p:cNvSpPr>
            <a:spLocks noGrp="1"/>
          </p:cNvSpPr>
          <p:nvPr>
            <p:ph type="dt" sz="half" idx="10"/>
          </p:nvPr>
        </p:nvSpPr>
        <p:spPr/>
        <p:txBody>
          <a:bodyPr/>
          <a:lstStyle/>
          <a:p>
            <a:fld id="{4C617E8B-B18A-4D3E-B1E3-7420EE392B6C}" type="datetimeFigureOut">
              <a:rPr lang="en-GB" smtClean="0"/>
              <a:t>06/04/2026</a:t>
            </a:fld>
            <a:endParaRPr lang="en-GB"/>
          </a:p>
        </p:txBody>
      </p:sp>
      <p:sp>
        <p:nvSpPr>
          <p:cNvPr id="5" name="Footer Placeholder 4">
            <a:extLst>
              <a:ext uri="{FF2B5EF4-FFF2-40B4-BE49-F238E27FC236}">
                <a16:creationId xmlns:a16="http://schemas.microsoft.com/office/drawing/2014/main" id="{CEC2FC53-ACBA-735B-FC4B-797F99C10A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78B2272-564B-B16B-76A2-31BAE89B8413}"/>
              </a:ext>
            </a:extLst>
          </p:cNvPr>
          <p:cNvSpPr>
            <a:spLocks noGrp="1"/>
          </p:cNvSpPr>
          <p:nvPr>
            <p:ph type="sldNum" sz="quarter" idx="12"/>
          </p:nvPr>
        </p:nvSpPr>
        <p:spPr/>
        <p:txBody>
          <a:bodyPr/>
          <a:lstStyle/>
          <a:p>
            <a:fld id="{0380B5D4-825A-49CE-A3E3-21C789B91D83}" type="slidenum">
              <a:rPr lang="en-GB" smtClean="0"/>
              <a:t>‹#›</a:t>
            </a:fld>
            <a:endParaRPr lang="en-GB"/>
          </a:p>
        </p:txBody>
      </p:sp>
    </p:spTree>
    <p:extLst>
      <p:ext uri="{BB962C8B-B14F-4D97-AF65-F5344CB8AC3E}">
        <p14:creationId xmlns:p14="http://schemas.microsoft.com/office/powerpoint/2010/main" val="1981517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B5B36-C2FC-0101-B5D3-89989F35C6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2684A31-C570-5069-FC30-F164EE6FD9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3328C1-D418-8CA3-0294-661A41DBF124}"/>
              </a:ext>
            </a:extLst>
          </p:cNvPr>
          <p:cNvSpPr>
            <a:spLocks noGrp="1"/>
          </p:cNvSpPr>
          <p:nvPr>
            <p:ph type="dt" sz="half" idx="10"/>
          </p:nvPr>
        </p:nvSpPr>
        <p:spPr/>
        <p:txBody>
          <a:bodyPr/>
          <a:lstStyle/>
          <a:p>
            <a:fld id="{4C617E8B-B18A-4D3E-B1E3-7420EE392B6C}" type="datetimeFigureOut">
              <a:rPr lang="en-GB" smtClean="0"/>
              <a:t>06/04/2026</a:t>
            </a:fld>
            <a:endParaRPr lang="en-GB"/>
          </a:p>
        </p:txBody>
      </p:sp>
      <p:sp>
        <p:nvSpPr>
          <p:cNvPr id="5" name="Footer Placeholder 4">
            <a:extLst>
              <a:ext uri="{FF2B5EF4-FFF2-40B4-BE49-F238E27FC236}">
                <a16:creationId xmlns:a16="http://schemas.microsoft.com/office/drawing/2014/main" id="{AB811866-4EE7-891B-AFC9-23CB576CB4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18B0D5-88F5-11C6-4F1F-659E75A64DA8}"/>
              </a:ext>
            </a:extLst>
          </p:cNvPr>
          <p:cNvSpPr>
            <a:spLocks noGrp="1"/>
          </p:cNvSpPr>
          <p:nvPr>
            <p:ph type="sldNum" sz="quarter" idx="12"/>
          </p:nvPr>
        </p:nvSpPr>
        <p:spPr/>
        <p:txBody>
          <a:bodyPr/>
          <a:lstStyle/>
          <a:p>
            <a:fld id="{0380B5D4-825A-49CE-A3E3-21C789B91D83}" type="slidenum">
              <a:rPr lang="en-GB" smtClean="0"/>
              <a:t>‹#›</a:t>
            </a:fld>
            <a:endParaRPr lang="en-GB"/>
          </a:p>
        </p:txBody>
      </p:sp>
    </p:spTree>
    <p:extLst>
      <p:ext uri="{BB962C8B-B14F-4D97-AF65-F5344CB8AC3E}">
        <p14:creationId xmlns:p14="http://schemas.microsoft.com/office/powerpoint/2010/main" val="145212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22AF8-3659-AFBB-5AB6-72C57D5355D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1EC194-91DE-24D7-F90A-723B088519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481F644-BA43-50DE-CF10-74E7CA0735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A7CCB40-7B1D-FCAB-F4CE-C78C61F87998}"/>
              </a:ext>
            </a:extLst>
          </p:cNvPr>
          <p:cNvSpPr>
            <a:spLocks noGrp="1"/>
          </p:cNvSpPr>
          <p:nvPr>
            <p:ph type="dt" sz="half" idx="10"/>
          </p:nvPr>
        </p:nvSpPr>
        <p:spPr/>
        <p:txBody>
          <a:bodyPr/>
          <a:lstStyle/>
          <a:p>
            <a:fld id="{4C617E8B-B18A-4D3E-B1E3-7420EE392B6C}" type="datetimeFigureOut">
              <a:rPr lang="en-GB" smtClean="0"/>
              <a:t>06/04/2026</a:t>
            </a:fld>
            <a:endParaRPr lang="en-GB"/>
          </a:p>
        </p:txBody>
      </p:sp>
      <p:sp>
        <p:nvSpPr>
          <p:cNvPr id="6" name="Footer Placeholder 5">
            <a:extLst>
              <a:ext uri="{FF2B5EF4-FFF2-40B4-BE49-F238E27FC236}">
                <a16:creationId xmlns:a16="http://schemas.microsoft.com/office/drawing/2014/main" id="{4A8BD04A-4716-0B2A-6546-A5889E20FD9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CA4F000-54BD-40AA-9ED2-88D65824AD9E}"/>
              </a:ext>
            </a:extLst>
          </p:cNvPr>
          <p:cNvSpPr>
            <a:spLocks noGrp="1"/>
          </p:cNvSpPr>
          <p:nvPr>
            <p:ph type="sldNum" sz="quarter" idx="12"/>
          </p:nvPr>
        </p:nvSpPr>
        <p:spPr/>
        <p:txBody>
          <a:bodyPr/>
          <a:lstStyle/>
          <a:p>
            <a:fld id="{0380B5D4-825A-49CE-A3E3-21C789B91D83}" type="slidenum">
              <a:rPr lang="en-GB" smtClean="0"/>
              <a:t>‹#›</a:t>
            </a:fld>
            <a:endParaRPr lang="en-GB"/>
          </a:p>
        </p:txBody>
      </p:sp>
    </p:spTree>
    <p:extLst>
      <p:ext uri="{BB962C8B-B14F-4D97-AF65-F5344CB8AC3E}">
        <p14:creationId xmlns:p14="http://schemas.microsoft.com/office/powerpoint/2010/main" val="789504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9DE54-13EA-43FF-4868-98DDED14F8C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BE72CE7-1A68-656C-A592-69814E386B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6C5705-5B35-A6E8-E4B7-FB66FF59F9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41C2A71-07CF-26B8-485B-F072DDE666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E4408E-B0ED-7BB5-5203-7E2ECCCA3B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CD833F2-C309-5DDC-0BD5-9B4509C90D7E}"/>
              </a:ext>
            </a:extLst>
          </p:cNvPr>
          <p:cNvSpPr>
            <a:spLocks noGrp="1"/>
          </p:cNvSpPr>
          <p:nvPr>
            <p:ph type="dt" sz="half" idx="10"/>
          </p:nvPr>
        </p:nvSpPr>
        <p:spPr/>
        <p:txBody>
          <a:bodyPr/>
          <a:lstStyle/>
          <a:p>
            <a:fld id="{4C617E8B-B18A-4D3E-B1E3-7420EE392B6C}" type="datetimeFigureOut">
              <a:rPr lang="en-GB" smtClean="0"/>
              <a:t>06/04/2026</a:t>
            </a:fld>
            <a:endParaRPr lang="en-GB"/>
          </a:p>
        </p:txBody>
      </p:sp>
      <p:sp>
        <p:nvSpPr>
          <p:cNvPr id="8" name="Footer Placeholder 7">
            <a:extLst>
              <a:ext uri="{FF2B5EF4-FFF2-40B4-BE49-F238E27FC236}">
                <a16:creationId xmlns:a16="http://schemas.microsoft.com/office/drawing/2014/main" id="{AA976576-9E68-918C-2BC5-212C5A0351A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4BF0229-0E69-952C-990E-EF2F7C28BFEF}"/>
              </a:ext>
            </a:extLst>
          </p:cNvPr>
          <p:cNvSpPr>
            <a:spLocks noGrp="1"/>
          </p:cNvSpPr>
          <p:nvPr>
            <p:ph type="sldNum" sz="quarter" idx="12"/>
          </p:nvPr>
        </p:nvSpPr>
        <p:spPr/>
        <p:txBody>
          <a:bodyPr/>
          <a:lstStyle/>
          <a:p>
            <a:fld id="{0380B5D4-825A-49CE-A3E3-21C789B91D83}" type="slidenum">
              <a:rPr lang="en-GB" smtClean="0"/>
              <a:t>‹#›</a:t>
            </a:fld>
            <a:endParaRPr lang="en-GB"/>
          </a:p>
        </p:txBody>
      </p:sp>
    </p:spTree>
    <p:extLst>
      <p:ext uri="{BB962C8B-B14F-4D97-AF65-F5344CB8AC3E}">
        <p14:creationId xmlns:p14="http://schemas.microsoft.com/office/powerpoint/2010/main" val="1812700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F65D0-22F4-6F6E-D437-69343C54C15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73B7EB3-D489-04E7-F5F1-D88B1FADBBF3}"/>
              </a:ext>
            </a:extLst>
          </p:cNvPr>
          <p:cNvSpPr>
            <a:spLocks noGrp="1"/>
          </p:cNvSpPr>
          <p:nvPr>
            <p:ph type="dt" sz="half" idx="10"/>
          </p:nvPr>
        </p:nvSpPr>
        <p:spPr/>
        <p:txBody>
          <a:bodyPr/>
          <a:lstStyle/>
          <a:p>
            <a:fld id="{4C617E8B-B18A-4D3E-B1E3-7420EE392B6C}" type="datetimeFigureOut">
              <a:rPr lang="en-GB" smtClean="0"/>
              <a:t>06/04/2026</a:t>
            </a:fld>
            <a:endParaRPr lang="en-GB"/>
          </a:p>
        </p:txBody>
      </p:sp>
      <p:sp>
        <p:nvSpPr>
          <p:cNvPr id="4" name="Footer Placeholder 3">
            <a:extLst>
              <a:ext uri="{FF2B5EF4-FFF2-40B4-BE49-F238E27FC236}">
                <a16:creationId xmlns:a16="http://schemas.microsoft.com/office/drawing/2014/main" id="{FA35D457-C55C-AE34-77A0-001C1BC1664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9E0C769-154D-7A06-4066-194DE11FE396}"/>
              </a:ext>
            </a:extLst>
          </p:cNvPr>
          <p:cNvSpPr>
            <a:spLocks noGrp="1"/>
          </p:cNvSpPr>
          <p:nvPr>
            <p:ph type="sldNum" sz="quarter" idx="12"/>
          </p:nvPr>
        </p:nvSpPr>
        <p:spPr/>
        <p:txBody>
          <a:bodyPr/>
          <a:lstStyle/>
          <a:p>
            <a:fld id="{0380B5D4-825A-49CE-A3E3-21C789B91D83}" type="slidenum">
              <a:rPr lang="en-GB" smtClean="0"/>
              <a:t>‹#›</a:t>
            </a:fld>
            <a:endParaRPr lang="en-GB"/>
          </a:p>
        </p:txBody>
      </p:sp>
    </p:spTree>
    <p:extLst>
      <p:ext uri="{BB962C8B-B14F-4D97-AF65-F5344CB8AC3E}">
        <p14:creationId xmlns:p14="http://schemas.microsoft.com/office/powerpoint/2010/main" val="634641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0A0AA7-E4ED-1FA9-B19C-9999DF8A68F3}"/>
              </a:ext>
            </a:extLst>
          </p:cNvPr>
          <p:cNvSpPr>
            <a:spLocks noGrp="1"/>
          </p:cNvSpPr>
          <p:nvPr>
            <p:ph type="dt" sz="half" idx="10"/>
          </p:nvPr>
        </p:nvSpPr>
        <p:spPr/>
        <p:txBody>
          <a:bodyPr/>
          <a:lstStyle/>
          <a:p>
            <a:fld id="{4C617E8B-B18A-4D3E-B1E3-7420EE392B6C}" type="datetimeFigureOut">
              <a:rPr lang="en-GB" smtClean="0"/>
              <a:t>06/04/2026</a:t>
            </a:fld>
            <a:endParaRPr lang="en-GB"/>
          </a:p>
        </p:txBody>
      </p:sp>
      <p:sp>
        <p:nvSpPr>
          <p:cNvPr id="3" name="Footer Placeholder 2">
            <a:extLst>
              <a:ext uri="{FF2B5EF4-FFF2-40B4-BE49-F238E27FC236}">
                <a16:creationId xmlns:a16="http://schemas.microsoft.com/office/drawing/2014/main" id="{17F2CDE7-F2DE-C146-260B-8477818629E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F00420A-BFD3-3CF9-415B-9FDB9D8A96A4}"/>
              </a:ext>
            </a:extLst>
          </p:cNvPr>
          <p:cNvSpPr>
            <a:spLocks noGrp="1"/>
          </p:cNvSpPr>
          <p:nvPr>
            <p:ph type="sldNum" sz="quarter" idx="12"/>
          </p:nvPr>
        </p:nvSpPr>
        <p:spPr/>
        <p:txBody>
          <a:bodyPr/>
          <a:lstStyle/>
          <a:p>
            <a:fld id="{0380B5D4-825A-49CE-A3E3-21C789B91D83}" type="slidenum">
              <a:rPr lang="en-GB" smtClean="0"/>
              <a:t>‹#›</a:t>
            </a:fld>
            <a:endParaRPr lang="en-GB"/>
          </a:p>
        </p:txBody>
      </p:sp>
    </p:spTree>
    <p:extLst>
      <p:ext uri="{BB962C8B-B14F-4D97-AF65-F5344CB8AC3E}">
        <p14:creationId xmlns:p14="http://schemas.microsoft.com/office/powerpoint/2010/main" val="3177670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E06C7-3B42-6253-39D9-6ED9DB2BB6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CCE60DB-B5E2-614F-E9BD-A767329D48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C125168-D5AC-9482-F13F-86E603A1AB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A30F39-0234-387C-5881-2BCCE8CF9646}"/>
              </a:ext>
            </a:extLst>
          </p:cNvPr>
          <p:cNvSpPr>
            <a:spLocks noGrp="1"/>
          </p:cNvSpPr>
          <p:nvPr>
            <p:ph type="dt" sz="half" idx="10"/>
          </p:nvPr>
        </p:nvSpPr>
        <p:spPr/>
        <p:txBody>
          <a:bodyPr/>
          <a:lstStyle/>
          <a:p>
            <a:fld id="{4C617E8B-B18A-4D3E-B1E3-7420EE392B6C}" type="datetimeFigureOut">
              <a:rPr lang="en-GB" smtClean="0"/>
              <a:t>06/04/2026</a:t>
            </a:fld>
            <a:endParaRPr lang="en-GB"/>
          </a:p>
        </p:txBody>
      </p:sp>
      <p:sp>
        <p:nvSpPr>
          <p:cNvPr id="6" name="Footer Placeholder 5">
            <a:extLst>
              <a:ext uri="{FF2B5EF4-FFF2-40B4-BE49-F238E27FC236}">
                <a16:creationId xmlns:a16="http://schemas.microsoft.com/office/drawing/2014/main" id="{FFB35DD0-DF2B-42DA-AB35-B1EBA0B09AF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809BBA-AACE-4FBB-FAC1-2908F947F18C}"/>
              </a:ext>
            </a:extLst>
          </p:cNvPr>
          <p:cNvSpPr>
            <a:spLocks noGrp="1"/>
          </p:cNvSpPr>
          <p:nvPr>
            <p:ph type="sldNum" sz="quarter" idx="12"/>
          </p:nvPr>
        </p:nvSpPr>
        <p:spPr/>
        <p:txBody>
          <a:bodyPr/>
          <a:lstStyle/>
          <a:p>
            <a:fld id="{0380B5D4-825A-49CE-A3E3-21C789B91D83}" type="slidenum">
              <a:rPr lang="en-GB" smtClean="0"/>
              <a:t>‹#›</a:t>
            </a:fld>
            <a:endParaRPr lang="en-GB"/>
          </a:p>
        </p:txBody>
      </p:sp>
    </p:spTree>
    <p:extLst>
      <p:ext uri="{BB962C8B-B14F-4D97-AF65-F5344CB8AC3E}">
        <p14:creationId xmlns:p14="http://schemas.microsoft.com/office/powerpoint/2010/main" val="2507134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3E246-74CA-CFC7-F474-2119236E8A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2D3F3CC-644C-ED13-0DCC-6139F905BA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227C98C-63CA-EA23-5E7F-1352E646CD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4F6356-1E9F-ED4F-6B1A-A43419F91B81}"/>
              </a:ext>
            </a:extLst>
          </p:cNvPr>
          <p:cNvSpPr>
            <a:spLocks noGrp="1"/>
          </p:cNvSpPr>
          <p:nvPr>
            <p:ph type="dt" sz="half" idx="10"/>
          </p:nvPr>
        </p:nvSpPr>
        <p:spPr/>
        <p:txBody>
          <a:bodyPr/>
          <a:lstStyle/>
          <a:p>
            <a:fld id="{4C617E8B-B18A-4D3E-B1E3-7420EE392B6C}" type="datetimeFigureOut">
              <a:rPr lang="en-GB" smtClean="0"/>
              <a:t>06/04/2026</a:t>
            </a:fld>
            <a:endParaRPr lang="en-GB"/>
          </a:p>
        </p:txBody>
      </p:sp>
      <p:sp>
        <p:nvSpPr>
          <p:cNvPr id="6" name="Footer Placeholder 5">
            <a:extLst>
              <a:ext uri="{FF2B5EF4-FFF2-40B4-BE49-F238E27FC236}">
                <a16:creationId xmlns:a16="http://schemas.microsoft.com/office/drawing/2014/main" id="{DEA84F94-7E55-B93A-3D46-7AAD0BFA535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8B93565-5675-C98F-CFD2-D45F7B6AD076}"/>
              </a:ext>
            </a:extLst>
          </p:cNvPr>
          <p:cNvSpPr>
            <a:spLocks noGrp="1"/>
          </p:cNvSpPr>
          <p:nvPr>
            <p:ph type="sldNum" sz="quarter" idx="12"/>
          </p:nvPr>
        </p:nvSpPr>
        <p:spPr/>
        <p:txBody>
          <a:bodyPr/>
          <a:lstStyle/>
          <a:p>
            <a:fld id="{0380B5D4-825A-49CE-A3E3-21C789B91D83}" type="slidenum">
              <a:rPr lang="en-GB" smtClean="0"/>
              <a:t>‹#›</a:t>
            </a:fld>
            <a:endParaRPr lang="en-GB"/>
          </a:p>
        </p:txBody>
      </p:sp>
    </p:spTree>
    <p:extLst>
      <p:ext uri="{BB962C8B-B14F-4D97-AF65-F5344CB8AC3E}">
        <p14:creationId xmlns:p14="http://schemas.microsoft.com/office/powerpoint/2010/main" val="187317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E1D6A-3F7F-DB27-113A-4DDFB2E97A2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0BB4E52-F1BA-486A-68BB-D0D12CE4F7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40CF480-2243-B1EB-7C32-FFF28F2A3C55}"/>
              </a:ext>
            </a:extLst>
          </p:cNvPr>
          <p:cNvSpPr>
            <a:spLocks noGrp="1"/>
          </p:cNvSpPr>
          <p:nvPr>
            <p:ph type="dt" sz="half" idx="10"/>
          </p:nvPr>
        </p:nvSpPr>
        <p:spPr/>
        <p:txBody>
          <a:bodyPr/>
          <a:lstStyle/>
          <a:p>
            <a:fld id="{4C617E8B-B18A-4D3E-B1E3-7420EE392B6C}" type="datetimeFigureOut">
              <a:rPr lang="en-GB" smtClean="0"/>
              <a:t>06/04/2026</a:t>
            </a:fld>
            <a:endParaRPr lang="en-GB"/>
          </a:p>
        </p:txBody>
      </p:sp>
      <p:sp>
        <p:nvSpPr>
          <p:cNvPr id="5" name="Footer Placeholder 4">
            <a:extLst>
              <a:ext uri="{FF2B5EF4-FFF2-40B4-BE49-F238E27FC236}">
                <a16:creationId xmlns:a16="http://schemas.microsoft.com/office/drawing/2014/main" id="{BDE439E9-B28A-5956-2C8E-56ADE4C69B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4E00DD1-C429-EDCC-841E-C76F681E0FC3}"/>
              </a:ext>
            </a:extLst>
          </p:cNvPr>
          <p:cNvSpPr>
            <a:spLocks noGrp="1"/>
          </p:cNvSpPr>
          <p:nvPr>
            <p:ph type="sldNum" sz="quarter" idx="12"/>
          </p:nvPr>
        </p:nvSpPr>
        <p:spPr/>
        <p:txBody>
          <a:bodyPr/>
          <a:lstStyle/>
          <a:p>
            <a:fld id="{0380B5D4-825A-49CE-A3E3-21C789B91D83}" type="slidenum">
              <a:rPr lang="en-GB" smtClean="0"/>
              <a:t>‹#›</a:t>
            </a:fld>
            <a:endParaRPr lang="en-GB"/>
          </a:p>
        </p:txBody>
      </p:sp>
    </p:spTree>
    <p:extLst>
      <p:ext uri="{BB962C8B-B14F-4D97-AF65-F5344CB8AC3E}">
        <p14:creationId xmlns:p14="http://schemas.microsoft.com/office/powerpoint/2010/main" val="1659206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9ACD56-F771-F6FA-1969-CE8FAD49D2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99E4282-F7C4-99F4-7A12-87D94DE64D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ECF325-E47F-5EC6-6E0B-001C3876ECA8}"/>
              </a:ext>
            </a:extLst>
          </p:cNvPr>
          <p:cNvSpPr>
            <a:spLocks noGrp="1"/>
          </p:cNvSpPr>
          <p:nvPr>
            <p:ph type="dt" sz="half" idx="10"/>
          </p:nvPr>
        </p:nvSpPr>
        <p:spPr/>
        <p:txBody>
          <a:bodyPr/>
          <a:lstStyle/>
          <a:p>
            <a:fld id="{4C617E8B-B18A-4D3E-B1E3-7420EE392B6C}" type="datetimeFigureOut">
              <a:rPr lang="en-GB" smtClean="0"/>
              <a:t>06/04/2026</a:t>
            </a:fld>
            <a:endParaRPr lang="en-GB"/>
          </a:p>
        </p:txBody>
      </p:sp>
      <p:sp>
        <p:nvSpPr>
          <p:cNvPr id="5" name="Footer Placeholder 4">
            <a:extLst>
              <a:ext uri="{FF2B5EF4-FFF2-40B4-BE49-F238E27FC236}">
                <a16:creationId xmlns:a16="http://schemas.microsoft.com/office/drawing/2014/main" id="{F5AD78B0-ED80-3495-BE17-12E40545153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5942E8-642A-9136-5078-53878318EE61}"/>
              </a:ext>
            </a:extLst>
          </p:cNvPr>
          <p:cNvSpPr>
            <a:spLocks noGrp="1"/>
          </p:cNvSpPr>
          <p:nvPr>
            <p:ph type="sldNum" sz="quarter" idx="12"/>
          </p:nvPr>
        </p:nvSpPr>
        <p:spPr/>
        <p:txBody>
          <a:bodyPr/>
          <a:lstStyle/>
          <a:p>
            <a:fld id="{0380B5D4-825A-49CE-A3E3-21C789B91D83}" type="slidenum">
              <a:rPr lang="en-GB" smtClean="0"/>
              <a:t>‹#›</a:t>
            </a:fld>
            <a:endParaRPr lang="en-GB"/>
          </a:p>
        </p:txBody>
      </p:sp>
    </p:spTree>
    <p:extLst>
      <p:ext uri="{BB962C8B-B14F-4D97-AF65-F5344CB8AC3E}">
        <p14:creationId xmlns:p14="http://schemas.microsoft.com/office/powerpoint/2010/main" val="2466300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B01CB2-F42A-E90B-1691-3270BB3D2E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6437206-383D-4B3A-31C5-6A3328A9BE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68C2AF-6422-A2F2-EE21-7D14930A40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617E8B-B18A-4D3E-B1E3-7420EE392B6C}" type="datetimeFigureOut">
              <a:rPr lang="en-GB" smtClean="0"/>
              <a:t>06/04/2026</a:t>
            </a:fld>
            <a:endParaRPr lang="en-GB"/>
          </a:p>
        </p:txBody>
      </p:sp>
      <p:sp>
        <p:nvSpPr>
          <p:cNvPr id="5" name="Footer Placeholder 4">
            <a:extLst>
              <a:ext uri="{FF2B5EF4-FFF2-40B4-BE49-F238E27FC236}">
                <a16:creationId xmlns:a16="http://schemas.microsoft.com/office/drawing/2014/main" id="{F63F2360-3C28-F747-78C0-963E7528C8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249A4BB-33DF-8F03-376F-3155206ED2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80B5D4-825A-49CE-A3E3-21C789B91D83}" type="slidenum">
              <a:rPr lang="en-GB" smtClean="0"/>
              <a:t>‹#›</a:t>
            </a:fld>
            <a:endParaRPr lang="en-GB"/>
          </a:p>
        </p:txBody>
      </p:sp>
    </p:spTree>
    <p:extLst>
      <p:ext uri="{BB962C8B-B14F-4D97-AF65-F5344CB8AC3E}">
        <p14:creationId xmlns:p14="http://schemas.microsoft.com/office/powerpoint/2010/main" val="3347810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C9C6E-BEA4-9AA0-008F-891D9E166C28}"/>
              </a:ext>
            </a:extLst>
          </p:cNvPr>
          <p:cNvSpPr>
            <a:spLocks noGrp="1"/>
          </p:cNvSpPr>
          <p:nvPr>
            <p:ph type="ctrTitle"/>
          </p:nvPr>
        </p:nvSpPr>
        <p:spPr/>
        <p:txBody>
          <a:bodyPr/>
          <a:lstStyle/>
          <a:p>
            <a:r>
              <a:rPr lang="en-GB" dirty="0"/>
              <a:t>Exploring Global Happiness with SQL</a:t>
            </a:r>
          </a:p>
        </p:txBody>
      </p:sp>
      <p:sp>
        <p:nvSpPr>
          <p:cNvPr id="3" name="Subtitle 2">
            <a:extLst>
              <a:ext uri="{FF2B5EF4-FFF2-40B4-BE49-F238E27FC236}">
                <a16:creationId xmlns:a16="http://schemas.microsoft.com/office/drawing/2014/main" id="{6A711A68-08BA-F427-6672-5C443FBC87B7}"/>
              </a:ext>
            </a:extLst>
          </p:cNvPr>
          <p:cNvSpPr>
            <a:spLocks noGrp="1"/>
          </p:cNvSpPr>
          <p:nvPr>
            <p:ph type="subTitle" idx="1"/>
          </p:nvPr>
        </p:nvSpPr>
        <p:spPr/>
        <p:txBody>
          <a:bodyPr/>
          <a:lstStyle/>
          <a:p>
            <a:r>
              <a:rPr lang="en-GB" dirty="0"/>
              <a:t>Andreas Wong</a:t>
            </a:r>
          </a:p>
          <a:p>
            <a:r>
              <a:rPr lang="en-GB" dirty="0"/>
              <a:t>31/03/2026</a:t>
            </a:r>
          </a:p>
          <a:p>
            <a:r>
              <a:rPr lang="en-GB" dirty="0" err="1"/>
              <a:t>NewTo</a:t>
            </a:r>
            <a:r>
              <a:rPr lang="en-GB" dirty="0"/>
              <a:t> Training SQL course</a:t>
            </a:r>
          </a:p>
          <a:p>
            <a:endParaRPr lang="en-GB" dirty="0"/>
          </a:p>
        </p:txBody>
      </p:sp>
    </p:spTree>
    <p:extLst>
      <p:ext uri="{BB962C8B-B14F-4D97-AF65-F5344CB8AC3E}">
        <p14:creationId xmlns:p14="http://schemas.microsoft.com/office/powerpoint/2010/main" val="1882606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DC94C-30F3-BF8F-65F9-13C26E2582E3}"/>
              </a:ext>
            </a:extLst>
          </p:cNvPr>
          <p:cNvSpPr>
            <a:spLocks noGrp="1"/>
          </p:cNvSpPr>
          <p:nvPr>
            <p:ph type="title"/>
          </p:nvPr>
        </p:nvSpPr>
        <p:spPr/>
        <p:txBody>
          <a:bodyPr/>
          <a:lstStyle/>
          <a:p>
            <a:r>
              <a:rPr lang="en-GB" dirty="0"/>
              <a:t>Project brief</a:t>
            </a:r>
          </a:p>
        </p:txBody>
      </p:sp>
      <p:sp>
        <p:nvSpPr>
          <p:cNvPr id="3" name="Content Placeholder 2">
            <a:extLst>
              <a:ext uri="{FF2B5EF4-FFF2-40B4-BE49-F238E27FC236}">
                <a16:creationId xmlns:a16="http://schemas.microsoft.com/office/drawing/2014/main" id="{C726C838-B342-1AB0-7339-982C812A9F14}"/>
              </a:ext>
            </a:extLst>
          </p:cNvPr>
          <p:cNvSpPr>
            <a:spLocks noGrp="1"/>
          </p:cNvSpPr>
          <p:nvPr>
            <p:ph idx="1"/>
          </p:nvPr>
        </p:nvSpPr>
        <p:spPr/>
        <p:txBody>
          <a:bodyPr/>
          <a:lstStyle/>
          <a:p>
            <a:r>
              <a:rPr lang="en-GB" dirty="0"/>
              <a:t>The aim of this project is to use SQL queries to extract insights on, and </a:t>
            </a:r>
            <a:r>
              <a:rPr lang="en-GB"/>
              <a:t>create visualisations based on, </a:t>
            </a:r>
            <a:r>
              <a:rPr lang="en-GB" dirty="0"/>
              <a:t>the World Happiness Index </a:t>
            </a:r>
            <a:r>
              <a:rPr lang="en-GB"/>
              <a:t>2019 dataset</a:t>
            </a:r>
            <a:endParaRPr lang="en-GB" dirty="0"/>
          </a:p>
          <a:p>
            <a:r>
              <a:rPr lang="en-GB" dirty="0"/>
              <a:t>The project consists of four phases:</a:t>
            </a:r>
          </a:p>
          <a:p>
            <a:r>
              <a:rPr lang="en-GB" dirty="0"/>
              <a:t>1) Data Familiarisation</a:t>
            </a:r>
          </a:p>
          <a:p>
            <a:r>
              <a:rPr lang="en-GB" dirty="0"/>
              <a:t>2) Analytical Queries</a:t>
            </a:r>
          </a:p>
          <a:p>
            <a:r>
              <a:rPr lang="en-GB" dirty="0"/>
              <a:t>3) Insights and Correlations</a:t>
            </a:r>
          </a:p>
          <a:p>
            <a:r>
              <a:rPr lang="en-GB" dirty="0"/>
              <a:t>4) Advanced queries </a:t>
            </a:r>
          </a:p>
          <a:p>
            <a:endParaRPr lang="en-GB" dirty="0"/>
          </a:p>
        </p:txBody>
      </p:sp>
    </p:spTree>
    <p:extLst>
      <p:ext uri="{BB962C8B-B14F-4D97-AF65-F5344CB8AC3E}">
        <p14:creationId xmlns:p14="http://schemas.microsoft.com/office/powerpoint/2010/main" val="1017748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A04DB-8834-6E6D-733E-01FE8BA4548E}"/>
              </a:ext>
            </a:extLst>
          </p:cNvPr>
          <p:cNvSpPr>
            <a:spLocks noGrp="1"/>
          </p:cNvSpPr>
          <p:nvPr>
            <p:ph type="title"/>
          </p:nvPr>
        </p:nvSpPr>
        <p:spPr/>
        <p:txBody>
          <a:bodyPr/>
          <a:lstStyle/>
          <a:p>
            <a:r>
              <a:rPr lang="en-GB" dirty="0"/>
              <a:t>Global Happiness Rankings</a:t>
            </a:r>
          </a:p>
        </p:txBody>
      </p:sp>
      <p:pic>
        <p:nvPicPr>
          <p:cNvPr id="5" name="Content Placeholder 4">
            <a:extLst>
              <a:ext uri="{FF2B5EF4-FFF2-40B4-BE49-F238E27FC236}">
                <a16:creationId xmlns:a16="http://schemas.microsoft.com/office/drawing/2014/main" id="{303A558F-14CB-8C5F-1618-E854CCCC4539}"/>
              </a:ext>
            </a:extLst>
          </p:cNvPr>
          <p:cNvPicPr>
            <a:picLocks noGrp="1" noChangeAspect="1"/>
          </p:cNvPicPr>
          <p:nvPr>
            <p:ph idx="1"/>
          </p:nvPr>
        </p:nvPicPr>
        <p:blipFill>
          <a:blip r:embed="rId2"/>
          <a:stretch>
            <a:fillRect/>
          </a:stretch>
        </p:blipFill>
        <p:spPr>
          <a:xfrm>
            <a:off x="1104901" y="1597025"/>
            <a:ext cx="3819524" cy="4422818"/>
          </a:xfrm>
          <a:prstGeom prst="rect">
            <a:avLst/>
          </a:prstGeom>
        </p:spPr>
      </p:pic>
      <p:sp>
        <p:nvSpPr>
          <p:cNvPr id="6" name="TextBox 5">
            <a:extLst>
              <a:ext uri="{FF2B5EF4-FFF2-40B4-BE49-F238E27FC236}">
                <a16:creationId xmlns:a16="http://schemas.microsoft.com/office/drawing/2014/main" id="{2670B969-B233-87E3-F40D-6E57A102A3F8}"/>
              </a:ext>
            </a:extLst>
          </p:cNvPr>
          <p:cNvSpPr txBox="1"/>
          <p:nvPr/>
        </p:nvSpPr>
        <p:spPr>
          <a:xfrm>
            <a:off x="5715000" y="1690688"/>
            <a:ext cx="5762625" cy="646331"/>
          </a:xfrm>
          <a:prstGeom prst="rect">
            <a:avLst/>
          </a:prstGeom>
          <a:noFill/>
        </p:spPr>
        <p:txBody>
          <a:bodyPr wrap="square" rtlCol="0">
            <a:spAutoFit/>
          </a:bodyPr>
          <a:lstStyle/>
          <a:p>
            <a:r>
              <a:rPr lang="en-GB" dirty="0"/>
              <a:t>According to the table, Finland has the highest happiness score. The UK ranks 15</a:t>
            </a:r>
            <a:r>
              <a:rPr lang="en-GB" baseline="30000" dirty="0"/>
              <a:t>th.</a:t>
            </a:r>
            <a:endParaRPr lang="en-GB" dirty="0"/>
          </a:p>
        </p:txBody>
      </p:sp>
    </p:spTree>
    <p:extLst>
      <p:ext uri="{BB962C8B-B14F-4D97-AF65-F5344CB8AC3E}">
        <p14:creationId xmlns:p14="http://schemas.microsoft.com/office/powerpoint/2010/main" val="3635823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4FC04-D135-D13B-9252-45DA2D97B59A}"/>
              </a:ext>
            </a:extLst>
          </p:cNvPr>
          <p:cNvSpPr>
            <a:spLocks noGrp="1"/>
          </p:cNvSpPr>
          <p:nvPr>
            <p:ph type="title"/>
          </p:nvPr>
        </p:nvSpPr>
        <p:spPr/>
        <p:txBody>
          <a:bodyPr/>
          <a:lstStyle/>
          <a:p>
            <a:r>
              <a:rPr lang="en-GB" dirty="0"/>
              <a:t>Happiest vs Unhappiest countries</a:t>
            </a:r>
          </a:p>
        </p:txBody>
      </p:sp>
      <p:pic>
        <p:nvPicPr>
          <p:cNvPr id="9" name="Picture 8">
            <a:extLst>
              <a:ext uri="{FF2B5EF4-FFF2-40B4-BE49-F238E27FC236}">
                <a16:creationId xmlns:a16="http://schemas.microsoft.com/office/drawing/2014/main" id="{3A66270E-D9B4-D152-75AB-2463E08A6F9F}"/>
              </a:ext>
            </a:extLst>
          </p:cNvPr>
          <p:cNvPicPr>
            <a:picLocks noChangeAspect="1"/>
          </p:cNvPicPr>
          <p:nvPr/>
        </p:nvPicPr>
        <p:blipFill>
          <a:blip r:embed="rId2"/>
          <a:stretch>
            <a:fillRect/>
          </a:stretch>
        </p:blipFill>
        <p:spPr>
          <a:xfrm>
            <a:off x="122700" y="2122487"/>
            <a:ext cx="5867846" cy="2613025"/>
          </a:xfrm>
          <a:prstGeom prst="rect">
            <a:avLst/>
          </a:prstGeom>
        </p:spPr>
      </p:pic>
      <p:pic>
        <p:nvPicPr>
          <p:cNvPr id="13" name="Picture 12">
            <a:extLst>
              <a:ext uri="{FF2B5EF4-FFF2-40B4-BE49-F238E27FC236}">
                <a16:creationId xmlns:a16="http://schemas.microsoft.com/office/drawing/2014/main" id="{E5054D04-BE04-EE20-1AE2-B50830B826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0546" y="2122486"/>
            <a:ext cx="5973300" cy="2613025"/>
          </a:xfrm>
          <a:prstGeom prst="rect">
            <a:avLst/>
          </a:prstGeom>
        </p:spPr>
      </p:pic>
    </p:spTree>
    <p:extLst>
      <p:ext uri="{BB962C8B-B14F-4D97-AF65-F5344CB8AC3E}">
        <p14:creationId xmlns:p14="http://schemas.microsoft.com/office/powerpoint/2010/main" val="520108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0AA83-7B1B-C6E5-CE17-C6339207DF85}"/>
              </a:ext>
            </a:extLst>
          </p:cNvPr>
          <p:cNvSpPr>
            <a:spLocks noGrp="1"/>
          </p:cNvSpPr>
          <p:nvPr>
            <p:ph type="title"/>
          </p:nvPr>
        </p:nvSpPr>
        <p:spPr/>
        <p:txBody>
          <a:bodyPr/>
          <a:lstStyle/>
          <a:p>
            <a:r>
              <a:rPr lang="en-GB" dirty="0"/>
              <a:t>Dataset Overview + Average Global Happiness Score</a:t>
            </a:r>
          </a:p>
        </p:txBody>
      </p:sp>
      <p:pic>
        <p:nvPicPr>
          <p:cNvPr id="5" name="Content Placeholder 4">
            <a:extLst>
              <a:ext uri="{FF2B5EF4-FFF2-40B4-BE49-F238E27FC236}">
                <a16:creationId xmlns:a16="http://schemas.microsoft.com/office/drawing/2014/main" id="{B01084DB-D730-C888-1070-ACD41827FF5A}"/>
              </a:ext>
            </a:extLst>
          </p:cNvPr>
          <p:cNvPicPr>
            <a:picLocks noGrp="1" noChangeAspect="1"/>
          </p:cNvPicPr>
          <p:nvPr>
            <p:ph idx="1"/>
          </p:nvPr>
        </p:nvPicPr>
        <p:blipFill>
          <a:blip r:embed="rId2"/>
          <a:stretch>
            <a:fillRect/>
          </a:stretch>
        </p:blipFill>
        <p:spPr>
          <a:xfrm>
            <a:off x="883023" y="1807121"/>
            <a:ext cx="3981009" cy="2485381"/>
          </a:xfrm>
          <a:prstGeom prst="rect">
            <a:avLst/>
          </a:prstGeom>
        </p:spPr>
      </p:pic>
      <p:sp>
        <p:nvSpPr>
          <p:cNvPr id="6" name="TextBox 5">
            <a:extLst>
              <a:ext uri="{FF2B5EF4-FFF2-40B4-BE49-F238E27FC236}">
                <a16:creationId xmlns:a16="http://schemas.microsoft.com/office/drawing/2014/main" id="{91D157C4-8EAF-1F92-2705-C3ADFD7B251C}"/>
              </a:ext>
            </a:extLst>
          </p:cNvPr>
          <p:cNvSpPr txBox="1"/>
          <p:nvPr/>
        </p:nvSpPr>
        <p:spPr>
          <a:xfrm>
            <a:off x="225798" y="4457700"/>
            <a:ext cx="5772150" cy="1631216"/>
          </a:xfrm>
          <a:prstGeom prst="rect">
            <a:avLst/>
          </a:prstGeom>
          <a:noFill/>
        </p:spPr>
        <p:txBody>
          <a:bodyPr wrap="square" rtlCol="0">
            <a:spAutoFit/>
          </a:bodyPr>
          <a:lstStyle/>
          <a:p>
            <a:r>
              <a:rPr lang="en-GB" dirty="0"/>
              <a:t>There are 156 countries in this dataset.</a:t>
            </a:r>
          </a:p>
          <a:p>
            <a:endParaRPr lang="en-GB" dirty="0"/>
          </a:p>
          <a:p>
            <a:r>
              <a:rPr lang="en-GB" sz="3200" b="1" dirty="0"/>
              <a:t>The average score across all these countries is </a:t>
            </a:r>
            <a:r>
              <a:rPr lang="en-GB" sz="3200" b="1" dirty="0">
                <a:solidFill>
                  <a:srgbClr val="FF0000"/>
                </a:solidFill>
              </a:rPr>
              <a:t>5.41</a:t>
            </a:r>
            <a:r>
              <a:rPr lang="en-GB" sz="3200" b="1" dirty="0"/>
              <a:t> (2.d.p)</a:t>
            </a:r>
          </a:p>
        </p:txBody>
      </p:sp>
      <p:pic>
        <p:nvPicPr>
          <p:cNvPr id="8" name="Picture 7">
            <a:extLst>
              <a:ext uri="{FF2B5EF4-FFF2-40B4-BE49-F238E27FC236}">
                <a16:creationId xmlns:a16="http://schemas.microsoft.com/office/drawing/2014/main" id="{A28565EC-D604-B1AF-E922-EDE3179BA18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995711" y="1690688"/>
            <a:ext cx="4313266" cy="2554669"/>
          </a:xfrm>
          <a:prstGeom prst="rect">
            <a:avLst/>
          </a:prstGeom>
        </p:spPr>
      </p:pic>
      <p:sp>
        <p:nvSpPr>
          <p:cNvPr id="9" name="TextBox 8">
            <a:extLst>
              <a:ext uri="{FF2B5EF4-FFF2-40B4-BE49-F238E27FC236}">
                <a16:creationId xmlns:a16="http://schemas.microsoft.com/office/drawing/2014/main" id="{D9F44DAA-20EC-BAC3-518C-4A66E457D4A1}"/>
              </a:ext>
            </a:extLst>
          </p:cNvPr>
          <p:cNvSpPr txBox="1"/>
          <p:nvPr/>
        </p:nvSpPr>
        <p:spPr>
          <a:xfrm>
            <a:off x="7300511" y="4457700"/>
            <a:ext cx="4053289" cy="1754326"/>
          </a:xfrm>
          <a:prstGeom prst="rect">
            <a:avLst/>
          </a:prstGeom>
          <a:noFill/>
        </p:spPr>
        <p:txBody>
          <a:bodyPr wrap="square" rtlCol="0">
            <a:spAutoFit/>
          </a:bodyPr>
          <a:lstStyle/>
          <a:p>
            <a:r>
              <a:rPr lang="en-GB" dirty="0"/>
              <a:t>Running the above code shows that 77 of the countries in the dataset have a happiness score higher than the average, meaning the remaining 79 countries have a score below the average happiness level.</a:t>
            </a:r>
          </a:p>
        </p:txBody>
      </p:sp>
    </p:spTree>
    <p:extLst>
      <p:ext uri="{BB962C8B-B14F-4D97-AF65-F5344CB8AC3E}">
        <p14:creationId xmlns:p14="http://schemas.microsoft.com/office/powerpoint/2010/main" val="1451060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91AF4-A1D9-E793-672F-F3CAF4D57889}"/>
              </a:ext>
            </a:extLst>
          </p:cNvPr>
          <p:cNvSpPr>
            <a:spLocks noGrp="1"/>
          </p:cNvSpPr>
          <p:nvPr>
            <p:ph type="title"/>
          </p:nvPr>
        </p:nvSpPr>
        <p:spPr/>
        <p:txBody>
          <a:bodyPr/>
          <a:lstStyle/>
          <a:p>
            <a:r>
              <a:rPr lang="en-GB" dirty="0"/>
              <a:t>Highest GDP per capita vs global average happiness</a:t>
            </a:r>
          </a:p>
        </p:txBody>
      </p:sp>
      <p:sp>
        <p:nvSpPr>
          <p:cNvPr id="3" name="Content Placeholder 2">
            <a:extLst>
              <a:ext uri="{FF2B5EF4-FFF2-40B4-BE49-F238E27FC236}">
                <a16:creationId xmlns:a16="http://schemas.microsoft.com/office/drawing/2014/main" id="{B15F5C94-1058-0462-7D17-39099B06CC56}"/>
              </a:ext>
            </a:extLst>
          </p:cNvPr>
          <p:cNvSpPr>
            <a:spLocks noGrp="1"/>
          </p:cNvSpPr>
          <p:nvPr>
            <p:ph idx="1"/>
          </p:nvPr>
        </p:nvSpPr>
        <p:spPr>
          <a:xfrm>
            <a:off x="838200" y="1690688"/>
            <a:ext cx="5133975" cy="1275637"/>
          </a:xfrm>
        </p:spPr>
        <p:txBody>
          <a:bodyPr>
            <a:normAutofit fontScale="92500" lnSpcReduction="10000"/>
          </a:bodyPr>
          <a:lstStyle/>
          <a:p>
            <a:pPr marL="0" indent="0">
              <a:buNone/>
            </a:pPr>
            <a:r>
              <a:rPr lang="en-GB" sz="1800" dirty="0"/>
              <a:t>Qatar has the highest GDP per capita, as shown on the right.</a:t>
            </a:r>
          </a:p>
          <a:p>
            <a:pPr marL="0" indent="0">
              <a:buNone/>
            </a:pPr>
            <a:r>
              <a:rPr lang="en-GB" sz="1800" dirty="0"/>
              <a:t>We can see that its happiness score is above the average happiness score, which we visualise in the bar chart on the below</a:t>
            </a:r>
          </a:p>
          <a:p>
            <a:pPr marL="0" indent="0">
              <a:buNone/>
            </a:pPr>
            <a:endParaRPr lang="en-GB" sz="1800" dirty="0"/>
          </a:p>
        </p:txBody>
      </p:sp>
      <p:pic>
        <p:nvPicPr>
          <p:cNvPr id="5" name="Picture 4">
            <a:extLst>
              <a:ext uri="{FF2B5EF4-FFF2-40B4-BE49-F238E27FC236}">
                <a16:creationId xmlns:a16="http://schemas.microsoft.com/office/drawing/2014/main" id="{E73CC322-89BA-D968-6915-26287EED1A46}"/>
              </a:ext>
            </a:extLst>
          </p:cNvPr>
          <p:cNvPicPr>
            <a:picLocks noChangeAspect="1"/>
          </p:cNvPicPr>
          <p:nvPr/>
        </p:nvPicPr>
        <p:blipFill>
          <a:blip r:embed="rId2"/>
          <a:stretch>
            <a:fillRect/>
          </a:stretch>
        </p:blipFill>
        <p:spPr>
          <a:xfrm>
            <a:off x="6219826" y="1126035"/>
            <a:ext cx="4406739" cy="2172336"/>
          </a:xfrm>
          <a:prstGeom prst="rect">
            <a:avLst/>
          </a:prstGeom>
        </p:spPr>
      </p:pic>
      <p:pic>
        <p:nvPicPr>
          <p:cNvPr id="8" name="Picture 7">
            <a:extLst>
              <a:ext uri="{FF2B5EF4-FFF2-40B4-BE49-F238E27FC236}">
                <a16:creationId xmlns:a16="http://schemas.microsoft.com/office/drawing/2014/main" id="{6FA5A166-7FED-A3A8-90EA-0C590CDB96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7850" y="3429000"/>
            <a:ext cx="7372350" cy="2877014"/>
          </a:xfrm>
          <a:prstGeom prst="rect">
            <a:avLst/>
          </a:prstGeom>
        </p:spPr>
      </p:pic>
    </p:spTree>
    <p:extLst>
      <p:ext uri="{BB962C8B-B14F-4D97-AF65-F5344CB8AC3E}">
        <p14:creationId xmlns:p14="http://schemas.microsoft.com/office/powerpoint/2010/main" val="754662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C9F9C-2CC2-2980-CE32-3798C4DC38EC}"/>
              </a:ext>
            </a:extLst>
          </p:cNvPr>
          <p:cNvSpPr>
            <a:spLocks noGrp="1"/>
          </p:cNvSpPr>
          <p:nvPr>
            <p:ph type="title"/>
          </p:nvPr>
        </p:nvSpPr>
        <p:spPr/>
        <p:txBody>
          <a:bodyPr/>
          <a:lstStyle/>
          <a:p>
            <a:r>
              <a:rPr lang="en-GB" dirty="0"/>
              <a:t>Top 5 countries with the highest social support</a:t>
            </a:r>
          </a:p>
        </p:txBody>
      </p:sp>
      <p:pic>
        <p:nvPicPr>
          <p:cNvPr id="5" name="Content Placeholder 4">
            <a:extLst>
              <a:ext uri="{FF2B5EF4-FFF2-40B4-BE49-F238E27FC236}">
                <a16:creationId xmlns:a16="http://schemas.microsoft.com/office/drawing/2014/main" id="{CCA66C77-F379-7323-4D56-07681290A05C}"/>
              </a:ext>
            </a:extLst>
          </p:cNvPr>
          <p:cNvPicPr>
            <a:picLocks noGrp="1" noChangeAspect="1"/>
          </p:cNvPicPr>
          <p:nvPr>
            <p:ph idx="1"/>
          </p:nvPr>
        </p:nvPicPr>
        <p:blipFill>
          <a:blip>
            <a:extLst>
              <a:ext uri="{96DAC541-7B7A-43D3-8B79-37D633B846F1}">
                <asvg:svgBlip xmlns:asvg="http://schemas.microsoft.com/office/drawing/2016/SVG/main" r:embed="rId2"/>
              </a:ext>
            </a:extLst>
          </a:blip>
          <a:srcRect/>
          <a:stretch/>
        </p:blipFill>
        <p:spPr>
          <a:xfrm>
            <a:off x="1943100" y="1890053"/>
            <a:ext cx="6381750" cy="3835840"/>
          </a:xfrm>
          <a:prstGeom prst="rect">
            <a:avLst/>
          </a:prstGeom>
        </p:spPr>
      </p:pic>
    </p:spTree>
    <p:extLst>
      <p:ext uri="{BB962C8B-B14F-4D97-AF65-F5344CB8AC3E}">
        <p14:creationId xmlns:p14="http://schemas.microsoft.com/office/powerpoint/2010/main" val="2032698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48448-5B33-F713-0C5E-7006AAC7C47E}"/>
              </a:ext>
            </a:extLst>
          </p:cNvPr>
          <p:cNvSpPr>
            <a:spLocks noGrp="1"/>
          </p:cNvSpPr>
          <p:nvPr>
            <p:ph type="title"/>
          </p:nvPr>
        </p:nvSpPr>
        <p:spPr/>
        <p:txBody>
          <a:bodyPr/>
          <a:lstStyle/>
          <a:p>
            <a:r>
              <a:rPr lang="en-GB" dirty="0"/>
              <a:t>Top 5 countries with the highest healthy life expectancy</a:t>
            </a:r>
          </a:p>
        </p:txBody>
      </p:sp>
      <p:pic>
        <p:nvPicPr>
          <p:cNvPr id="5" name="Content Placeholder 4">
            <a:extLst>
              <a:ext uri="{FF2B5EF4-FFF2-40B4-BE49-F238E27FC236}">
                <a16:creationId xmlns:a16="http://schemas.microsoft.com/office/drawing/2014/main" id="{D5F89F74-A6C3-DFF4-B20E-13B52B3016E0}"/>
              </a:ext>
            </a:extLst>
          </p:cNvPr>
          <p:cNvPicPr>
            <a:picLocks noGrp="1" noChangeAspect="1"/>
          </p:cNvPicPr>
          <p:nvPr>
            <p:ph idx="1"/>
          </p:nvPr>
        </p:nvPicPr>
        <p:blipFill>
          <a:blip r:embed="rId2"/>
          <a:stretch>
            <a:fillRect/>
          </a:stretch>
        </p:blipFill>
        <p:spPr>
          <a:xfrm>
            <a:off x="1547414" y="2099603"/>
            <a:ext cx="6063061" cy="3486646"/>
          </a:xfrm>
          <a:prstGeom prst="rect">
            <a:avLst/>
          </a:prstGeom>
        </p:spPr>
      </p:pic>
      <p:sp>
        <p:nvSpPr>
          <p:cNvPr id="6" name="TextBox 5">
            <a:extLst>
              <a:ext uri="{FF2B5EF4-FFF2-40B4-BE49-F238E27FC236}">
                <a16:creationId xmlns:a16="http://schemas.microsoft.com/office/drawing/2014/main" id="{9D42BB48-E071-28CE-C137-1725EAFC1790}"/>
              </a:ext>
            </a:extLst>
          </p:cNvPr>
          <p:cNvSpPr txBox="1"/>
          <p:nvPr/>
        </p:nvSpPr>
        <p:spPr>
          <a:xfrm>
            <a:off x="8048625" y="2099603"/>
            <a:ext cx="3209925" cy="1477328"/>
          </a:xfrm>
          <a:prstGeom prst="rect">
            <a:avLst/>
          </a:prstGeom>
          <a:noFill/>
        </p:spPr>
        <p:txBody>
          <a:bodyPr wrap="square" rtlCol="0">
            <a:spAutoFit/>
          </a:bodyPr>
          <a:lstStyle/>
          <a:p>
            <a:r>
              <a:rPr lang="en-GB" dirty="0"/>
              <a:t>None of the top 5 countries with highest social support (previous slide), are in the top 5 countries with highest healthy life expectancy</a:t>
            </a:r>
          </a:p>
        </p:txBody>
      </p:sp>
    </p:spTree>
    <p:extLst>
      <p:ext uri="{BB962C8B-B14F-4D97-AF65-F5344CB8AC3E}">
        <p14:creationId xmlns:p14="http://schemas.microsoft.com/office/powerpoint/2010/main" val="2035985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8C7DA-86B6-F989-4621-90444C118EFA}"/>
              </a:ext>
            </a:extLst>
          </p:cNvPr>
          <p:cNvSpPr>
            <a:spLocks noGrp="1"/>
          </p:cNvSpPr>
          <p:nvPr>
            <p:ph type="title"/>
          </p:nvPr>
        </p:nvSpPr>
        <p:spPr/>
        <p:txBody>
          <a:bodyPr/>
          <a:lstStyle/>
          <a:p>
            <a:r>
              <a:rPr lang="en-GB" dirty="0"/>
              <a:t>Lowest Corruption perception countries and their happiness scores</a:t>
            </a:r>
          </a:p>
        </p:txBody>
      </p:sp>
      <p:pic>
        <p:nvPicPr>
          <p:cNvPr id="5" name="Content Placeholder 4">
            <a:extLst>
              <a:ext uri="{FF2B5EF4-FFF2-40B4-BE49-F238E27FC236}">
                <a16:creationId xmlns:a16="http://schemas.microsoft.com/office/drawing/2014/main" id="{919AED4C-3AEA-F3CF-A23A-1A7A72E71AB4}"/>
              </a:ext>
            </a:extLst>
          </p:cNvPr>
          <p:cNvPicPr>
            <a:picLocks noGrp="1" noChangeAspect="1"/>
          </p:cNvPicPr>
          <p:nvPr>
            <p:ph idx="1"/>
          </p:nvPr>
        </p:nvPicPr>
        <p:blipFill>
          <a:blip r:embed="rId2"/>
          <a:stretch>
            <a:fillRect/>
          </a:stretch>
        </p:blipFill>
        <p:spPr>
          <a:xfrm>
            <a:off x="642937" y="1566863"/>
            <a:ext cx="3233738" cy="3062253"/>
          </a:xfrm>
          <a:prstGeom prst="rect">
            <a:avLst/>
          </a:prstGeom>
        </p:spPr>
      </p:pic>
      <p:sp>
        <p:nvSpPr>
          <p:cNvPr id="6" name="TextBox 5">
            <a:extLst>
              <a:ext uri="{FF2B5EF4-FFF2-40B4-BE49-F238E27FC236}">
                <a16:creationId xmlns:a16="http://schemas.microsoft.com/office/drawing/2014/main" id="{015107EA-FB8D-D467-7B33-E8A69D996727}"/>
              </a:ext>
            </a:extLst>
          </p:cNvPr>
          <p:cNvSpPr txBox="1"/>
          <p:nvPr/>
        </p:nvSpPr>
        <p:spPr>
          <a:xfrm>
            <a:off x="466725" y="4567456"/>
            <a:ext cx="5114925" cy="2031325"/>
          </a:xfrm>
          <a:prstGeom prst="rect">
            <a:avLst/>
          </a:prstGeom>
          <a:noFill/>
        </p:spPr>
        <p:txBody>
          <a:bodyPr wrap="square" rtlCol="0">
            <a:spAutoFit/>
          </a:bodyPr>
          <a:lstStyle/>
          <a:p>
            <a:r>
              <a:rPr lang="en-GB" sz="1400" dirty="0"/>
              <a:t>If we remember from one of the previous slides, the average happiness score across the dataset was 5.41 (2.d.p).</a:t>
            </a:r>
          </a:p>
          <a:p>
            <a:endParaRPr lang="en-GB" sz="1400" dirty="0"/>
          </a:p>
          <a:p>
            <a:r>
              <a:rPr lang="en-GB" sz="1400" dirty="0"/>
              <a:t>We can see on the table that 6 of the 10 countries with the lowest perceptions of corruption are above this average. However, such a small sample isn’t enough to see if there is correlation between low corruption perception and high happiness, so on the right is a scatter plot with all countries included:</a:t>
            </a:r>
          </a:p>
        </p:txBody>
      </p:sp>
      <p:pic>
        <p:nvPicPr>
          <p:cNvPr id="8" name="Picture 7">
            <a:extLst>
              <a:ext uri="{FF2B5EF4-FFF2-40B4-BE49-F238E27FC236}">
                <a16:creationId xmlns:a16="http://schemas.microsoft.com/office/drawing/2014/main" id="{62AE1A13-CD81-C5F8-697E-6EE86C77E79E}"/>
              </a:ext>
            </a:extLst>
          </p:cNvPr>
          <p:cNvPicPr>
            <a:picLocks noChangeAspect="1"/>
          </p:cNvPicPr>
          <p:nvPr/>
        </p:nvPicPr>
        <p:blipFill>
          <a:blip r:embed="rId3"/>
          <a:stretch>
            <a:fillRect/>
          </a:stretch>
        </p:blipFill>
        <p:spPr>
          <a:xfrm>
            <a:off x="6307081" y="1811825"/>
            <a:ext cx="4584589" cy="2755631"/>
          </a:xfrm>
          <a:prstGeom prst="rect">
            <a:avLst/>
          </a:prstGeom>
        </p:spPr>
      </p:pic>
      <p:sp>
        <p:nvSpPr>
          <p:cNvPr id="9" name="TextBox 8">
            <a:extLst>
              <a:ext uri="{FF2B5EF4-FFF2-40B4-BE49-F238E27FC236}">
                <a16:creationId xmlns:a16="http://schemas.microsoft.com/office/drawing/2014/main" id="{5C543528-9CFA-073A-FC47-20199C8A753F}"/>
              </a:ext>
            </a:extLst>
          </p:cNvPr>
          <p:cNvSpPr txBox="1"/>
          <p:nvPr/>
        </p:nvSpPr>
        <p:spPr>
          <a:xfrm>
            <a:off x="6251464" y="4629116"/>
            <a:ext cx="4695825" cy="738664"/>
          </a:xfrm>
          <a:prstGeom prst="rect">
            <a:avLst/>
          </a:prstGeom>
          <a:noFill/>
        </p:spPr>
        <p:txBody>
          <a:bodyPr wrap="square" rtlCol="0">
            <a:spAutoFit/>
          </a:bodyPr>
          <a:lstStyle/>
          <a:p>
            <a:r>
              <a:rPr lang="en-GB" sz="1400" dirty="0"/>
              <a:t>We can see here that there is a slightly positive correlation between perceptions of corruption and happiness score, but it is not very strong.</a:t>
            </a:r>
          </a:p>
        </p:txBody>
      </p:sp>
    </p:spTree>
    <p:extLst>
      <p:ext uri="{BB962C8B-B14F-4D97-AF65-F5344CB8AC3E}">
        <p14:creationId xmlns:p14="http://schemas.microsoft.com/office/powerpoint/2010/main" val="792095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8CA25-F47A-49A9-37D9-5EA00FA12256}"/>
              </a:ext>
            </a:extLst>
          </p:cNvPr>
          <p:cNvSpPr>
            <a:spLocks noGrp="1"/>
          </p:cNvSpPr>
          <p:nvPr>
            <p:ph type="title"/>
          </p:nvPr>
        </p:nvSpPr>
        <p:spPr/>
        <p:txBody>
          <a:bodyPr/>
          <a:lstStyle/>
          <a:p>
            <a:r>
              <a:rPr lang="en-GB" dirty="0"/>
              <a:t>Generosity vs happiness correlation</a:t>
            </a:r>
          </a:p>
        </p:txBody>
      </p:sp>
      <p:sp>
        <p:nvSpPr>
          <p:cNvPr id="3" name="Content Placeholder 2">
            <a:extLst>
              <a:ext uri="{FF2B5EF4-FFF2-40B4-BE49-F238E27FC236}">
                <a16:creationId xmlns:a16="http://schemas.microsoft.com/office/drawing/2014/main" id="{00BB1BC5-7074-07E0-924B-B6079C782A51}"/>
              </a:ext>
            </a:extLst>
          </p:cNvPr>
          <p:cNvSpPr>
            <a:spLocks noGrp="1"/>
          </p:cNvSpPr>
          <p:nvPr>
            <p:ph idx="1"/>
          </p:nvPr>
        </p:nvSpPr>
        <p:spPr>
          <a:xfrm>
            <a:off x="8248650" y="1347580"/>
            <a:ext cx="2533650" cy="488950"/>
          </a:xfrm>
        </p:spPr>
        <p:txBody>
          <a:bodyPr>
            <a:normAutofit fontScale="92500" lnSpcReduction="10000"/>
          </a:bodyPr>
          <a:lstStyle/>
          <a:p>
            <a:pPr marL="0" indent="0">
              <a:buNone/>
            </a:pPr>
            <a:r>
              <a:rPr lang="en-GB" sz="1600" b="1" i="1" dirty="0"/>
              <a:t>(The average generosity is 0.185 3dp)</a:t>
            </a:r>
          </a:p>
        </p:txBody>
      </p:sp>
      <p:pic>
        <p:nvPicPr>
          <p:cNvPr id="5" name="Picture 4">
            <a:extLst>
              <a:ext uri="{FF2B5EF4-FFF2-40B4-BE49-F238E27FC236}">
                <a16:creationId xmlns:a16="http://schemas.microsoft.com/office/drawing/2014/main" id="{10D34B23-9E77-BA83-2E8F-06543FDD742B}"/>
              </a:ext>
            </a:extLst>
          </p:cNvPr>
          <p:cNvPicPr>
            <a:picLocks noChangeAspect="1"/>
          </p:cNvPicPr>
          <p:nvPr/>
        </p:nvPicPr>
        <p:blipFill>
          <a:blip r:embed="rId2"/>
          <a:stretch>
            <a:fillRect/>
          </a:stretch>
        </p:blipFill>
        <p:spPr>
          <a:xfrm>
            <a:off x="609600" y="2259429"/>
            <a:ext cx="5051828" cy="3036471"/>
          </a:xfrm>
          <a:prstGeom prst="rect">
            <a:avLst/>
          </a:prstGeom>
        </p:spPr>
      </p:pic>
      <p:pic>
        <p:nvPicPr>
          <p:cNvPr id="7" name="Picture 6">
            <a:extLst>
              <a:ext uri="{FF2B5EF4-FFF2-40B4-BE49-F238E27FC236}">
                <a16:creationId xmlns:a16="http://schemas.microsoft.com/office/drawing/2014/main" id="{5D67B69E-3A96-EA2B-9EE3-C35E821A72AB}"/>
              </a:ext>
            </a:extLst>
          </p:cNvPr>
          <p:cNvPicPr>
            <a:picLocks noChangeAspect="1"/>
          </p:cNvPicPr>
          <p:nvPr/>
        </p:nvPicPr>
        <p:blipFill>
          <a:blip r:embed="rId3"/>
          <a:stretch>
            <a:fillRect/>
          </a:stretch>
        </p:blipFill>
        <p:spPr>
          <a:xfrm>
            <a:off x="6098756" y="2259429"/>
            <a:ext cx="5051828" cy="3036471"/>
          </a:xfrm>
          <a:prstGeom prst="rect">
            <a:avLst/>
          </a:prstGeom>
        </p:spPr>
      </p:pic>
      <p:sp>
        <p:nvSpPr>
          <p:cNvPr id="8" name="TextBox 7">
            <a:extLst>
              <a:ext uri="{FF2B5EF4-FFF2-40B4-BE49-F238E27FC236}">
                <a16:creationId xmlns:a16="http://schemas.microsoft.com/office/drawing/2014/main" id="{74706366-CEBB-1892-8ECE-4DD14EC8A058}"/>
              </a:ext>
            </a:extLst>
          </p:cNvPr>
          <p:cNvSpPr txBox="1"/>
          <p:nvPr/>
        </p:nvSpPr>
        <p:spPr>
          <a:xfrm>
            <a:off x="609600" y="1413074"/>
            <a:ext cx="8391525" cy="646331"/>
          </a:xfrm>
          <a:prstGeom prst="rect">
            <a:avLst/>
          </a:prstGeom>
          <a:noFill/>
        </p:spPr>
        <p:txBody>
          <a:bodyPr wrap="square" rtlCol="0">
            <a:spAutoFit/>
          </a:bodyPr>
          <a:lstStyle/>
          <a:p>
            <a:r>
              <a:rPr lang="en-GB" dirty="0"/>
              <a:t>Please bear in mind that the happiness and generosity values have been normalised, or else the scale of the axis would have been very unbalanced.</a:t>
            </a:r>
          </a:p>
        </p:txBody>
      </p:sp>
      <p:sp>
        <p:nvSpPr>
          <p:cNvPr id="10" name="TextBox 9">
            <a:extLst>
              <a:ext uri="{FF2B5EF4-FFF2-40B4-BE49-F238E27FC236}">
                <a16:creationId xmlns:a16="http://schemas.microsoft.com/office/drawing/2014/main" id="{675FEB62-CAC8-F69C-853E-0B85ED544005}"/>
              </a:ext>
            </a:extLst>
          </p:cNvPr>
          <p:cNvSpPr txBox="1"/>
          <p:nvPr/>
        </p:nvSpPr>
        <p:spPr>
          <a:xfrm>
            <a:off x="609600" y="5505450"/>
            <a:ext cx="10991850" cy="923330"/>
          </a:xfrm>
          <a:prstGeom prst="rect">
            <a:avLst/>
          </a:prstGeom>
          <a:noFill/>
        </p:spPr>
        <p:txBody>
          <a:bodyPr wrap="square" rtlCol="0">
            <a:spAutoFit/>
          </a:bodyPr>
          <a:lstStyle/>
          <a:p>
            <a:r>
              <a:rPr lang="en-GB" dirty="0"/>
              <a:t>By running some SQL code, I determined the average happiness of countries with above average generosity to be 5.46, whereas for below average generosity countries, it was 5.38, which is lower. However, I will explain on the next slide why this isn’t enough to check correlation between generosity and happiness.</a:t>
            </a:r>
          </a:p>
        </p:txBody>
      </p:sp>
    </p:spTree>
    <p:extLst>
      <p:ext uri="{BB962C8B-B14F-4D97-AF65-F5344CB8AC3E}">
        <p14:creationId xmlns:p14="http://schemas.microsoft.com/office/powerpoint/2010/main" val="2088319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7552F-448E-73A0-0F97-2319CCBF7196}"/>
              </a:ext>
            </a:extLst>
          </p:cNvPr>
          <p:cNvSpPr>
            <a:spLocks noGrp="1"/>
          </p:cNvSpPr>
          <p:nvPr>
            <p:ph type="title"/>
          </p:nvPr>
        </p:nvSpPr>
        <p:spPr/>
        <p:txBody>
          <a:bodyPr/>
          <a:lstStyle/>
          <a:p>
            <a:r>
              <a:rPr lang="en-GB" dirty="0"/>
              <a:t>Generosity vs happiness correlation (continued)</a:t>
            </a:r>
          </a:p>
        </p:txBody>
      </p:sp>
      <p:pic>
        <p:nvPicPr>
          <p:cNvPr id="5" name="Content Placeholder 4">
            <a:extLst>
              <a:ext uri="{FF2B5EF4-FFF2-40B4-BE49-F238E27FC236}">
                <a16:creationId xmlns:a16="http://schemas.microsoft.com/office/drawing/2014/main" id="{D24ABAF0-2070-0A39-ED83-9B71BADD272E}"/>
              </a:ext>
            </a:extLst>
          </p:cNvPr>
          <p:cNvPicPr>
            <a:picLocks noGrp="1" noChangeAspect="1"/>
          </p:cNvPicPr>
          <p:nvPr>
            <p:ph idx="1"/>
          </p:nvPr>
        </p:nvPicPr>
        <p:blipFill>
          <a:blip r:embed="rId2"/>
          <a:stretch>
            <a:fillRect/>
          </a:stretch>
        </p:blipFill>
        <p:spPr>
          <a:xfrm>
            <a:off x="493574" y="1690688"/>
            <a:ext cx="4659451" cy="3028949"/>
          </a:xfrm>
          <a:prstGeom prst="rect">
            <a:avLst/>
          </a:prstGeom>
        </p:spPr>
      </p:pic>
      <p:pic>
        <p:nvPicPr>
          <p:cNvPr id="7" name="Picture 6">
            <a:extLst>
              <a:ext uri="{FF2B5EF4-FFF2-40B4-BE49-F238E27FC236}">
                <a16:creationId xmlns:a16="http://schemas.microsoft.com/office/drawing/2014/main" id="{E222334D-545B-CF1D-E20D-42AB69E8E887}"/>
              </a:ext>
            </a:extLst>
          </p:cNvPr>
          <p:cNvPicPr>
            <a:picLocks noChangeAspect="1"/>
          </p:cNvPicPr>
          <p:nvPr/>
        </p:nvPicPr>
        <p:blipFill>
          <a:blip r:embed="rId3"/>
          <a:stretch>
            <a:fillRect/>
          </a:stretch>
        </p:blipFill>
        <p:spPr>
          <a:xfrm>
            <a:off x="5737280" y="1784484"/>
            <a:ext cx="4883263" cy="2935153"/>
          </a:xfrm>
          <a:prstGeom prst="rect">
            <a:avLst/>
          </a:prstGeom>
        </p:spPr>
      </p:pic>
      <p:sp>
        <p:nvSpPr>
          <p:cNvPr id="8" name="TextBox 7">
            <a:extLst>
              <a:ext uri="{FF2B5EF4-FFF2-40B4-BE49-F238E27FC236}">
                <a16:creationId xmlns:a16="http://schemas.microsoft.com/office/drawing/2014/main" id="{7F55854B-34DB-5019-694F-0B811DBEA9AA}"/>
              </a:ext>
            </a:extLst>
          </p:cNvPr>
          <p:cNvSpPr txBox="1"/>
          <p:nvPr/>
        </p:nvSpPr>
        <p:spPr>
          <a:xfrm>
            <a:off x="904875" y="4981575"/>
            <a:ext cx="10363200" cy="646331"/>
          </a:xfrm>
          <a:prstGeom prst="rect">
            <a:avLst/>
          </a:prstGeom>
          <a:noFill/>
        </p:spPr>
        <p:txBody>
          <a:bodyPr wrap="square" rtlCol="0">
            <a:spAutoFit/>
          </a:bodyPr>
          <a:lstStyle/>
          <a:p>
            <a:r>
              <a:rPr lang="en-GB" dirty="0"/>
              <a:t>Looking at both scatterplots, we can see that for both groups, there is almost no correlation between happiness and generosity.</a:t>
            </a:r>
          </a:p>
        </p:txBody>
      </p:sp>
    </p:spTree>
    <p:extLst>
      <p:ext uri="{BB962C8B-B14F-4D97-AF65-F5344CB8AC3E}">
        <p14:creationId xmlns:p14="http://schemas.microsoft.com/office/powerpoint/2010/main" val="2448407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2C390-0B1D-DDF4-BBB1-30B9ECAEE008}"/>
              </a:ext>
            </a:extLst>
          </p:cNvPr>
          <p:cNvSpPr>
            <a:spLocks noGrp="1"/>
          </p:cNvSpPr>
          <p:nvPr>
            <p:ph type="title"/>
          </p:nvPr>
        </p:nvSpPr>
        <p:spPr/>
        <p:txBody>
          <a:bodyPr/>
          <a:lstStyle/>
          <a:p>
            <a:r>
              <a:rPr lang="en-GB" dirty="0"/>
              <a:t>Countries with largest difference between GDP rank and happiness rank</a:t>
            </a:r>
          </a:p>
        </p:txBody>
      </p:sp>
      <p:pic>
        <p:nvPicPr>
          <p:cNvPr id="5" name="Content Placeholder 4">
            <a:extLst>
              <a:ext uri="{FF2B5EF4-FFF2-40B4-BE49-F238E27FC236}">
                <a16:creationId xmlns:a16="http://schemas.microsoft.com/office/drawing/2014/main" id="{2D9DAD3E-2EA3-B183-96D0-0D9FF6DFECF8}"/>
              </a:ext>
            </a:extLst>
          </p:cNvPr>
          <p:cNvPicPr>
            <a:picLocks noGrp="1" noChangeAspect="1"/>
          </p:cNvPicPr>
          <p:nvPr>
            <p:ph idx="1"/>
          </p:nvPr>
        </p:nvPicPr>
        <p:blipFill>
          <a:blip r:embed="rId2"/>
          <a:stretch>
            <a:fillRect/>
          </a:stretch>
        </p:blipFill>
        <p:spPr>
          <a:xfrm>
            <a:off x="1014510" y="1882775"/>
            <a:ext cx="5348190" cy="4351338"/>
          </a:xfrm>
          <a:prstGeom prst="rect">
            <a:avLst/>
          </a:prstGeom>
        </p:spPr>
      </p:pic>
      <p:sp>
        <p:nvSpPr>
          <p:cNvPr id="6" name="TextBox 5">
            <a:extLst>
              <a:ext uri="{FF2B5EF4-FFF2-40B4-BE49-F238E27FC236}">
                <a16:creationId xmlns:a16="http://schemas.microsoft.com/office/drawing/2014/main" id="{3B1CF45E-4023-4B99-E181-B411AEE18E73}"/>
              </a:ext>
            </a:extLst>
          </p:cNvPr>
          <p:cNvSpPr txBox="1"/>
          <p:nvPr/>
        </p:nvSpPr>
        <p:spPr>
          <a:xfrm>
            <a:off x="7405590" y="2214741"/>
            <a:ext cx="3771900" cy="1200329"/>
          </a:xfrm>
          <a:prstGeom prst="rect">
            <a:avLst/>
          </a:prstGeom>
          <a:noFill/>
        </p:spPr>
        <p:txBody>
          <a:bodyPr wrap="square" rtlCol="0">
            <a:spAutoFit/>
          </a:bodyPr>
          <a:lstStyle/>
          <a:p>
            <a:r>
              <a:rPr lang="en-GB" dirty="0"/>
              <a:t>I decided that the biggest outliers would be countries with a difference of 50 or more, which are displayed in  the table. </a:t>
            </a:r>
          </a:p>
        </p:txBody>
      </p:sp>
      <p:sp>
        <p:nvSpPr>
          <p:cNvPr id="7" name="TextBox 6">
            <a:extLst>
              <a:ext uri="{FF2B5EF4-FFF2-40B4-BE49-F238E27FC236}">
                <a16:creationId xmlns:a16="http://schemas.microsoft.com/office/drawing/2014/main" id="{0F12B8E6-6D6A-EB7B-FD2A-0EEBC030EB09}"/>
              </a:ext>
            </a:extLst>
          </p:cNvPr>
          <p:cNvSpPr txBox="1"/>
          <p:nvPr/>
        </p:nvSpPr>
        <p:spPr>
          <a:xfrm>
            <a:off x="7429500" y="3790950"/>
            <a:ext cx="4019550" cy="1477328"/>
          </a:xfrm>
          <a:prstGeom prst="rect">
            <a:avLst/>
          </a:prstGeom>
          <a:noFill/>
        </p:spPr>
        <p:txBody>
          <a:bodyPr wrap="square" rtlCol="0">
            <a:spAutoFit/>
          </a:bodyPr>
          <a:lstStyle/>
          <a:p>
            <a:r>
              <a:rPr lang="en-GB" dirty="0"/>
              <a:t>Botswana have a relatively high GDP rank but one of the lowest happiness scores, whereas Guatemala and El Salvador have a low GDP rank but are among the happiest countries.</a:t>
            </a:r>
          </a:p>
        </p:txBody>
      </p:sp>
    </p:spTree>
    <p:extLst>
      <p:ext uri="{BB962C8B-B14F-4D97-AF65-F5344CB8AC3E}">
        <p14:creationId xmlns:p14="http://schemas.microsoft.com/office/powerpoint/2010/main" val="3242462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6B9C9-AB63-AA24-8A4A-A96150777A7B}"/>
              </a:ext>
            </a:extLst>
          </p:cNvPr>
          <p:cNvSpPr>
            <a:spLocks noGrp="1"/>
          </p:cNvSpPr>
          <p:nvPr>
            <p:ph type="title"/>
          </p:nvPr>
        </p:nvSpPr>
        <p:spPr/>
        <p:txBody>
          <a:bodyPr/>
          <a:lstStyle/>
          <a:p>
            <a:r>
              <a:rPr lang="en-GB" dirty="0"/>
              <a:t>Comparing GDP per capita ranking vs Happiness ranking</a:t>
            </a:r>
          </a:p>
        </p:txBody>
      </p:sp>
      <p:pic>
        <p:nvPicPr>
          <p:cNvPr id="5" name="Content Placeholder 4">
            <a:extLst>
              <a:ext uri="{FF2B5EF4-FFF2-40B4-BE49-F238E27FC236}">
                <a16:creationId xmlns:a16="http://schemas.microsoft.com/office/drawing/2014/main" id="{32A25719-BA2B-D45F-744E-23FDA906A769}"/>
              </a:ext>
            </a:extLst>
          </p:cNvPr>
          <p:cNvPicPr>
            <a:picLocks noGrp="1" noChangeAspect="1"/>
          </p:cNvPicPr>
          <p:nvPr>
            <p:ph idx="1"/>
          </p:nvPr>
        </p:nvPicPr>
        <p:blipFill>
          <a:blip r:embed="rId2"/>
          <a:stretch>
            <a:fillRect/>
          </a:stretch>
        </p:blipFill>
        <p:spPr>
          <a:xfrm>
            <a:off x="669980" y="2075570"/>
            <a:ext cx="5073595" cy="2995581"/>
          </a:xfrm>
          <a:prstGeom prst="rect">
            <a:avLst/>
          </a:prstGeom>
        </p:spPr>
      </p:pic>
      <p:sp>
        <p:nvSpPr>
          <p:cNvPr id="6" name="TextBox 5">
            <a:extLst>
              <a:ext uri="{FF2B5EF4-FFF2-40B4-BE49-F238E27FC236}">
                <a16:creationId xmlns:a16="http://schemas.microsoft.com/office/drawing/2014/main" id="{65AA2DE0-866E-2044-10E7-5223CF1D4979}"/>
              </a:ext>
            </a:extLst>
          </p:cNvPr>
          <p:cNvSpPr txBox="1"/>
          <p:nvPr/>
        </p:nvSpPr>
        <p:spPr>
          <a:xfrm>
            <a:off x="6753225" y="2152650"/>
            <a:ext cx="4448175" cy="1754326"/>
          </a:xfrm>
          <a:prstGeom prst="rect">
            <a:avLst/>
          </a:prstGeom>
          <a:noFill/>
        </p:spPr>
        <p:txBody>
          <a:bodyPr wrap="square" rtlCol="0">
            <a:spAutoFit/>
          </a:bodyPr>
          <a:lstStyle/>
          <a:p>
            <a:r>
              <a:rPr lang="en-GB" dirty="0"/>
              <a:t>We can see from the scatterplot that there is a strong correlation between happiness rank and GDP per capita rank. That is, in general, those countries with high GDP per capita rank also rank highly in their happiness score.</a:t>
            </a:r>
          </a:p>
        </p:txBody>
      </p:sp>
    </p:spTree>
    <p:extLst>
      <p:ext uri="{BB962C8B-B14F-4D97-AF65-F5344CB8AC3E}">
        <p14:creationId xmlns:p14="http://schemas.microsoft.com/office/powerpoint/2010/main" val="47699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E85E3-92D9-1ED1-D53E-EFC180C267FA}"/>
              </a:ext>
            </a:extLst>
          </p:cNvPr>
          <p:cNvSpPr>
            <a:spLocks noGrp="1"/>
          </p:cNvSpPr>
          <p:nvPr>
            <p:ph type="title"/>
          </p:nvPr>
        </p:nvSpPr>
        <p:spPr/>
        <p:txBody>
          <a:bodyPr/>
          <a:lstStyle/>
          <a:p>
            <a:r>
              <a:rPr lang="en-GB" dirty="0"/>
              <a:t>Categorising into High/Medium/Low Happiness groups</a:t>
            </a:r>
          </a:p>
        </p:txBody>
      </p:sp>
      <p:sp>
        <p:nvSpPr>
          <p:cNvPr id="3" name="Content Placeholder 2">
            <a:extLst>
              <a:ext uri="{FF2B5EF4-FFF2-40B4-BE49-F238E27FC236}">
                <a16:creationId xmlns:a16="http://schemas.microsoft.com/office/drawing/2014/main" id="{3A278C5D-A5EA-F223-B88D-3C5A40FFC015}"/>
              </a:ext>
            </a:extLst>
          </p:cNvPr>
          <p:cNvSpPr>
            <a:spLocks noGrp="1"/>
          </p:cNvSpPr>
          <p:nvPr>
            <p:ph idx="1"/>
          </p:nvPr>
        </p:nvSpPr>
        <p:spPr>
          <a:xfrm>
            <a:off x="838200" y="1825625"/>
            <a:ext cx="10096500" cy="793750"/>
          </a:xfrm>
        </p:spPr>
        <p:txBody>
          <a:bodyPr>
            <a:normAutofit fontScale="70000" lnSpcReduction="20000"/>
          </a:bodyPr>
          <a:lstStyle/>
          <a:p>
            <a:r>
              <a:rPr lang="en-GB" dirty="0"/>
              <a:t>For this, I am going to class countries with a score above 6.13 as High happiness, countries with a score between 4.5 and 6.13 as medium happiness, and countries with a score lower than 4.5 are classed as low happiness. </a:t>
            </a:r>
          </a:p>
        </p:txBody>
      </p:sp>
      <p:pic>
        <p:nvPicPr>
          <p:cNvPr id="5" name="Picture 4">
            <a:extLst>
              <a:ext uri="{FF2B5EF4-FFF2-40B4-BE49-F238E27FC236}">
                <a16:creationId xmlns:a16="http://schemas.microsoft.com/office/drawing/2014/main" id="{4EBE5227-0D64-5FA6-5CC4-BB97C22F69EB}"/>
              </a:ext>
            </a:extLst>
          </p:cNvPr>
          <p:cNvPicPr>
            <a:picLocks noChangeAspect="1"/>
          </p:cNvPicPr>
          <p:nvPr/>
        </p:nvPicPr>
        <p:blipFill>
          <a:blip r:embed="rId2"/>
          <a:stretch>
            <a:fillRect/>
          </a:stretch>
        </p:blipFill>
        <p:spPr>
          <a:xfrm>
            <a:off x="1173119" y="2870334"/>
            <a:ext cx="4922881" cy="2958966"/>
          </a:xfrm>
          <a:prstGeom prst="rect">
            <a:avLst/>
          </a:prstGeom>
        </p:spPr>
      </p:pic>
      <p:sp>
        <p:nvSpPr>
          <p:cNvPr id="6" name="TextBox 5">
            <a:extLst>
              <a:ext uri="{FF2B5EF4-FFF2-40B4-BE49-F238E27FC236}">
                <a16:creationId xmlns:a16="http://schemas.microsoft.com/office/drawing/2014/main" id="{6F2CE020-C34C-264B-5632-DE5379506573}"/>
              </a:ext>
            </a:extLst>
          </p:cNvPr>
          <p:cNvSpPr txBox="1"/>
          <p:nvPr/>
        </p:nvSpPr>
        <p:spPr>
          <a:xfrm>
            <a:off x="6610350" y="3885010"/>
            <a:ext cx="4048125" cy="923330"/>
          </a:xfrm>
          <a:prstGeom prst="rect">
            <a:avLst/>
          </a:prstGeom>
          <a:noFill/>
        </p:spPr>
        <p:txBody>
          <a:bodyPr wrap="square" rtlCol="0">
            <a:spAutoFit/>
          </a:bodyPr>
          <a:lstStyle/>
          <a:p>
            <a:r>
              <a:rPr lang="en-GB" dirty="0"/>
              <a:t>In the pie chart, we can see that over half the countries (51%) are classed in the medium happiness group.</a:t>
            </a:r>
          </a:p>
        </p:txBody>
      </p:sp>
    </p:spTree>
    <p:extLst>
      <p:ext uri="{BB962C8B-B14F-4D97-AF65-F5344CB8AC3E}">
        <p14:creationId xmlns:p14="http://schemas.microsoft.com/office/powerpoint/2010/main" val="4089623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E8800-84DA-2392-0650-E59FAE2E021A}"/>
              </a:ext>
            </a:extLst>
          </p:cNvPr>
          <p:cNvSpPr>
            <a:spLocks noGrp="1"/>
          </p:cNvSpPr>
          <p:nvPr>
            <p:ph type="title"/>
          </p:nvPr>
        </p:nvSpPr>
        <p:spPr/>
        <p:txBody>
          <a:bodyPr/>
          <a:lstStyle/>
          <a:p>
            <a:r>
              <a:rPr lang="en-GB" dirty="0"/>
              <a:t>Top 5 countries with high social support and freedom</a:t>
            </a:r>
          </a:p>
        </p:txBody>
      </p:sp>
      <p:pic>
        <p:nvPicPr>
          <p:cNvPr id="5" name="Content Placeholder 4">
            <a:extLst>
              <a:ext uri="{FF2B5EF4-FFF2-40B4-BE49-F238E27FC236}">
                <a16:creationId xmlns:a16="http://schemas.microsoft.com/office/drawing/2014/main" id="{4E99FAC6-6241-F72A-B264-2F639FEF46A5}"/>
              </a:ext>
            </a:extLst>
          </p:cNvPr>
          <p:cNvPicPr>
            <a:picLocks noGrp="1" noChangeAspect="1"/>
          </p:cNvPicPr>
          <p:nvPr>
            <p:ph idx="1"/>
          </p:nvPr>
        </p:nvPicPr>
        <p:blipFill>
          <a:blip r:embed="rId2"/>
          <a:stretch>
            <a:fillRect/>
          </a:stretch>
        </p:blipFill>
        <p:spPr>
          <a:xfrm>
            <a:off x="3828842" y="1900238"/>
            <a:ext cx="2267158" cy="1220777"/>
          </a:xfrm>
          <a:prstGeom prst="rect">
            <a:avLst/>
          </a:prstGeom>
        </p:spPr>
      </p:pic>
      <p:pic>
        <p:nvPicPr>
          <p:cNvPr id="7" name="Picture 6">
            <a:extLst>
              <a:ext uri="{FF2B5EF4-FFF2-40B4-BE49-F238E27FC236}">
                <a16:creationId xmlns:a16="http://schemas.microsoft.com/office/drawing/2014/main" id="{8AB095FE-AF7D-D8DA-3F01-63B37D959093}"/>
              </a:ext>
            </a:extLst>
          </p:cNvPr>
          <p:cNvPicPr>
            <a:picLocks noChangeAspect="1"/>
          </p:cNvPicPr>
          <p:nvPr/>
        </p:nvPicPr>
        <p:blipFill>
          <a:blip r:embed="rId3"/>
          <a:stretch>
            <a:fillRect/>
          </a:stretch>
        </p:blipFill>
        <p:spPr>
          <a:xfrm>
            <a:off x="1029398" y="1900238"/>
            <a:ext cx="2301826" cy="1220777"/>
          </a:xfrm>
          <a:prstGeom prst="rect">
            <a:avLst/>
          </a:prstGeom>
        </p:spPr>
      </p:pic>
      <p:pic>
        <p:nvPicPr>
          <p:cNvPr id="13" name="Picture 12">
            <a:extLst>
              <a:ext uri="{FF2B5EF4-FFF2-40B4-BE49-F238E27FC236}">
                <a16:creationId xmlns:a16="http://schemas.microsoft.com/office/drawing/2014/main" id="{B1851182-DE7B-A318-ED75-8AB68D15E136}"/>
              </a:ext>
            </a:extLst>
          </p:cNvPr>
          <p:cNvPicPr>
            <a:picLocks noChangeAspect="1"/>
          </p:cNvPicPr>
          <p:nvPr/>
        </p:nvPicPr>
        <p:blipFill>
          <a:blip r:embed="rId4"/>
          <a:stretch>
            <a:fillRect/>
          </a:stretch>
        </p:blipFill>
        <p:spPr>
          <a:xfrm>
            <a:off x="566449" y="3049354"/>
            <a:ext cx="5529551" cy="3974937"/>
          </a:xfrm>
          <a:prstGeom prst="rect">
            <a:avLst/>
          </a:prstGeom>
        </p:spPr>
      </p:pic>
      <p:sp>
        <p:nvSpPr>
          <p:cNvPr id="14" name="TextBox 13">
            <a:extLst>
              <a:ext uri="{FF2B5EF4-FFF2-40B4-BE49-F238E27FC236}">
                <a16:creationId xmlns:a16="http://schemas.microsoft.com/office/drawing/2014/main" id="{33C9B722-DA7B-9CC2-1C79-37BE293A2242}"/>
              </a:ext>
            </a:extLst>
          </p:cNvPr>
          <p:cNvSpPr txBox="1"/>
          <p:nvPr/>
        </p:nvSpPr>
        <p:spPr>
          <a:xfrm>
            <a:off x="7496175" y="2419350"/>
            <a:ext cx="3486150" cy="1477328"/>
          </a:xfrm>
          <a:prstGeom prst="rect">
            <a:avLst/>
          </a:prstGeom>
          <a:noFill/>
        </p:spPr>
        <p:txBody>
          <a:bodyPr wrap="square" rtlCol="0">
            <a:spAutoFit/>
          </a:bodyPr>
          <a:lstStyle/>
          <a:p>
            <a:r>
              <a:rPr lang="en-GB" dirty="0"/>
              <a:t>Norway and Finland both rank in the top 5 for social support AND freedom.</a:t>
            </a:r>
          </a:p>
          <a:p>
            <a:endParaRPr lang="en-GB" dirty="0"/>
          </a:p>
          <a:p>
            <a:endParaRPr lang="en-GB" dirty="0"/>
          </a:p>
        </p:txBody>
      </p:sp>
    </p:spTree>
    <p:extLst>
      <p:ext uri="{BB962C8B-B14F-4D97-AF65-F5344CB8AC3E}">
        <p14:creationId xmlns:p14="http://schemas.microsoft.com/office/powerpoint/2010/main" val="353813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63D5D-D9A1-D360-B4D4-AF8EB34D4B7F}"/>
              </a:ext>
            </a:extLst>
          </p:cNvPr>
          <p:cNvSpPr>
            <a:spLocks noGrp="1"/>
          </p:cNvSpPr>
          <p:nvPr>
            <p:ph type="title"/>
          </p:nvPr>
        </p:nvSpPr>
        <p:spPr/>
        <p:txBody>
          <a:bodyPr/>
          <a:lstStyle/>
          <a:p>
            <a:r>
              <a:rPr lang="en-GB" dirty="0"/>
              <a:t>Extra</a:t>
            </a:r>
          </a:p>
        </p:txBody>
      </p:sp>
      <p:sp>
        <p:nvSpPr>
          <p:cNvPr id="3" name="Content Placeholder 2">
            <a:extLst>
              <a:ext uri="{FF2B5EF4-FFF2-40B4-BE49-F238E27FC236}">
                <a16:creationId xmlns:a16="http://schemas.microsoft.com/office/drawing/2014/main" id="{C79919EA-1B6B-F7B1-A8B0-35E645AF2A45}"/>
              </a:ext>
            </a:extLst>
          </p:cNvPr>
          <p:cNvSpPr>
            <a:spLocks noGrp="1"/>
          </p:cNvSpPr>
          <p:nvPr>
            <p:ph idx="1"/>
          </p:nvPr>
        </p:nvSpPr>
        <p:spPr>
          <a:xfrm>
            <a:off x="723900" y="1444625"/>
            <a:ext cx="9010650" cy="1136650"/>
          </a:xfrm>
        </p:spPr>
        <p:txBody>
          <a:bodyPr>
            <a:normAutofit lnSpcReduction="10000"/>
          </a:bodyPr>
          <a:lstStyle/>
          <a:p>
            <a:r>
              <a:rPr lang="en-GB" dirty="0"/>
              <a:t>Following from the last slide, I used the rank function to see which countries had the best combined rank for social support and freedom.</a:t>
            </a:r>
          </a:p>
        </p:txBody>
      </p:sp>
      <p:pic>
        <p:nvPicPr>
          <p:cNvPr id="5" name="Picture 4">
            <a:extLst>
              <a:ext uri="{FF2B5EF4-FFF2-40B4-BE49-F238E27FC236}">
                <a16:creationId xmlns:a16="http://schemas.microsoft.com/office/drawing/2014/main" id="{14A22E3A-14D2-E8F2-9208-9437C2CDAC7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38200" y="2825009"/>
            <a:ext cx="6255856" cy="2880465"/>
          </a:xfrm>
          <a:prstGeom prst="rect">
            <a:avLst/>
          </a:prstGeom>
        </p:spPr>
      </p:pic>
      <p:sp>
        <p:nvSpPr>
          <p:cNvPr id="6" name="TextBox 5">
            <a:extLst>
              <a:ext uri="{FF2B5EF4-FFF2-40B4-BE49-F238E27FC236}">
                <a16:creationId xmlns:a16="http://schemas.microsoft.com/office/drawing/2014/main" id="{A5141D86-B4DB-1E5B-226A-7AEDA106FB76}"/>
              </a:ext>
            </a:extLst>
          </p:cNvPr>
          <p:cNvSpPr txBox="1"/>
          <p:nvPr/>
        </p:nvSpPr>
        <p:spPr>
          <a:xfrm>
            <a:off x="7705725" y="2557081"/>
            <a:ext cx="3067050" cy="3416320"/>
          </a:xfrm>
          <a:prstGeom prst="rect">
            <a:avLst/>
          </a:prstGeom>
          <a:noFill/>
        </p:spPr>
        <p:txBody>
          <a:bodyPr wrap="square" rtlCol="0">
            <a:spAutoFit/>
          </a:bodyPr>
          <a:lstStyle/>
          <a:p>
            <a:r>
              <a:rPr lang="en-GB" dirty="0"/>
              <a:t>This table shows the top 10 countries with the best combined rank for social support and freedom. All 10 of them also have above the average happiness.</a:t>
            </a:r>
          </a:p>
          <a:p>
            <a:endParaRPr lang="en-GB" dirty="0"/>
          </a:p>
          <a:p>
            <a:r>
              <a:rPr lang="en-GB" dirty="0"/>
              <a:t>Also, 9 out of 10 of them would be categorised in the “high happiness” group, with Slovenia being below the threshold by 0.02!</a:t>
            </a:r>
          </a:p>
        </p:txBody>
      </p:sp>
    </p:spTree>
    <p:extLst>
      <p:ext uri="{BB962C8B-B14F-4D97-AF65-F5344CB8AC3E}">
        <p14:creationId xmlns:p14="http://schemas.microsoft.com/office/powerpoint/2010/main" val="4181013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927BE-466D-9FB3-7526-499D50366D80}"/>
              </a:ext>
            </a:extLst>
          </p:cNvPr>
          <p:cNvSpPr>
            <a:spLocks noGrp="1"/>
          </p:cNvSpPr>
          <p:nvPr>
            <p:ph type="title"/>
          </p:nvPr>
        </p:nvSpPr>
        <p:spPr/>
        <p:txBody>
          <a:bodyPr/>
          <a:lstStyle/>
          <a:p>
            <a:r>
              <a:rPr lang="en-GB" dirty="0"/>
              <a:t>Key findings</a:t>
            </a:r>
          </a:p>
        </p:txBody>
      </p:sp>
      <p:sp>
        <p:nvSpPr>
          <p:cNvPr id="3" name="Content Placeholder 2">
            <a:extLst>
              <a:ext uri="{FF2B5EF4-FFF2-40B4-BE49-F238E27FC236}">
                <a16:creationId xmlns:a16="http://schemas.microsoft.com/office/drawing/2014/main" id="{000F9A19-2CAB-224F-E405-E944055C0409}"/>
              </a:ext>
            </a:extLst>
          </p:cNvPr>
          <p:cNvSpPr>
            <a:spLocks noGrp="1"/>
          </p:cNvSpPr>
          <p:nvPr>
            <p:ph idx="1"/>
          </p:nvPr>
        </p:nvSpPr>
        <p:spPr/>
        <p:txBody>
          <a:bodyPr/>
          <a:lstStyle/>
          <a:p>
            <a:r>
              <a:rPr lang="en-GB" dirty="0"/>
              <a:t>Based on the data, there does not seem to be any correlation between happiness and generosity as one might initially assume.</a:t>
            </a:r>
          </a:p>
          <a:p>
            <a:r>
              <a:rPr lang="en-GB" dirty="0"/>
              <a:t>There is a strong correlation between high GDP per capita and high happiness, although notable outliers include Botswana and Guatemala (elaboration in slide 12)</a:t>
            </a:r>
          </a:p>
          <a:p>
            <a:r>
              <a:rPr lang="en-GB" dirty="0"/>
              <a:t>Countries with *both* high social support and high freedom seem to have high degrees of happiness</a:t>
            </a:r>
          </a:p>
          <a:p>
            <a:r>
              <a:rPr lang="en-GB" dirty="0"/>
              <a:t>None of the top 5 countries with the highest healthy life expectancy are ranked in the top 15 for happiness score</a:t>
            </a:r>
          </a:p>
          <a:p>
            <a:endParaRPr lang="en-GB" dirty="0"/>
          </a:p>
          <a:p>
            <a:endParaRPr lang="en-GB" dirty="0"/>
          </a:p>
        </p:txBody>
      </p:sp>
    </p:spTree>
    <p:extLst>
      <p:ext uri="{BB962C8B-B14F-4D97-AF65-F5344CB8AC3E}">
        <p14:creationId xmlns:p14="http://schemas.microsoft.com/office/powerpoint/2010/main" val="3014816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5DCDA-9FCC-4BA3-2EFD-8C11E0897E01}"/>
              </a:ext>
            </a:extLst>
          </p:cNvPr>
          <p:cNvSpPr>
            <a:spLocks noGrp="1"/>
          </p:cNvSpPr>
          <p:nvPr>
            <p:ph type="title"/>
          </p:nvPr>
        </p:nvSpPr>
        <p:spPr/>
        <p:txBody>
          <a:bodyPr/>
          <a:lstStyle/>
          <a:p>
            <a:r>
              <a:rPr lang="en-GB" dirty="0"/>
              <a:t>Conclusion</a:t>
            </a:r>
          </a:p>
        </p:txBody>
      </p:sp>
      <p:sp>
        <p:nvSpPr>
          <p:cNvPr id="3" name="Content Placeholder 2">
            <a:extLst>
              <a:ext uri="{FF2B5EF4-FFF2-40B4-BE49-F238E27FC236}">
                <a16:creationId xmlns:a16="http://schemas.microsoft.com/office/drawing/2014/main" id="{8E867481-3DB5-7442-41DB-8D87879BC8A3}"/>
              </a:ext>
            </a:extLst>
          </p:cNvPr>
          <p:cNvSpPr>
            <a:spLocks noGrp="1"/>
          </p:cNvSpPr>
          <p:nvPr>
            <p:ph idx="1"/>
          </p:nvPr>
        </p:nvSpPr>
        <p:spPr/>
        <p:txBody>
          <a:bodyPr/>
          <a:lstStyle/>
          <a:p>
            <a:r>
              <a:rPr lang="en-GB" dirty="0"/>
              <a:t>From these findings, if policymakers focused on policies which would improve GDP per capita, and put more money into social support, they could see an increase in happiness in their countries. </a:t>
            </a:r>
          </a:p>
          <a:p>
            <a:r>
              <a:rPr lang="en-GB" dirty="0"/>
              <a:t>Outliers like Botswana (high GDP, low happiness) and Guatemala (low GDP, high happiness) should be studied to see which other factors can affect happiness. </a:t>
            </a:r>
          </a:p>
        </p:txBody>
      </p:sp>
    </p:spTree>
    <p:extLst>
      <p:ext uri="{BB962C8B-B14F-4D97-AF65-F5344CB8AC3E}">
        <p14:creationId xmlns:p14="http://schemas.microsoft.com/office/powerpoint/2010/main" val="37305296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7243</TotalTime>
  <Words>948</Words>
  <Application>Microsoft Office PowerPoint</Application>
  <PresentationFormat>Widescreen</PresentationFormat>
  <Paragraphs>59</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Exploring Global Happiness with SQL</vt:lpstr>
      <vt:lpstr>Project brief</vt:lpstr>
      <vt:lpstr>Global Happiness Rankings</vt:lpstr>
      <vt:lpstr>Happiest vs Unhappiest countries</vt:lpstr>
      <vt:lpstr>Dataset Overview + Average Global Happiness Score</vt:lpstr>
      <vt:lpstr>Highest GDP per capita vs global average happiness</vt:lpstr>
      <vt:lpstr>Top 5 countries with the highest social support</vt:lpstr>
      <vt:lpstr>Top 5 countries with the highest healthy life expectancy</vt:lpstr>
      <vt:lpstr>Lowest Corruption perception countries and their happiness scores</vt:lpstr>
      <vt:lpstr>Generosity vs happiness correlation</vt:lpstr>
      <vt:lpstr>Generosity vs happiness correlation (continued)</vt:lpstr>
      <vt:lpstr>Countries with largest difference between GDP rank and happiness rank</vt:lpstr>
      <vt:lpstr>Comparing GDP per capita ranking vs Happiness ranking</vt:lpstr>
      <vt:lpstr>Categorising into High/Medium/Low Happiness groups</vt:lpstr>
      <vt:lpstr>Top 5 countries with high social support and freedom</vt:lpstr>
      <vt:lpstr>Extra</vt:lpstr>
      <vt:lpstr>Key findings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Andreas Wong</dc:creator>
  <cp:lastModifiedBy>Andreas Wong</cp:lastModifiedBy>
  <cp:revision>12</cp:revision>
  <dcterms:created xsi:type="dcterms:W3CDTF">2026-03-31T12:24:23Z</dcterms:created>
  <dcterms:modified xsi:type="dcterms:W3CDTF">2026-04-06T10:04:30Z</dcterms:modified>
</cp:coreProperties>
</file>